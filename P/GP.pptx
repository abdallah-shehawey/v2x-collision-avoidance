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8" d="100"/>
          <a:sy n="48" d="100"/>
        </p:scale>
        <p:origin x="53" y="7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83729-F94F-FD80-42D4-BBB6F8902D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6DCD85F-3329-91F7-C8B1-D1D784EA30D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B7D44CA-09B6-388B-014D-77C96A0E0351}"/>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5" name="Footer Placeholder 4">
            <a:extLst>
              <a:ext uri="{FF2B5EF4-FFF2-40B4-BE49-F238E27FC236}">
                <a16:creationId xmlns:a16="http://schemas.microsoft.com/office/drawing/2014/main" id="{29EBE213-79E2-9FD1-251B-7F4708BF8A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632571-543B-4801-353C-47E0BF7D00CE}"/>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41985014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3D8B9-CF90-2F6E-994C-29F5DAE9F7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081BA67-9C35-F428-6502-AF7BA5CC62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7115EB-D51F-EA65-E736-D7837D4F2CF5}"/>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5" name="Footer Placeholder 4">
            <a:extLst>
              <a:ext uri="{FF2B5EF4-FFF2-40B4-BE49-F238E27FC236}">
                <a16:creationId xmlns:a16="http://schemas.microsoft.com/office/drawing/2014/main" id="{29C10B24-C624-27F7-E1A5-E58B70B67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7BC019-0F88-BDEA-096F-13E73358B21E}"/>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3551627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2EB16-BE76-5D80-53D1-CF48E4CC84F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B3D2626-B8F3-D2CA-C8DD-47732FEF236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860BF3-0EBB-5154-0498-52F741A6C643}"/>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5" name="Footer Placeholder 4">
            <a:extLst>
              <a:ext uri="{FF2B5EF4-FFF2-40B4-BE49-F238E27FC236}">
                <a16:creationId xmlns:a16="http://schemas.microsoft.com/office/drawing/2014/main" id="{7C174CB9-A163-BB3B-1ECA-8E8C0F42BE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E28E6-03B6-B20F-89EC-388668BFAA2E}"/>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7388865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1B7E1-2758-C64C-F0BB-497F5AAD49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9FC3B4-26B3-9F5A-B840-FF4A2ACF6AA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B05D847-174A-4489-E591-37B6DECFF8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5B30CD-9F36-0E2F-5064-62B87E04594B}"/>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6" name="Footer Placeholder 5">
            <a:extLst>
              <a:ext uri="{FF2B5EF4-FFF2-40B4-BE49-F238E27FC236}">
                <a16:creationId xmlns:a16="http://schemas.microsoft.com/office/drawing/2014/main" id="{2B6583B6-36F3-1C36-7EFD-9FB8773041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8FE654-1B3B-1DD7-69FB-C6D0D3540159}"/>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2845007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515D4-6AC2-A6AC-C152-90930C81DF4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100057-5247-6F88-C975-168E91718A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FF4160B-0ADE-C96B-0408-E76D1F6D07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6DEFF94-FF1A-DDAE-F417-C984E04E2C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87CF54F-2BAB-3845-44EB-6E038B9462E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7C7864D-26F1-6FA7-E82F-26F2FAB9327B}"/>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8" name="Footer Placeholder 7">
            <a:extLst>
              <a:ext uri="{FF2B5EF4-FFF2-40B4-BE49-F238E27FC236}">
                <a16:creationId xmlns:a16="http://schemas.microsoft.com/office/drawing/2014/main" id="{04E8FC3D-CF45-EE5F-A6E1-5F8D782579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E0A4B7C-EC23-A554-FFBA-C164C4CA1D30}"/>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3021951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75B56-FAAE-3EC4-7201-0873972A54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9541FCF-13D6-AA80-545C-D3F12DE330AD}"/>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4" name="Footer Placeholder 3">
            <a:extLst>
              <a:ext uri="{FF2B5EF4-FFF2-40B4-BE49-F238E27FC236}">
                <a16:creationId xmlns:a16="http://schemas.microsoft.com/office/drawing/2014/main" id="{66AF0067-F0D6-FFDF-A553-8D8181939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FFCC0F-F620-53CC-9161-36FB57DA1062}"/>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31290536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52DD6C-09F8-4C28-0347-D351BBA02031}"/>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3" name="Footer Placeholder 2">
            <a:extLst>
              <a:ext uri="{FF2B5EF4-FFF2-40B4-BE49-F238E27FC236}">
                <a16:creationId xmlns:a16="http://schemas.microsoft.com/office/drawing/2014/main" id="{2F20C9E2-5C8D-208F-3849-137B28951F1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6030C4-9113-6F4D-7067-C5C4D4CA21E6}"/>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1567394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6E731-9151-8362-8710-61A13C34B9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C09B10-C7E4-F2CB-04A7-3ABD123C1C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2BA908-E865-635F-F782-E6D3D9AE85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442FC5D-43AA-265A-A2A2-20E7EAD54FE4}"/>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6" name="Footer Placeholder 5">
            <a:extLst>
              <a:ext uri="{FF2B5EF4-FFF2-40B4-BE49-F238E27FC236}">
                <a16:creationId xmlns:a16="http://schemas.microsoft.com/office/drawing/2014/main" id="{6BBD5BD1-29C2-4817-C1F6-8D7B0F8074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801A8F-8C0A-DFC1-05F0-61B90BFE18B9}"/>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8736922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D6745-76E6-0E31-86EE-C997CD6E24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A4CE781-E16E-CACE-1813-66F10F4F7B7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82C3BEE-967F-6E50-41FD-B3CF4379CFF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2BB82-F8AA-07DD-08B1-A5A9B1F2D271}"/>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6" name="Footer Placeholder 5">
            <a:extLst>
              <a:ext uri="{FF2B5EF4-FFF2-40B4-BE49-F238E27FC236}">
                <a16:creationId xmlns:a16="http://schemas.microsoft.com/office/drawing/2014/main" id="{A6F8DE69-25FF-E789-162C-7CC1D52A460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9EB001-282D-A1C9-D2D4-6CD1F71768E5}"/>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3148168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4E525-93E7-8E78-A02D-1B99DB0250A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887F183-449A-5DC5-49F6-6B2AB24D59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7FD6EF-C7D7-D5D7-203C-F6AA59365C1F}"/>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5" name="Footer Placeholder 4">
            <a:extLst>
              <a:ext uri="{FF2B5EF4-FFF2-40B4-BE49-F238E27FC236}">
                <a16:creationId xmlns:a16="http://schemas.microsoft.com/office/drawing/2014/main" id="{927FF44A-3359-0601-81AE-D18E018A92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6249AF-AFDA-24AF-C520-CC68118D06A4}"/>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11114909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04C0E3-9D67-210B-EF3B-88EE6C5B5B1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8855409-B078-9FEE-3243-EA0F7B577E8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E23401-320F-6D53-9EA4-B66183F487C7}"/>
              </a:ext>
            </a:extLst>
          </p:cNvPr>
          <p:cNvSpPr>
            <a:spLocks noGrp="1"/>
          </p:cNvSpPr>
          <p:nvPr>
            <p:ph type="dt" sz="half" idx="10"/>
          </p:nvPr>
        </p:nvSpPr>
        <p:spPr/>
        <p:txBody>
          <a:bodyPr/>
          <a:lstStyle/>
          <a:p>
            <a:fld id="{6862211F-91EB-46C4-8BC2-A3B384CEDCD6}" type="datetimeFigureOut">
              <a:rPr lang="en-US" smtClean="0"/>
              <a:t>6/30/2026</a:t>
            </a:fld>
            <a:endParaRPr lang="en-US"/>
          </a:p>
        </p:txBody>
      </p:sp>
      <p:sp>
        <p:nvSpPr>
          <p:cNvPr id="5" name="Footer Placeholder 4">
            <a:extLst>
              <a:ext uri="{FF2B5EF4-FFF2-40B4-BE49-F238E27FC236}">
                <a16:creationId xmlns:a16="http://schemas.microsoft.com/office/drawing/2014/main" id="{48418331-D544-EE7B-2B16-1DFB9AE5D2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BFB873-137A-D739-0105-A7B8930CF276}"/>
              </a:ext>
            </a:extLst>
          </p:cNvPr>
          <p:cNvSpPr>
            <a:spLocks noGrp="1"/>
          </p:cNvSpPr>
          <p:nvPr>
            <p:ph type="sldNum" sz="quarter" idx="12"/>
          </p:nvPr>
        </p:nvSpPr>
        <p:spPr/>
        <p:txBody>
          <a:bodyPr/>
          <a:lstStyle/>
          <a:p>
            <a:fld id="{774BD506-558B-4A6E-9A89-FEE334F6E58B}" type="slidenum">
              <a:rPr lang="en-US" smtClean="0"/>
              <a:t>‹#›</a:t>
            </a:fld>
            <a:endParaRPr lang="en-US"/>
          </a:p>
        </p:txBody>
      </p:sp>
    </p:spTree>
    <p:extLst>
      <p:ext uri="{BB962C8B-B14F-4D97-AF65-F5344CB8AC3E}">
        <p14:creationId xmlns:p14="http://schemas.microsoft.com/office/powerpoint/2010/main" val="19243013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48D6B1-C798-099F-0903-29A33095F08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F0C9AB-3F89-6FDE-CF34-EE09C2084E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F7C6D7-B3EA-5C8B-1D0F-13821F9804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62211F-91EB-46C4-8BC2-A3B384CEDCD6}" type="datetimeFigureOut">
              <a:rPr lang="en-US" smtClean="0"/>
              <a:t>6/30/2026</a:t>
            </a:fld>
            <a:endParaRPr lang="en-US"/>
          </a:p>
        </p:txBody>
      </p:sp>
      <p:sp>
        <p:nvSpPr>
          <p:cNvPr id="5" name="Footer Placeholder 4">
            <a:extLst>
              <a:ext uri="{FF2B5EF4-FFF2-40B4-BE49-F238E27FC236}">
                <a16:creationId xmlns:a16="http://schemas.microsoft.com/office/drawing/2014/main" id="{F773460C-2AF7-DD15-0B6A-43FD7CB7D82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81F1F05-E4F6-B3EE-AC8E-5EF7540F6C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4BD506-558B-4A6E-9A89-FEE334F6E58B}" type="slidenum">
              <a:rPr lang="en-US" smtClean="0"/>
              <a:t>‹#›</a:t>
            </a:fld>
            <a:endParaRPr lang="en-US"/>
          </a:p>
        </p:txBody>
      </p:sp>
    </p:spTree>
    <p:extLst>
      <p:ext uri="{BB962C8B-B14F-4D97-AF65-F5344CB8AC3E}">
        <p14:creationId xmlns:p14="http://schemas.microsoft.com/office/powerpoint/2010/main" val="407938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7DCB182-154B-4481-74B4-AF75F73FBD49}"/>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ECD96E8A-BD06-5D73-4A9D-72EB361A9A0D}"/>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BE2A3C8E-43EF-F982-709B-A44DB366A126}"/>
              </a:ext>
            </a:extLst>
          </p:cNvPr>
          <p:cNvSpPr/>
          <p:nvPr/>
        </p:nvSpPr>
        <p:spPr>
          <a:xfrm>
            <a:off x="635000" y="1016000"/>
            <a:ext cx="63500" cy="4826000"/>
          </a:xfrm>
          <a:prstGeom prst="rect">
            <a:avLst/>
          </a:prstGeom>
          <a:solidFill>
            <a:srgbClr val="00D4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F2F731-C5B1-BED2-51E1-E379AA1219FB}"/>
              </a:ext>
            </a:extLst>
          </p:cNvPr>
          <p:cNvSpPr txBox="1"/>
          <p:nvPr/>
        </p:nvSpPr>
        <p:spPr>
          <a:xfrm>
            <a:off x="952500" y="1041400"/>
            <a:ext cx="10668000" cy="307777"/>
          </a:xfrm>
          <a:prstGeom prst="rect">
            <a:avLst/>
          </a:prstGeom>
          <a:noFill/>
        </p:spPr>
        <p:txBody>
          <a:bodyPr vert="horz" wrap="square" rtlCol="0">
            <a:noAutofit/>
          </a:bodyPr>
          <a:lstStyle/>
          <a:p>
            <a:r>
              <a:rPr lang="en-US" sz="1400">
                <a:solidFill>
                  <a:srgbClr val="008CB4"/>
                </a:solidFill>
              </a:rPr>
              <a:t>Faculty of Engineering  -  Al-Azhar University</a:t>
            </a:r>
          </a:p>
        </p:txBody>
      </p:sp>
      <p:sp>
        <p:nvSpPr>
          <p:cNvPr id="6" name="TextBox 5">
            <a:extLst>
              <a:ext uri="{FF2B5EF4-FFF2-40B4-BE49-F238E27FC236}">
                <a16:creationId xmlns:a16="http://schemas.microsoft.com/office/drawing/2014/main" id="{1F65E76A-C9B5-C2E2-B015-C1C9010E3825}"/>
              </a:ext>
            </a:extLst>
          </p:cNvPr>
          <p:cNvSpPr txBox="1"/>
          <p:nvPr/>
        </p:nvSpPr>
        <p:spPr>
          <a:xfrm>
            <a:off x="952500" y="1447800"/>
            <a:ext cx="10668000" cy="707886"/>
          </a:xfrm>
          <a:prstGeom prst="rect">
            <a:avLst/>
          </a:prstGeom>
          <a:noFill/>
        </p:spPr>
        <p:txBody>
          <a:bodyPr vert="horz" wrap="square" rtlCol="0">
            <a:noAutofit/>
          </a:bodyPr>
          <a:lstStyle/>
          <a:p>
            <a:r>
              <a:rPr lang="en-US" sz="4000" b="1">
                <a:solidFill>
                  <a:srgbClr val="FFFFFF"/>
                </a:solidFill>
              </a:rPr>
              <a:t>V2X COLLISION AVOIDANCE SYSTEM</a:t>
            </a:r>
          </a:p>
        </p:txBody>
      </p:sp>
      <p:sp>
        <p:nvSpPr>
          <p:cNvPr id="7" name="TextBox 6">
            <a:extLst>
              <a:ext uri="{FF2B5EF4-FFF2-40B4-BE49-F238E27FC236}">
                <a16:creationId xmlns:a16="http://schemas.microsoft.com/office/drawing/2014/main" id="{BBB6A165-DA02-042C-CA69-7B97F739B535}"/>
              </a:ext>
            </a:extLst>
          </p:cNvPr>
          <p:cNvSpPr txBox="1"/>
          <p:nvPr/>
        </p:nvSpPr>
        <p:spPr>
          <a:xfrm>
            <a:off x="952500" y="3200400"/>
            <a:ext cx="10668000" cy="338554"/>
          </a:xfrm>
          <a:prstGeom prst="rect">
            <a:avLst/>
          </a:prstGeom>
          <a:noFill/>
        </p:spPr>
        <p:txBody>
          <a:bodyPr vert="horz" wrap="square" rtlCol="0">
            <a:noAutofit/>
          </a:bodyPr>
          <a:lstStyle/>
          <a:p>
            <a:r>
              <a:rPr lang="en-US" sz="1600">
                <a:solidFill>
                  <a:srgbClr val="96BEDC"/>
                </a:solidFill>
              </a:rPr>
              <a:t>Graduation Project  -  Bachelor of Science in Engineering</a:t>
            </a:r>
          </a:p>
        </p:txBody>
      </p:sp>
      <p:cxnSp>
        <p:nvCxnSpPr>
          <p:cNvPr id="8" name="Straight Connector 7">
            <a:extLst>
              <a:ext uri="{FF2B5EF4-FFF2-40B4-BE49-F238E27FC236}">
                <a16:creationId xmlns:a16="http://schemas.microsoft.com/office/drawing/2014/main" id="{855F797B-CC66-A0A4-909F-A35470663D31}"/>
              </a:ext>
            </a:extLst>
          </p:cNvPr>
          <p:cNvCxnSpPr/>
          <p:nvPr/>
        </p:nvCxnSpPr>
        <p:spPr>
          <a:xfrm>
            <a:off x="952500" y="3733800"/>
            <a:ext cx="102235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F70B00B-447E-9802-FDE9-7DA0959701F8}"/>
              </a:ext>
            </a:extLst>
          </p:cNvPr>
          <p:cNvSpPr txBox="1"/>
          <p:nvPr/>
        </p:nvSpPr>
        <p:spPr>
          <a:xfrm>
            <a:off x="952500" y="3886200"/>
            <a:ext cx="2540000" cy="292388"/>
          </a:xfrm>
          <a:prstGeom prst="rect">
            <a:avLst/>
          </a:prstGeom>
          <a:noFill/>
        </p:spPr>
        <p:txBody>
          <a:bodyPr vert="horz" wrap="square" rtlCol="0">
            <a:noAutofit/>
          </a:bodyPr>
          <a:lstStyle/>
          <a:p>
            <a:r>
              <a:rPr lang="en-US" sz="1300">
                <a:solidFill>
                  <a:srgbClr val="5A6E8C"/>
                </a:solidFill>
              </a:rPr>
              <a:t>Supervised by:</a:t>
            </a:r>
          </a:p>
        </p:txBody>
      </p:sp>
      <p:sp>
        <p:nvSpPr>
          <p:cNvPr id="10" name="TextBox 9">
            <a:extLst>
              <a:ext uri="{FF2B5EF4-FFF2-40B4-BE49-F238E27FC236}">
                <a16:creationId xmlns:a16="http://schemas.microsoft.com/office/drawing/2014/main" id="{A21FD778-1D24-8B5A-6859-6A18BE9FA90D}"/>
              </a:ext>
            </a:extLst>
          </p:cNvPr>
          <p:cNvSpPr txBox="1"/>
          <p:nvPr/>
        </p:nvSpPr>
        <p:spPr>
          <a:xfrm>
            <a:off x="2819400" y="3886200"/>
            <a:ext cx="7112000" cy="307777"/>
          </a:xfrm>
          <a:prstGeom prst="rect">
            <a:avLst/>
          </a:prstGeom>
          <a:noFill/>
        </p:spPr>
        <p:txBody>
          <a:bodyPr vert="horz" wrap="square" rtlCol="0">
            <a:noAutofit/>
          </a:bodyPr>
          <a:lstStyle/>
          <a:p>
            <a:r>
              <a:rPr lang="en-US" sz="1400" b="1">
                <a:solidFill>
                  <a:srgbClr val="D2E1F0"/>
                </a:solidFill>
              </a:rPr>
              <a:t>Dr. Abdallah Mohamed Hassan</a:t>
            </a:r>
          </a:p>
        </p:txBody>
      </p:sp>
      <p:sp>
        <p:nvSpPr>
          <p:cNvPr id="11" name="TextBox 10">
            <a:extLst>
              <a:ext uri="{FF2B5EF4-FFF2-40B4-BE49-F238E27FC236}">
                <a16:creationId xmlns:a16="http://schemas.microsoft.com/office/drawing/2014/main" id="{D3CC814C-5D4B-7D70-F576-B0014CBD4FD9}"/>
              </a:ext>
            </a:extLst>
          </p:cNvPr>
          <p:cNvSpPr txBox="1"/>
          <p:nvPr/>
        </p:nvSpPr>
        <p:spPr>
          <a:xfrm>
            <a:off x="952500" y="4241800"/>
            <a:ext cx="1016000" cy="292388"/>
          </a:xfrm>
          <a:prstGeom prst="rect">
            <a:avLst/>
          </a:prstGeom>
          <a:noFill/>
        </p:spPr>
        <p:txBody>
          <a:bodyPr vert="horz" wrap="square" rtlCol="0">
            <a:noAutofit/>
          </a:bodyPr>
          <a:lstStyle/>
          <a:p>
            <a:r>
              <a:rPr lang="en-US" sz="1300">
                <a:solidFill>
                  <a:srgbClr val="5A6E8C"/>
                </a:solidFill>
              </a:rPr>
              <a:t>Team:</a:t>
            </a:r>
          </a:p>
        </p:txBody>
      </p:sp>
      <p:sp>
        <p:nvSpPr>
          <p:cNvPr id="12" name="TextBox 11">
            <a:extLst>
              <a:ext uri="{FF2B5EF4-FFF2-40B4-BE49-F238E27FC236}">
                <a16:creationId xmlns:a16="http://schemas.microsoft.com/office/drawing/2014/main" id="{DF76871F-6B7D-8F91-D34C-59CC395378FE}"/>
              </a:ext>
            </a:extLst>
          </p:cNvPr>
          <p:cNvSpPr txBox="1"/>
          <p:nvPr/>
        </p:nvSpPr>
        <p:spPr>
          <a:xfrm>
            <a:off x="1752600" y="4241800"/>
            <a:ext cx="9144000" cy="292388"/>
          </a:xfrm>
          <a:prstGeom prst="rect">
            <a:avLst/>
          </a:prstGeom>
          <a:noFill/>
        </p:spPr>
        <p:txBody>
          <a:bodyPr vert="horz" wrap="square" rtlCol="0">
            <a:noAutofit/>
          </a:bodyPr>
          <a:lstStyle/>
          <a:p>
            <a:r>
              <a:rPr lang="en-US" sz="1300">
                <a:solidFill>
                  <a:srgbClr val="D2E1F0"/>
                </a:solidFill>
              </a:rPr>
              <a:t>Abdallah AbdelMomen Abdallah     Ahmad Gamal Ali Mansour     Abdallah Saleh Mohamed</a:t>
            </a:r>
          </a:p>
        </p:txBody>
      </p:sp>
      <p:sp>
        <p:nvSpPr>
          <p:cNvPr id="13" name="Rectangle: Rounded Corners 12">
            <a:extLst>
              <a:ext uri="{FF2B5EF4-FFF2-40B4-BE49-F238E27FC236}">
                <a16:creationId xmlns:a16="http://schemas.microsoft.com/office/drawing/2014/main" id="{D0FB9266-9593-D80E-0D98-72E460F9AD15}"/>
              </a:ext>
            </a:extLst>
          </p:cNvPr>
          <p:cNvSpPr/>
          <p:nvPr/>
        </p:nvSpPr>
        <p:spPr>
          <a:xfrm>
            <a:off x="9652000" y="5867400"/>
            <a:ext cx="2057400" cy="558800"/>
          </a:xfrm>
          <a:prstGeom prst="roundRect">
            <a:avLst/>
          </a:prstGeom>
          <a:solidFill>
            <a:srgbClr val="12284B"/>
          </a:solidFill>
          <a:ln w="254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F3017DF-7BD4-51C5-1B25-57EDD7F14A1E}"/>
              </a:ext>
            </a:extLst>
          </p:cNvPr>
          <p:cNvSpPr txBox="1"/>
          <p:nvPr/>
        </p:nvSpPr>
        <p:spPr>
          <a:xfrm>
            <a:off x="9677400" y="5892800"/>
            <a:ext cx="2032000" cy="338554"/>
          </a:xfrm>
          <a:prstGeom prst="rect">
            <a:avLst/>
          </a:prstGeom>
          <a:noFill/>
        </p:spPr>
        <p:txBody>
          <a:bodyPr vert="horz" wrap="square" rtlCol="0">
            <a:noAutofit/>
          </a:bodyPr>
          <a:lstStyle/>
          <a:p>
            <a:pPr algn="ctr"/>
            <a:r>
              <a:rPr lang="en-US" sz="1600" b="1">
                <a:solidFill>
                  <a:srgbClr val="00D4FF"/>
                </a:solidFill>
              </a:rPr>
              <a:t>2025  -  2026</a:t>
            </a:r>
          </a:p>
        </p:txBody>
      </p:sp>
      <p:sp>
        <p:nvSpPr>
          <p:cNvPr id="15" name="Oval 14">
            <a:extLst>
              <a:ext uri="{FF2B5EF4-FFF2-40B4-BE49-F238E27FC236}">
                <a16:creationId xmlns:a16="http://schemas.microsoft.com/office/drawing/2014/main" id="{2375DCF2-7DDF-4D2F-2E56-E3A3FE5D3C20}"/>
              </a:ext>
            </a:extLst>
          </p:cNvPr>
          <p:cNvSpPr/>
          <p:nvPr/>
        </p:nvSpPr>
        <p:spPr>
          <a:xfrm>
            <a:off x="10769600" y="787400"/>
            <a:ext cx="1143000" cy="1143000"/>
          </a:xfrm>
          <a:prstGeom prst="ellipse">
            <a:avLst/>
          </a:prstGeom>
          <a:solidFill>
            <a:srgbClr val="12284B"/>
          </a:solidFill>
          <a:ln w="254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3869F8C-EDD8-ECB6-3F08-CFF47142C1D7}"/>
              </a:ext>
            </a:extLst>
          </p:cNvPr>
          <p:cNvSpPr txBox="1"/>
          <p:nvPr/>
        </p:nvSpPr>
        <p:spPr>
          <a:xfrm>
            <a:off x="10795000" y="1143000"/>
            <a:ext cx="1117600" cy="430887"/>
          </a:xfrm>
          <a:prstGeom prst="rect">
            <a:avLst/>
          </a:prstGeom>
          <a:noFill/>
        </p:spPr>
        <p:txBody>
          <a:bodyPr vert="horz" wrap="square" rtlCol="0">
            <a:noAutofit/>
          </a:bodyPr>
          <a:lstStyle/>
          <a:p>
            <a:pPr algn="ctr"/>
            <a:r>
              <a:rPr lang="en-US" sz="2200" b="1">
                <a:solidFill>
                  <a:srgbClr val="00D4FF"/>
                </a:solidFill>
              </a:rPr>
              <a:t>V2X</a:t>
            </a:r>
          </a:p>
        </p:txBody>
      </p:sp>
    </p:spTree>
    <p:extLst>
      <p:ext uri="{BB962C8B-B14F-4D97-AF65-F5344CB8AC3E}">
        <p14:creationId xmlns:p14="http://schemas.microsoft.com/office/powerpoint/2010/main" val="1359983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0DBA6F0E-1408-3980-82B0-E80CEB5A132A}"/>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60136652-8FA5-865B-6B60-EDAFB581E1CB}"/>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ABBA4884-DB8D-9D56-DB49-B6B96FF3F3E2}"/>
              </a:ext>
            </a:extLst>
          </p:cNvPr>
          <p:cNvSpPr txBox="1"/>
          <p:nvPr/>
        </p:nvSpPr>
        <p:spPr>
          <a:xfrm>
            <a:off x="762000" y="228600"/>
            <a:ext cx="10668000" cy="553998"/>
          </a:xfrm>
          <a:prstGeom prst="rect">
            <a:avLst/>
          </a:prstGeom>
          <a:noFill/>
        </p:spPr>
        <p:txBody>
          <a:bodyPr vert="horz" wrap="square" rtlCol="0">
            <a:noAutofit/>
          </a:bodyPr>
          <a:lstStyle/>
          <a:p>
            <a:r>
              <a:rPr lang="en-US" sz="3000" b="1">
                <a:solidFill>
                  <a:srgbClr val="FFFFFF"/>
                </a:solidFill>
              </a:rPr>
              <a:t>Acknowledgement</a:t>
            </a:r>
          </a:p>
        </p:txBody>
      </p:sp>
      <p:cxnSp>
        <p:nvCxnSpPr>
          <p:cNvPr id="5" name="Straight Connector 4">
            <a:extLst>
              <a:ext uri="{FF2B5EF4-FFF2-40B4-BE49-F238E27FC236}">
                <a16:creationId xmlns:a16="http://schemas.microsoft.com/office/drawing/2014/main" id="{8D8AD6F9-C2CE-DE9B-BC03-7F9FFC63909E}"/>
              </a:ext>
            </a:extLst>
          </p:cNvPr>
          <p:cNvCxnSpPr/>
          <p:nvPr/>
        </p:nvCxnSpPr>
        <p:spPr>
          <a:xfrm>
            <a:off x="762000" y="889000"/>
            <a:ext cx="10668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DA48D13-9291-E37B-786E-9F2E027CD2B1}"/>
              </a:ext>
            </a:extLst>
          </p:cNvPr>
          <p:cNvSpPr txBox="1"/>
          <p:nvPr/>
        </p:nvSpPr>
        <p:spPr>
          <a:xfrm>
            <a:off x="762000" y="1066800"/>
            <a:ext cx="11049000" cy="2400657"/>
          </a:xfrm>
          <a:prstGeom prst="rect">
            <a:avLst/>
          </a:prstGeom>
          <a:noFill/>
        </p:spPr>
        <p:txBody>
          <a:bodyPr vert="horz" wrap="square" rtlCol="0">
            <a:noAutofit/>
          </a:bodyPr>
          <a:lstStyle/>
          <a:p>
            <a:r>
              <a:rPr lang="en-US" sz="1500">
                <a:solidFill>
                  <a:srgbClr val="D2E1F0"/>
                </a:solidFill>
              </a:rPr>
              <a:t>We thank Allah for His endless blessings and for giving us the resilience to complete this project.
A sincere and heartfelt thank you goes to our supervisor, Dr. Abdallah Mohamed Hassan, for his visionary guidance, endless patience, and for always pushing us to reach our full potential. Your mentorship made this project possible.
We are also grateful to the Faculty of Engineering at Al-Azhar University for equipping us with the academic foundation and tools to pursue this work.
To our families - thank you. Your unwavering belief in us was our safe haven throughout this journey. Words will never be enough to repay you for your support.</a:t>
            </a:r>
          </a:p>
        </p:txBody>
      </p:sp>
    </p:spTree>
    <p:extLst>
      <p:ext uri="{BB962C8B-B14F-4D97-AF65-F5344CB8AC3E}">
        <p14:creationId xmlns:p14="http://schemas.microsoft.com/office/powerpoint/2010/main" val="13365399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488A51C-AAD3-3B3F-B431-37F088D87310}"/>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35DC3003-493D-B6E4-39B8-ED9443989B8A}"/>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6380CAB-107E-4619-17F9-BBC27F47BC6E}"/>
              </a:ext>
            </a:extLst>
          </p:cNvPr>
          <p:cNvSpPr txBox="1"/>
          <p:nvPr/>
        </p:nvSpPr>
        <p:spPr>
          <a:xfrm>
            <a:off x="762000" y="228600"/>
            <a:ext cx="10668000" cy="553998"/>
          </a:xfrm>
          <a:prstGeom prst="rect">
            <a:avLst/>
          </a:prstGeom>
          <a:noFill/>
        </p:spPr>
        <p:txBody>
          <a:bodyPr vert="horz" wrap="square" rtlCol="0">
            <a:noAutofit/>
          </a:bodyPr>
          <a:lstStyle/>
          <a:p>
            <a:r>
              <a:rPr lang="en-US" sz="3000" b="1">
                <a:solidFill>
                  <a:srgbClr val="FFFFFF"/>
                </a:solidFill>
              </a:rPr>
              <a:t>Abstract</a:t>
            </a:r>
          </a:p>
        </p:txBody>
      </p:sp>
      <p:cxnSp>
        <p:nvCxnSpPr>
          <p:cNvPr id="5" name="Straight Connector 4">
            <a:extLst>
              <a:ext uri="{FF2B5EF4-FFF2-40B4-BE49-F238E27FC236}">
                <a16:creationId xmlns:a16="http://schemas.microsoft.com/office/drawing/2014/main" id="{CB6921ED-25E5-E4EC-1F23-F3AD554F2BD9}"/>
              </a:ext>
            </a:extLst>
          </p:cNvPr>
          <p:cNvCxnSpPr/>
          <p:nvPr/>
        </p:nvCxnSpPr>
        <p:spPr>
          <a:xfrm>
            <a:off x="762000" y="889000"/>
            <a:ext cx="10668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556E87D6-AEC5-4BE0-AEC3-FF771B65E892}"/>
              </a:ext>
            </a:extLst>
          </p:cNvPr>
          <p:cNvSpPr txBox="1"/>
          <p:nvPr/>
        </p:nvSpPr>
        <p:spPr>
          <a:xfrm>
            <a:off x="762000" y="1066800"/>
            <a:ext cx="11049000" cy="2400657"/>
          </a:xfrm>
          <a:prstGeom prst="rect">
            <a:avLst/>
          </a:prstGeom>
          <a:noFill/>
        </p:spPr>
        <p:txBody>
          <a:bodyPr vert="horz" wrap="square" rtlCol="0">
            <a:noAutofit/>
          </a:bodyPr>
          <a:lstStyle/>
          <a:p>
            <a:r>
              <a:rPr lang="en-US" sz="1500">
                <a:solidFill>
                  <a:srgbClr val="D2E1F0"/>
                </a:solidFill>
              </a:rPr>
              <a:t>Rapid urbanization and continuous growth of motor vehicle traffic have resulted in serious transportation challenges such as congestion, frequent accidents, and major socioeconomic losses.
Vehicle-to-Everything (V2X) communication has emerged as a key enabler of safer and more efficient transport. This project presents a comprehensive, low-cost embedded V2X Collision Avoidance System integrating all four V2X paradigms: V2V, V2I, V2P, and V2N.
The system is built around an STM32F446RE microcontroller running FreeRTOS for real-time V2V safety, a Raspberry Pi 4B handling V2I/V2P/V2N functions, and an ESP32-S3 module providing ESP-NOW wireless communication - all integrated on a custom-designed PCB. Five V2V safety use cases are validated, alongside a YOLO-based pedestrian detector, a live MQTT cloud dashboard, and a traffic signal interface.</a:t>
            </a:r>
          </a:p>
        </p:txBody>
      </p:sp>
    </p:spTree>
    <p:extLst>
      <p:ext uri="{BB962C8B-B14F-4D97-AF65-F5344CB8AC3E}">
        <p14:creationId xmlns:p14="http://schemas.microsoft.com/office/powerpoint/2010/main" val="3810268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ED137A73-C056-A87C-DA2C-5618144DAD6C}"/>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756A0B39-5AAB-B799-171F-78CD6DC4CBA2}"/>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159B303-F356-7578-BE03-C3DAAE243DE1}"/>
              </a:ext>
            </a:extLst>
          </p:cNvPr>
          <p:cNvSpPr txBox="1"/>
          <p:nvPr/>
        </p:nvSpPr>
        <p:spPr>
          <a:xfrm>
            <a:off x="762000" y="228600"/>
            <a:ext cx="10668000" cy="553998"/>
          </a:xfrm>
          <a:prstGeom prst="rect">
            <a:avLst/>
          </a:prstGeom>
          <a:noFill/>
        </p:spPr>
        <p:txBody>
          <a:bodyPr vert="horz" wrap="square" rtlCol="0">
            <a:noAutofit/>
          </a:bodyPr>
          <a:lstStyle/>
          <a:p>
            <a:r>
              <a:rPr lang="en-US" sz="3000" b="1">
                <a:solidFill>
                  <a:srgbClr val="FFFFFF"/>
                </a:solidFill>
              </a:rPr>
              <a:t>Problem Statement</a:t>
            </a:r>
          </a:p>
        </p:txBody>
      </p:sp>
      <p:cxnSp>
        <p:nvCxnSpPr>
          <p:cNvPr id="5" name="Straight Connector 4">
            <a:extLst>
              <a:ext uri="{FF2B5EF4-FFF2-40B4-BE49-F238E27FC236}">
                <a16:creationId xmlns:a16="http://schemas.microsoft.com/office/drawing/2014/main" id="{CFACB8E4-AC4B-EDDA-525A-0F2BBFA4BFA1}"/>
              </a:ext>
            </a:extLst>
          </p:cNvPr>
          <p:cNvCxnSpPr/>
          <p:nvPr/>
        </p:nvCxnSpPr>
        <p:spPr>
          <a:xfrm>
            <a:off x="762000" y="889000"/>
            <a:ext cx="10668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B9C64AEA-8EF5-0FDD-82BF-A334748A65F5}"/>
              </a:ext>
            </a:extLst>
          </p:cNvPr>
          <p:cNvSpPr/>
          <p:nvPr/>
        </p:nvSpPr>
        <p:spPr>
          <a:xfrm>
            <a:off x="698500" y="1092200"/>
            <a:ext cx="11049000" cy="990600"/>
          </a:xfrm>
          <a:prstGeom prst="roundRect">
            <a:avLst/>
          </a:prstGeom>
          <a:solidFill>
            <a:srgbClr val="12284B"/>
          </a:solidFill>
          <a:ln>
            <a:solidFill>
              <a:srgbClr val="008C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5D25433-3057-2F5B-62B5-B23D12FE13F0}"/>
              </a:ext>
            </a:extLst>
          </p:cNvPr>
          <p:cNvSpPr/>
          <p:nvPr/>
        </p:nvSpPr>
        <p:spPr>
          <a:xfrm>
            <a:off x="698500" y="1092200"/>
            <a:ext cx="76200" cy="990600"/>
          </a:xfrm>
          <a:prstGeom prst="rect">
            <a:avLst/>
          </a:prstGeom>
          <a:solidFill>
            <a:srgbClr val="00D4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6F6E4EE-8CCF-E0CE-D71B-D8F52A8A6CA0}"/>
              </a:ext>
            </a:extLst>
          </p:cNvPr>
          <p:cNvSpPr txBox="1"/>
          <p:nvPr/>
        </p:nvSpPr>
        <p:spPr>
          <a:xfrm>
            <a:off x="990600" y="1219200"/>
            <a:ext cx="10541000" cy="523220"/>
          </a:xfrm>
          <a:prstGeom prst="rect">
            <a:avLst/>
          </a:prstGeom>
          <a:noFill/>
        </p:spPr>
        <p:txBody>
          <a:bodyPr vert="horz" wrap="square" rtlCol="0">
            <a:noAutofit/>
          </a:bodyPr>
          <a:lstStyle/>
          <a:p>
            <a:r>
              <a:rPr lang="en-US" sz="1400">
                <a:solidFill>
                  <a:srgbClr val="D2E1F0"/>
                </a:solidFill>
              </a:rPr>
              <a:t>Conventional vehicles have no wireless communication capability - each driver's awareness is limited to what their own sensors can detect.</a:t>
            </a:r>
          </a:p>
        </p:txBody>
      </p:sp>
      <p:sp>
        <p:nvSpPr>
          <p:cNvPr id="9" name="Rectangle: Rounded Corners 8">
            <a:extLst>
              <a:ext uri="{FF2B5EF4-FFF2-40B4-BE49-F238E27FC236}">
                <a16:creationId xmlns:a16="http://schemas.microsoft.com/office/drawing/2014/main" id="{E097DA92-2EEA-4680-27B9-ADF845D37CD2}"/>
              </a:ext>
            </a:extLst>
          </p:cNvPr>
          <p:cNvSpPr/>
          <p:nvPr/>
        </p:nvSpPr>
        <p:spPr>
          <a:xfrm>
            <a:off x="698500" y="2311400"/>
            <a:ext cx="11049000" cy="990600"/>
          </a:xfrm>
          <a:prstGeom prst="roundRect">
            <a:avLst/>
          </a:prstGeom>
          <a:solidFill>
            <a:srgbClr val="12284B"/>
          </a:solidFill>
          <a:ln>
            <a:solidFill>
              <a:srgbClr val="008C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11DA75B-C9D8-3099-A429-D7E68ED2349E}"/>
              </a:ext>
            </a:extLst>
          </p:cNvPr>
          <p:cNvSpPr/>
          <p:nvPr/>
        </p:nvSpPr>
        <p:spPr>
          <a:xfrm>
            <a:off x="698500" y="2311400"/>
            <a:ext cx="76200" cy="990600"/>
          </a:xfrm>
          <a:prstGeom prst="rect">
            <a:avLst/>
          </a:prstGeom>
          <a:solidFill>
            <a:srgbClr val="00D4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D7E3689-A527-F38B-8DA7-2253916AA83C}"/>
              </a:ext>
            </a:extLst>
          </p:cNvPr>
          <p:cNvSpPr txBox="1"/>
          <p:nvPr/>
        </p:nvSpPr>
        <p:spPr>
          <a:xfrm>
            <a:off x="990600" y="2438400"/>
            <a:ext cx="10541000" cy="523220"/>
          </a:xfrm>
          <a:prstGeom prst="rect">
            <a:avLst/>
          </a:prstGeom>
          <a:noFill/>
        </p:spPr>
        <p:txBody>
          <a:bodyPr vert="horz" wrap="square" rtlCol="0">
            <a:noAutofit/>
          </a:bodyPr>
          <a:lstStyle/>
          <a:p>
            <a:r>
              <a:rPr lang="en-US" sz="1400">
                <a:solidFill>
                  <a:srgbClr val="D2E1F0"/>
                </a:solidFill>
              </a:rPr>
              <a:t>Commercial ADAS solutions (LiDAR, radar) rely on expensive hardware that is out of reach for mainstream vehicles in developing countries.</a:t>
            </a:r>
          </a:p>
        </p:txBody>
      </p:sp>
      <p:sp>
        <p:nvSpPr>
          <p:cNvPr id="12" name="Rectangle: Rounded Corners 11">
            <a:extLst>
              <a:ext uri="{FF2B5EF4-FFF2-40B4-BE49-F238E27FC236}">
                <a16:creationId xmlns:a16="http://schemas.microsoft.com/office/drawing/2014/main" id="{45F7BCC8-A284-8E04-F787-6DDAE0F5A181}"/>
              </a:ext>
            </a:extLst>
          </p:cNvPr>
          <p:cNvSpPr/>
          <p:nvPr/>
        </p:nvSpPr>
        <p:spPr>
          <a:xfrm>
            <a:off x="698500" y="3530600"/>
            <a:ext cx="11049000" cy="990600"/>
          </a:xfrm>
          <a:prstGeom prst="roundRect">
            <a:avLst/>
          </a:prstGeom>
          <a:solidFill>
            <a:srgbClr val="12284B"/>
          </a:solidFill>
          <a:ln>
            <a:solidFill>
              <a:srgbClr val="008C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E2B95AB-C196-993A-D262-52BB502E57AF}"/>
              </a:ext>
            </a:extLst>
          </p:cNvPr>
          <p:cNvSpPr/>
          <p:nvPr/>
        </p:nvSpPr>
        <p:spPr>
          <a:xfrm>
            <a:off x="698500" y="3530600"/>
            <a:ext cx="76200" cy="990600"/>
          </a:xfrm>
          <a:prstGeom prst="rect">
            <a:avLst/>
          </a:prstGeom>
          <a:solidFill>
            <a:srgbClr val="00D4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1503AE7-AA7A-B13C-A4BD-F39F10E41827}"/>
              </a:ext>
            </a:extLst>
          </p:cNvPr>
          <p:cNvSpPr txBox="1"/>
          <p:nvPr/>
        </p:nvSpPr>
        <p:spPr>
          <a:xfrm>
            <a:off x="990600" y="3657600"/>
            <a:ext cx="10541000" cy="307777"/>
          </a:xfrm>
          <a:prstGeom prst="rect">
            <a:avLst/>
          </a:prstGeom>
          <a:noFill/>
        </p:spPr>
        <p:txBody>
          <a:bodyPr vert="horz" wrap="square" rtlCol="0">
            <a:noAutofit/>
          </a:bodyPr>
          <a:lstStyle/>
          <a:p>
            <a:r>
              <a:rPr lang="en-US" sz="1400">
                <a:solidFill>
                  <a:srgbClr val="D2E1F0"/>
                </a:solidFill>
              </a:rPr>
              <a:t>Road infrastructure in countries like Egypt does not yet support modern cooperative safety systems, leaving a critical safety gap.</a:t>
            </a:r>
          </a:p>
        </p:txBody>
      </p:sp>
      <p:sp>
        <p:nvSpPr>
          <p:cNvPr id="15" name="Rectangle: Rounded Corners 14">
            <a:extLst>
              <a:ext uri="{FF2B5EF4-FFF2-40B4-BE49-F238E27FC236}">
                <a16:creationId xmlns:a16="http://schemas.microsoft.com/office/drawing/2014/main" id="{B5556EFC-3413-FB10-AEC7-9282DA453733}"/>
              </a:ext>
            </a:extLst>
          </p:cNvPr>
          <p:cNvSpPr/>
          <p:nvPr/>
        </p:nvSpPr>
        <p:spPr>
          <a:xfrm>
            <a:off x="698500" y="4749800"/>
            <a:ext cx="11049000" cy="990600"/>
          </a:xfrm>
          <a:prstGeom prst="roundRect">
            <a:avLst/>
          </a:prstGeom>
          <a:solidFill>
            <a:srgbClr val="12284B"/>
          </a:solidFill>
          <a:ln>
            <a:solidFill>
              <a:srgbClr val="008C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5F5828A-5E01-3590-2CA9-68319431BF1C}"/>
              </a:ext>
            </a:extLst>
          </p:cNvPr>
          <p:cNvSpPr/>
          <p:nvPr/>
        </p:nvSpPr>
        <p:spPr>
          <a:xfrm>
            <a:off x="698500" y="4749800"/>
            <a:ext cx="76200" cy="990600"/>
          </a:xfrm>
          <a:prstGeom prst="rect">
            <a:avLst/>
          </a:prstGeom>
          <a:solidFill>
            <a:srgbClr val="00D4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6602C40-82B5-A901-90B6-AA13F70E7619}"/>
              </a:ext>
            </a:extLst>
          </p:cNvPr>
          <p:cNvSpPr txBox="1"/>
          <p:nvPr/>
        </p:nvSpPr>
        <p:spPr>
          <a:xfrm>
            <a:off x="990600" y="4876800"/>
            <a:ext cx="10541000" cy="307777"/>
          </a:xfrm>
          <a:prstGeom prst="rect">
            <a:avLst/>
          </a:prstGeom>
          <a:noFill/>
        </p:spPr>
        <p:txBody>
          <a:bodyPr vert="horz" wrap="square" rtlCol="0">
            <a:noAutofit/>
          </a:bodyPr>
          <a:lstStyle/>
          <a:p>
            <a:r>
              <a:rPr lang="en-US" sz="1400">
                <a:solidFill>
                  <a:srgbClr val="D2E1F0"/>
                </a:solidFill>
              </a:rPr>
              <a:t>No affordable hardware-level prototype has demonstrated simultaneous integration of all four V2X paradigms on a single platform.</a:t>
            </a:r>
          </a:p>
        </p:txBody>
      </p:sp>
    </p:spTree>
    <p:extLst>
      <p:ext uri="{BB962C8B-B14F-4D97-AF65-F5344CB8AC3E}">
        <p14:creationId xmlns:p14="http://schemas.microsoft.com/office/powerpoint/2010/main" val="2354298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27481354-A732-65ED-921B-FE86D7F2EA01}"/>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C84134AF-8236-823D-2F25-CAEC1B181074}"/>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D97DAFFC-AAF4-44B2-0796-3C9306E2612E}"/>
              </a:ext>
            </a:extLst>
          </p:cNvPr>
          <p:cNvSpPr txBox="1"/>
          <p:nvPr/>
        </p:nvSpPr>
        <p:spPr>
          <a:xfrm>
            <a:off x="762000" y="228600"/>
            <a:ext cx="10668000" cy="553998"/>
          </a:xfrm>
          <a:prstGeom prst="rect">
            <a:avLst/>
          </a:prstGeom>
          <a:noFill/>
        </p:spPr>
        <p:txBody>
          <a:bodyPr vert="horz" wrap="square" rtlCol="0">
            <a:noAutofit/>
          </a:bodyPr>
          <a:lstStyle/>
          <a:p>
            <a:r>
              <a:rPr lang="en-US" sz="3000" b="1">
                <a:solidFill>
                  <a:srgbClr val="FFFFFF"/>
                </a:solidFill>
              </a:rPr>
              <a:t>Project Objectives</a:t>
            </a:r>
          </a:p>
        </p:txBody>
      </p:sp>
      <p:cxnSp>
        <p:nvCxnSpPr>
          <p:cNvPr id="5" name="Straight Connector 4">
            <a:extLst>
              <a:ext uri="{FF2B5EF4-FFF2-40B4-BE49-F238E27FC236}">
                <a16:creationId xmlns:a16="http://schemas.microsoft.com/office/drawing/2014/main" id="{EBC60CF6-D15A-3D48-9B49-2E996694BEF0}"/>
              </a:ext>
            </a:extLst>
          </p:cNvPr>
          <p:cNvCxnSpPr/>
          <p:nvPr/>
        </p:nvCxnSpPr>
        <p:spPr>
          <a:xfrm>
            <a:off x="762000" y="889000"/>
            <a:ext cx="10668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36DAF628-D774-DFBD-E8CA-D2BD46A82E6F}"/>
              </a:ext>
            </a:extLst>
          </p:cNvPr>
          <p:cNvSpPr/>
          <p:nvPr/>
        </p:nvSpPr>
        <p:spPr>
          <a:xfrm>
            <a:off x="698500" y="1092200"/>
            <a:ext cx="660400" cy="457200"/>
          </a:xfrm>
          <a:prstGeom prst="roundRect">
            <a:avLst/>
          </a:prstGeom>
          <a:solidFill>
            <a:srgbClr val="008CB4"/>
          </a:solidFill>
          <a:ln w="127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4584D83-67F5-4914-5E2A-31DC86F19FD0}"/>
              </a:ext>
            </a:extLst>
          </p:cNvPr>
          <p:cNvSpPr txBox="1"/>
          <p:nvPr/>
        </p:nvSpPr>
        <p:spPr>
          <a:xfrm>
            <a:off x="723900" y="1092200"/>
            <a:ext cx="635000" cy="338554"/>
          </a:xfrm>
          <a:prstGeom prst="rect">
            <a:avLst/>
          </a:prstGeom>
          <a:noFill/>
        </p:spPr>
        <p:txBody>
          <a:bodyPr vert="horz" wrap="square" rtlCol="0">
            <a:noAutofit/>
          </a:bodyPr>
          <a:lstStyle/>
          <a:p>
            <a:pPr algn="ctr"/>
            <a:r>
              <a:rPr lang="en-US" sz="1600" b="1">
                <a:solidFill>
                  <a:srgbClr val="FFFFFF"/>
                </a:solidFill>
              </a:rPr>
              <a:t>01</a:t>
            </a:r>
          </a:p>
        </p:txBody>
      </p:sp>
      <p:sp>
        <p:nvSpPr>
          <p:cNvPr id="8" name="TextBox 7">
            <a:extLst>
              <a:ext uri="{FF2B5EF4-FFF2-40B4-BE49-F238E27FC236}">
                <a16:creationId xmlns:a16="http://schemas.microsoft.com/office/drawing/2014/main" id="{0B73C964-E825-5999-C905-C677A6BAD348}"/>
              </a:ext>
            </a:extLst>
          </p:cNvPr>
          <p:cNvSpPr txBox="1"/>
          <p:nvPr/>
        </p:nvSpPr>
        <p:spPr>
          <a:xfrm>
            <a:off x="1498600" y="1041400"/>
            <a:ext cx="10414000" cy="292388"/>
          </a:xfrm>
          <a:prstGeom prst="rect">
            <a:avLst/>
          </a:prstGeom>
          <a:noFill/>
        </p:spPr>
        <p:txBody>
          <a:bodyPr vert="horz" wrap="square" rtlCol="0">
            <a:noAutofit/>
          </a:bodyPr>
          <a:lstStyle/>
          <a:p>
            <a:r>
              <a:rPr lang="en-US" sz="1300">
                <a:solidFill>
                  <a:srgbClr val="D2E1F0"/>
                </a:solidFill>
              </a:rPr>
              <a:t>Implement a real-time V2V safety engine on STM32F446RE managed by FreeRTOS with 6 concurrent tasks.</a:t>
            </a:r>
          </a:p>
        </p:txBody>
      </p:sp>
      <p:sp>
        <p:nvSpPr>
          <p:cNvPr id="9" name="Rectangle: Rounded Corners 8">
            <a:extLst>
              <a:ext uri="{FF2B5EF4-FFF2-40B4-BE49-F238E27FC236}">
                <a16:creationId xmlns:a16="http://schemas.microsoft.com/office/drawing/2014/main" id="{92D29342-5E0C-36F6-ADA2-1D8F394FF068}"/>
              </a:ext>
            </a:extLst>
          </p:cNvPr>
          <p:cNvSpPr/>
          <p:nvPr/>
        </p:nvSpPr>
        <p:spPr>
          <a:xfrm>
            <a:off x="698500" y="1752600"/>
            <a:ext cx="660400" cy="457200"/>
          </a:xfrm>
          <a:prstGeom prst="roundRect">
            <a:avLst/>
          </a:prstGeom>
          <a:solidFill>
            <a:srgbClr val="008CB4"/>
          </a:solidFill>
          <a:ln w="127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4B46EF5-AAC9-BBD0-0F5A-9BFE0A11AD5F}"/>
              </a:ext>
            </a:extLst>
          </p:cNvPr>
          <p:cNvSpPr txBox="1"/>
          <p:nvPr/>
        </p:nvSpPr>
        <p:spPr>
          <a:xfrm>
            <a:off x="723900" y="1752600"/>
            <a:ext cx="635000" cy="338554"/>
          </a:xfrm>
          <a:prstGeom prst="rect">
            <a:avLst/>
          </a:prstGeom>
          <a:noFill/>
        </p:spPr>
        <p:txBody>
          <a:bodyPr vert="horz" wrap="square" rtlCol="0">
            <a:noAutofit/>
          </a:bodyPr>
          <a:lstStyle/>
          <a:p>
            <a:pPr algn="ctr"/>
            <a:r>
              <a:rPr lang="en-US" sz="1600" b="1">
                <a:solidFill>
                  <a:srgbClr val="FFFFFF"/>
                </a:solidFill>
              </a:rPr>
              <a:t>02</a:t>
            </a:r>
          </a:p>
        </p:txBody>
      </p:sp>
      <p:sp>
        <p:nvSpPr>
          <p:cNvPr id="11" name="TextBox 10">
            <a:extLst>
              <a:ext uri="{FF2B5EF4-FFF2-40B4-BE49-F238E27FC236}">
                <a16:creationId xmlns:a16="http://schemas.microsoft.com/office/drawing/2014/main" id="{5B7C6457-15CD-2635-868A-C213B0910420}"/>
              </a:ext>
            </a:extLst>
          </p:cNvPr>
          <p:cNvSpPr txBox="1"/>
          <p:nvPr/>
        </p:nvSpPr>
        <p:spPr>
          <a:xfrm>
            <a:off x="1498600" y="1701800"/>
            <a:ext cx="10414000" cy="292388"/>
          </a:xfrm>
          <a:prstGeom prst="rect">
            <a:avLst/>
          </a:prstGeom>
          <a:noFill/>
        </p:spPr>
        <p:txBody>
          <a:bodyPr vert="horz" wrap="square" rtlCol="0">
            <a:noAutofit/>
          </a:bodyPr>
          <a:lstStyle/>
          <a:p>
            <a:r>
              <a:rPr lang="en-US" sz="1300">
                <a:solidFill>
                  <a:srgbClr val="D2E1F0"/>
                </a:solidFill>
              </a:rPr>
              <a:t>Validate five V2V safety use cases: FCW, EEBL, BSW, DNPW, and IMA.</a:t>
            </a:r>
          </a:p>
        </p:txBody>
      </p:sp>
      <p:sp>
        <p:nvSpPr>
          <p:cNvPr id="12" name="Rectangle: Rounded Corners 11">
            <a:extLst>
              <a:ext uri="{FF2B5EF4-FFF2-40B4-BE49-F238E27FC236}">
                <a16:creationId xmlns:a16="http://schemas.microsoft.com/office/drawing/2014/main" id="{3822C600-5FAD-CE6F-C964-4E063EEA53F1}"/>
              </a:ext>
            </a:extLst>
          </p:cNvPr>
          <p:cNvSpPr/>
          <p:nvPr/>
        </p:nvSpPr>
        <p:spPr>
          <a:xfrm>
            <a:off x="698500" y="2413000"/>
            <a:ext cx="660400" cy="457200"/>
          </a:xfrm>
          <a:prstGeom prst="roundRect">
            <a:avLst/>
          </a:prstGeom>
          <a:solidFill>
            <a:srgbClr val="008CB4"/>
          </a:solidFill>
          <a:ln w="127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D62B509-7320-A457-058C-BA88391032A7}"/>
              </a:ext>
            </a:extLst>
          </p:cNvPr>
          <p:cNvSpPr txBox="1"/>
          <p:nvPr/>
        </p:nvSpPr>
        <p:spPr>
          <a:xfrm>
            <a:off x="723900" y="2413000"/>
            <a:ext cx="635000" cy="338554"/>
          </a:xfrm>
          <a:prstGeom prst="rect">
            <a:avLst/>
          </a:prstGeom>
          <a:noFill/>
        </p:spPr>
        <p:txBody>
          <a:bodyPr vert="horz" wrap="square" rtlCol="0">
            <a:noAutofit/>
          </a:bodyPr>
          <a:lstStyle/>
          <a:p>
            <a:pPr algn="ctr"/>
            <a:r>
              <a:rPr lang="en-US" sz="1600" b="1">
                <a:solidFill>
                  <a:srgbClr val="FFFFFF"/>
                </a:solidFill>
              </a:rPr>
              <a:t>03</a:t>
            </a:r>
          </a:p>
        </p:txBody>
      </p:sp>
      <p:sp>
        <p:nvSpPr>
          <p:cNvPr id="14" name="TextBox 13">
            <a:extLst>
              <a:ext uri="{FF2B5EF4-FFF2-40B4-BE49-F238E27FC236}">
                <a16:creationId xmlns:a16="http://schemas.microsoft.com/office/drawing/2014/main" id="{DC7DA96E-BEFA-7319-CA61-D4F90E3C395B}"/>
              </a:ext>
            </a:extLst>
          </p:cNvPr>
          <p:cNvSpPr txBox="1"/>
          <p:nvPr/>
        </p:nvSpPr>
        <p:spPr>
          <a:xfrm>
            <a:off x="1498600" y="2362200"/>
            <a:ext cx="10414000" cy="292388"/>
          </a:xfrm>
          <a:prstGeom prst="rect">
            <a:avLst/>
          </a:prstGeom>
          <a:noFill/>
        </p:spPr>
        <p:txBody>
          <a:bodyPr vert="horz" wrap="square" rtlCol="0">
            <a:noAutofit/>
          </a:bodyPr>
          <a:lstStyle/>
          <a:p>
            <a:r>
              <a:rPr lang="en-US" sz="1300">
                <a:solidFill>
                  <a:srgbClr val="D2E1F0"/>
                </a:solidFill>
              </a:rPr>
              <a:t>Establish V2V wireless link using ESP32-S3 and ESP-NOW protocol (1-2 ms latency, 480 m range).</a:t>
            </a:r>
          </a:p>
        </p:txBody>
      </p:sp>
      <p:sp>
        <p:nvSpPr>
          <p:cNvPr id="15" name="Rectangle: Rounded Corners 14">
            <a:extLst>
              <a:ext uri="{FF2B5EF4-FFF2-40B4-BE49-F238E27FC236}">
                <a16:creationId xmlns:a16="http://schemas.microsoft.com/office/drawing/2014/main" id="{282B490B-A93C-A96B-B6CD-0A1AA2A93D9D}"/>
              </a:ext>
            </a:extLst>
          </p:cNvPr>
          <p:cNvSpPr/>
          <p:nvPr/>
        </p:nvSpPr>
        <p:spPr>
          <a:xfrm>
            <a:off x="698500" y="3073400"/>
            <a:ext cx="660400" cy="457200"/>
          </a:xfrm>
          <a:prstGeom prst="roundRect">
            <a:avLst/>
          </a:prstGeom>
          <a:solidFill>
            <a:srgbClr val="008CB4"/>
          </a:solidFill>
          <a:ln w="127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D2B7668-C08F-FE0E-2CCC-00F175DF1A3B}"/>
              </a:ext>
            </a:extLst>
          </p:cNvPr>
          <p:cNvSpPr txBox="1"/>
          <p:nvPr/>
        </p:nvSpPr>
        <p:spPr>
          <a:xfrm>
            <a:off x="723900" y="3073400"/>
            <a:ext cx="635000" cy="338554"/>
          </a:xfrm>
          <a:prstGeom prst="rect">
            <a:avLst/>
          </a:prstGeom>
          <a:noFill/>
        </p:spPr>
        <p:txBody>
          <a:bodyPr vert="horz" wrap="square" rtlCol="0">
            <a:noAutofit/>
          </a:bodyPr>
          <a:lstStyle/>
          <a:p>
            <a:pPr algn="ctr"/>
            <a:r>
              <a:rPr lang="en-US" sz="1600" b="1">
                <a:solidFill>
                  <a:srgbClr val="FFFFFF"/>
                </a:solidFill>
              </a:rPr>
              <a:t>04</a:t>
            </a:r>
          </a:p>
        </p:txBody>
      </p:sp>
      <p:sp>
        <p:nvSpPr>
          <p:cNvPr id="17" name="TextBox 16">
            <a:extLst>
              <a:ext uri="{FF2B5EF4-FFF2-40B4-BE49-F238E27FC236}">
                <a16:creationId xmlns:a16="http://schemas.microsoft.com/office/drawing/2014/main" id="{FB7EC8B8-AC23-0C3C-586F-EBB95502B406}"/>
              </a:ext>
            </a:extLst>
          </p:cNvPr>
          <p:cNvSpPr txBox="1"/>
          <p:nvPr/>
        </p:nvSpPr>
        <p:spPr>
          <a:xfrm>
            <a:off x="1498600" y="3022600"/>
            <a:ext cx="10414000" cy="292388"/>
          </a:xfrm>
          <a:prstGeom prst="rect">
            <a:avLst/>
          </a:prstGeom>
          <a:noFill/>
        </p:spPr>
        <p:txBody>
          <a:bodyPr vert="horz" wrap="square" rtlCol="0">
            <a:noAutofit/>
          </a:bodyPr>
          <a:lstStyle/>
          <a:p>
            <a:r>
              <a:rPr lang="en-US" sz="1300">
                <a:solidFill>
                  <a:srgbClr val="D2E1F0"/>
                </a:solidFill>
              </a:rPr>
              <a:t>Build a V2P pedestrian detection pipeline on Raspberry Pi using camera and YOLO model.</a:t>
            </a:r>
          </a:p>
        </p:txBody>
      </p:sp>
      <p:sp>
        <p:nvSpPr>
          <p:cNvPr id="18" name="Rectangle: Rounded Corners 17">
            <a:extLst>
              <a:ext uri="{FF2B5EF4-FFF2-40B4-BE49-F238E27FC236}">
                <a16:creationId xmlns:a16="http://schemas.microsoft.com/office/drawing/2014/main" id="{49EC6289-AA26-AFD2-6FDD-860558758B50}"/>
              </a:ext>
            </a:extLst>
          </p:cNvPr>
          <p:cNvSpPr/>
          <p:nvPr/>
        </p:nvSpPr>
        <p:spPr>
          <a:xfrm>
            <a:off x="698500" y="3733800"/>
            <a:ext cx="660400" cy="457200"/>
          </a:xfrm>
          <a:prstGeom prst="roundRect">
            <a:avLst/>
          </a:prstGeom>
          <a:solidFill>
            <a:srgbClr val="008CB4"/>
          </a:solidFill>
          <a:ln w="127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7588B3E2-8DFC-8A59-332A-C87342364440}"/>
              </a:ext>
            </a:extLst>
          </p:cNvPr>
          <p:cNvSpPr txBox="1"/>
          <p:nvPr/>
        </p:nvSpPr>
        <p:spPr>
          <a:xfrm>
            <a:off x="723900" y="3733800"/>
            <a:ext cx="635000" cy="338554"/>
          </a:xfrm>
          <a:prstGeom prst="rect">
            <a:avLst/>
          </a:prstGeom>
          <a:noFill/>
        </p:spPr>
        <p:txBody>
          <a:bodyPr vert="horz" wrap="square" rtlCol="0">
            <a:noAutofit/>
          </a:bodyPr>
          <a:lstStyle/>
          <a:p>
            <a:pPr algn="ctr"/>
            <a:r>
              <a:rPr lang="en-US" sz="1600" b="1">
                <a:solidFill>
                  <a:srgbClr val="FFFFFF"/>
                </a:solidFill>
              </a:rPr>
              <a:t>05</a:t>
            </a:r>
          </a:p>
        </p:txBody>
      </p:sp>
      <p:sp>
        <p:nvSpPr>
          <p:cNvPr id="20" name="TextBox 19">
            <a:extLst>
              <a:ext uri="{FF2B5EF4-FFF2-40B4-BE49-F238E27FC236}">
                <a16:creationId xmlns:a16="http://schemas.microsoft.com/office/drawing/2014/main" id="{7AC8FDBD-2A9B-8224-0149-37F2CFED3F3A}"/>
              </a:ext>
            </a:extLst>
          </p:cNvPr>
          <p:cNvSpPr txBox="1"/>
          <p:nvPr/>
        </p:nvSpPr>
        <p:spPr>
          <a:xfrm>
            <a:off x="1498600" y="3683000"/>
            <a:ext cx="10414000" cy="292388"/>
          </a:xfrm>
          <a:prstGeom prst="rect">
            <a:avLst/>
          </a:prstGeom>
          <a:noFill/>
        </p:spPr>
        <p:txBody>
          <a:bodyPr vert="horz" wrap="square" rtlCol="0">
            <a:noAutofit/>
          </a:bodyPr>
          <a:lstStyle/>
          <a:p>
            <a:r>
              <a:rPr lang="en-US" sz="1300">
                <a:solidFill>
                  <a:srgbClr val="D2E1F0"/>
                </a:solidFill>
              </a:rPr>
              <a:t>Deploy V2I subsystem for traffic signal and Roadside Unit (RSU) communication.</a:t>
            </a:r>
          </a:p>
        </p:txBody>
      </p:sp>
      <p:sp>
        <p:nvSpPr>
          <p:cNvPr id="21" name="Rectangle: Rounded Corners 20">
            <a:extLst>
              <a:ext uri="{FF2B5EF4-FFF2-40B4-BE49-F238E27FC236}">
                <a16:creationId xmlns:a16="http://schemas.microsoft.com/office/drawing/2014/main" id="{4A8D29DA-D136-52E3-78C0-5A637D9522E1}"/>
              </a:ext>
            </a:extLst>
          </p:cNvPr>
          <p:cNvSpPr/>
          <p:nvPr/>
        </p:nvSpPr>
        <p:spPr>
          <a:xfrm>
            <a:off x="698500" y="4394200"/>
            <a:ext cx="660400" cy="457200"/>
          </a:xfrm>
          <a:prstGeom prst="roundRect">
            <a:avLst/>
          </a:prstGeom>
          <a:solidFill>
            <a:srgbClr val="008CB4"/>
          </a:solidFill>
          <a:ln w="127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FA53451-0CDF-27DF-C3CD-14E0DEE9931F}"/>
              </a:ext>
            </a:extLst>
          </p:cNvPr>
          <p:cNvSpPr txBox="1"/>
          <p:nvPr/>
        </p:nvSpPr>
        <p:spPr>
          <a:xfrm>
            <a:off x="723900" y="4394200"/>
            <a:ext cx="635000" cy="338554"/>
          </a:xfrm>
          <a:prstGeom prst="rect">
            <a:avLst/>
          </a:prstGeom>
          <a:noFill/>
        </p:spPr>
        <p:txBody>
          <a:bodyPr vert="horz" wrap="square" rtlCol="0">
            <a:noAutofit/>
          </a:bodyPr>
          <a:lstStyle/>
          <a:p>
            <a:pPr algn="ctr"/>
            <a:r>
              <a:rPr lang="en-US" sz="1600" b="1">
                <a:solidFill>
                  <a:srgbClr val="FFFFFF"/>
                </a:solidFill>
              </a:rPr>
              <a:t>06</a:t>
            </a:r>
          </a:p>
        </p:txBody>
      </p:sp>
      <p:sp>
        <p:nvSpPr>
          <p:cNvPr id="23" name="TextBox 22">
            <a:extLst>
              <a:ext uri="{FF2B5EF4-FFF2-40B4-BE49-F238E27FC236}">
                <a16:creationId xmlns:a16="http://schemas.microsoft.com/office/drawing/2014/main" id="{CBDC5070-E35A-FE87-7ADF-9483C8131B71}"/>
              </a:ext>
            </a:extLst>
          </p:cNvPr>
          <p:cNvSpPr txBox="1"/>
          <p:nvPr/>
        </p:nvSpPr>
        <p:spPr>
          <a:xfrm>
            <a:off x="1498600" y="4343400"/>
            <a:ext cx="10414000" cy="292388"/>
          </a:xfrm>
          <a:prstGeom prst="rect">
            <a:avLst/>
          </a:prstGeom>
          <a:noFill/>
        </p:spPr>
        <p:txBody>
          <a:bodyPr vert="horz" wrap="square" rtlCol="0">
            <a:noAutofit/>
          </a:bodyPr>
          <a:lstStyle/>
          <a:p>
            <a:r>
              <a:rPr lang="en-US" sz="1300">
                <a:solidFill>
                  <a:srgbClr val="D2E1F0"/>
                </a:solidFill>
              </a:rPr>
              <a:t>Connect to cloud via MQTT (V2N) for real-time telemetry and live hazard dashboard.</a:t>
            </a:r>
          </a:p>
        </p:txBody>
      </p:sp>
      <p:sp>
        <p:nvSpPr>
          <p:cNvPr id="24" name="Rectangle: Rounded Corners 23">
            <a:extLst>
              <a:ext uri="{FF2B5EF4-FFF2-40B4-BE49-F238E27FC236}">
                <a16:creationId xmlns:a16="http://schemas.microsoft.com/office/drawing/2014/main" id="{E0596ADC-E9E9-5333-D1E2-14C94437A784}"/>
              </a:ext>
            </a:extLst>
          </p:cNvPr>
          <p:cNvSpPr/>
          <p:nvPr/>
        </p:nvSpPr>
        <p:spPr>
          <a:xfrm>
            <a:off x="698500" y="5054600"/>
            <a:ext cx="660400" cy="457200"/>
          </a:xfrm>
          <a:prstGeom prst="roundRect">
            <a:avLst/>
          </a:prstGeom>
          <a:solidFill>
            <a:srgbClr val="008CB4"/>
          </a:solidFill>
          <a:ln w="12700">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0AE516D2-E4F1-BE80-7057-F7A58B9EDC9A}"/>
              </a:ext>
            </a:extLst>
          </p:cNvPr>
          <p:cNvSpPr txBox="1"/>
          <p:nvPr/>
        </p:nvSpPr>
        <p:spPr>
          <a:xfrm>
            <a:off x="723900" y="5054600"/>
            <a:ext cx="635000" cy="338554"/>
          </a:xfrm>
          <a:prstGeom prst="rect">
            <a:avLst/>
          </a:prstGeom>
          <a:noFill/>
        </p:spPr>
        <p:txBody>
          <a:bodyPr vert="horz" wrap="square" rtlCol="0">
            <a:noAutofit/>
          </a:bodyPr>
          <a:lstStyle/>
          <a:p>
            <a:pPr algn="ctr"/>
            <a:r>
              <a:rPr lang="en-US" sz="1600" b="1">
                <a:solidFill>
                  <a:srgbClr val="FFFFFF"/>
                </a:solidFill>
              </a:rPr>
              <a:t>07</a:t>
            </a:r>
          </a:p>
        </p:txBody>
      </p:sp>
      <p:sp>
        <p:nvSpPr>
          <p:cNvPr id="26" name="TextBox 25">
            <a:extLst>
              <a:ext uri="{FF2B5EF4-FFF2-40B4-BE49-F238E27FC236}">
                <a16:creationId xmlns:a16="http://schemas.microsoft.com/office/drawing/2014/main" id="{272AE06A-CD5B-32AF-0CC6-E7152B5E072E}"/>
              </a:ext>
            </a:extLst>
          </p:cNvPr>
          <p:cNvSpPr txBox="1"/>
          <p:nvPr/>
        </p:nvSpPr>
        <p:spPr>
          <a:xfrm>
            <a:off x="1498600" y="5003800"/>
            <a:ext cx="10414000" cy="292388"/>
          </a:xfrm>
          <a:prstGeom prst="rect">
            <a:avLst/>
          </a:prstGeom>
          <a:noFill/>
        </p:spPr>
        <p:txBody>
          <a:bodyPr vert="horz" wrap="square" rtlCol="0">
            <a:noAutofit/>
          </a:bodyPr>
          <a:lstStyle/>
          <a:p>
            <a:r>
              <a:rPr lang="en-US" sz="1300">
                <a:solidFill>
                  <a:srgbClr val="D2E1F0"/>
                </a:solidFill>
              </a:rPr>
              <a:t>Design and fabricate a custom PCB integrating all embedded hardware into a single platform.</a:t>
            </a:r>
          </a:p>
        </p:txBody>
      </p:sp>
    </p:spTree>
    <p:extLst>
      <p:ext uri="{BB962C8B-B14F-4D97-AF65-F5344CB8AC3E}">
        <p14:creationId xmlns:p14="http://schemas.microsoft.com/office/powerpoint/2010/main" val="4823797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1AC898DB-6DC7-E5DD-B747-120A94EFF3E9}"/>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BDB0D61B-068A-5D15-1B07-E5B094E5E7E7}"/>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AC28B674-CE61-6D17-CBCA-F3609BBCE3DC}"/>
              </a:ext>
            </a:extLst>
          </p:cNvPr>
          <p:cNvSpPr txBox="1"/>
          <p:nvPr/>
        </p:nvSpPr>
        <p:spPr>
          <a:xfrm>
            <a:off x="0" y="228600"/>
            <a:ext cx="12192000" cy="553998"/>
          </a:xfrm>
          <a:prstGeom prst="rect">
            <a:avLst/>
          </a:prstGeom>
          <a:noFill/>
        </p:spPr>
        <p:txBody>
          <a:bodyPr vert="horz" wrap="square" rtlCol="0">
            <a:noAutofit/>
          </a:bodyPr>
          <a:lstStyle/>
          <a:p>
            <a:pPr algn="ctr"/>
            <a:r>
              <a:rPr lang="en-US" sz="3000" b="1">
                <a:solidFill>
                  <a:srgbClr val="FFFFFF"/>
                </a:solidFill>
              </a:rPr>
              <a:t>V2X System Architecture</a:t>
            </a:r>
          </a:p>
        </p:txBody>
      </p:sp>
      <p:sp>
        <p:nvSpPr>
          <p:cNvPr id="5" name="TextBox 4">
            <a:extLst>
              <a:ext uri="{FF2B5EF4-FFF2-40B4-BE49-F238E27FC236}">
                <a16:creationId xmlns:a16="http://schemas.microsoft.com/office/drawing/2014/main" id="{9A550562-41A6-C39A-7ADA-C4068F9E94F2}"/>
              </a:ext>
            </a:extLst>
          </p:cNvPr>
          <p:cNvSpPr txBox="1"/>
          <p:nvPr/>
        </p:nvSpPr>
        <p:spPr>
          <a:xfrm>
            <a:off x="0" y="660400"/>
            <a:ext cx="12192000" cy="292388"/>
          </a:xfrm>
          <a:prstGeom prst="rect">
            <a:avLst/>
          </a:prstGeom>
          <a:noFill/>
        </p:spPr>
        <p:txBody>
          <a:bodyPr vert="horz" wrap="square" rtlCol="0">
            <a:noAutofit/>
          </a:bodyPr>
          <a:lstStyle/>
          <a:p>
            <a:pPr algn="ctr"/>
            <a:r>
              <a:rPr lang="en-US" sz="1300">
                <a:solidFill>
                  <a:srgbClr val="5A6E8C"/>
                </a:solidFill>
              </a:rPr>
              <a:t>Click any subsystem to explore its details</a:t>
            </a:r>
          </a:p>
        </p:txBody>
      </p:sp>
      <p:cxnSp>
        <p:nvCxnSpPr>
          <p:cNvPr id="6" name="Straight Connector 5">
            <a:extLst>
              <a:ext uri="{FF2B5EF4-FFF2-40B4-BE49-F238E27FC236}">
                <a16:creationId xmlns:a16="http://schemas.microsoft.com/office/drawing/2014/main" id="{8AD1AC75-6368-294A-1AF0-95FD14552921}"/>
              </a:ext>
            </a:extLst>
          </p:cNvPr>
          <p:cNvCxnSpPr/>
          <p:nvPr/>
        </p:nvCxnSpPr>
        <p:spPr>
          <a:xfrm>
            <a:off x="2032000" y="965200"/>
            <a:ext cx="8128000" cy="0"/>
          </a:xfrm>
          <a:prstGeom prst="line">
            <a:avLst/>
          </a:prstGeom>
          <a:ln w="12700">
            <a:solidFill>
              <a:srgbClr val="008CB4"/>
            </a:solidFill>
          </a:ln>
        </p:spPr>
        <p:style>
          <a:lnRef idx="2">
            <a:schemeClr val="accent1"/>
          </a:lnRef>
          <a:fillRef idx="0">
            <a:schemeClr val="accent1"/>
          </a:fillRef>
          <a:effectRef idx="1">
            <a:schemeClr val="accent1"/>
          </a:effectRef>
          <a:fontRef idx="minor">
            <a:schemeClr val="tx1"/>
          </a:fontRef>
        </p:style>
      </p:cxnSp>
      <p:sp>
        <p:nvSpPr>
          <p:cNvPr id="7" name="Rectangle: Rounded Corners 6">
            <a:hlinkClick r:id="" action="ppaction://noaction"/>
            <a:extLst>
              <a:ext uri="{FF2B5EF4-FFF2-40B4-BE49-F238E27FC236}">
                <a16:creationId xmlns:a16="http://schemas.microsoft.com/office/drawing/2014/main" id="{5E42058E-E578-E5A4-48D8-BE41CCB17CC5}"/>
              </a:ext>
            </a:extLst>
          </p:cNvPr>
          <p:cNvSpPr/>
          <p:nvPr/>
        </p:nvSpPr>
        <p:spPr>
          <a:xfrm>
            <a:off x="609600" y="1092200"/>
            <a:ext cx="2514600" cy="4419600"/>
          </a:xfrm>
          <a:prstGeom prst="roundRect">
            <a:avLst/>
          </a:prstGeom>
          <a:solidFill>
            <a:srgbClr val="12284B"/>
          </a:solidFill>
          <a:ln w="25400">
            <a:solidFill>
              <a:srgbClr val="288CFF"/>
            </a:solidFill>
          </a:ln>
          <a:effectLst>
            <a:glow rad="127000">
              <a:srgbClr val="288C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37688C7-2319-4272-429A-60ED7960CFDA}"/>
              </a:ext>
            </a:extLst>
          </p:cNvPr>
          <p:cNvSpPr/>
          <p:nvPr/>
        </p:nvSpPr>
        <p:spPr>
          <a:xfrm>
            <a:off x="609600" y="1092200"/>
            <a:ext cx="2514600" cy="88900"/>
          </a:xfrm>
          <a:prstGeom prst="rect">
            <a:avLst/>
          </a:prstGeom>
          <a:solidFill>
            <a:srgbClr val="288C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6947D69-5F71-D5F6-0FF9-EA20E38C4F6B}"/>
              </a:ext>
            </a:extLst>
          </p:cNvPr>
          <p:cNvSpPr txBox="1"/>
          <p:nvPr/>
        </p:nvSpPr>
        <p:spPr>
          <a:xfrm>
            <a:off x="685800" y="1270000"/>
            <a:ext cx="2362200" cy="923330"/>
          </a:xfrm>
          <a:prstGeom prst="rect">
            <a:avLst/>
          </a:prstGeom>
          <a:noFill/>
        </p:spPr>
        <p:txBody>
          <a:bodyPr vert="horz" wrap="square" rtlCol="0">
            <a:noAutofit/>
          </a:bodyPr>
          <a:lstStyle/>
          <a:p>
            <a:pPr algn="ctr"/>
            <a:r>
              <a:rPr lang="en-US" sz="5400" b="1">
                <a:solidFill>
                  <a:srgbClr val="288CFF"/>
                </a:solidFill>
              </a:rPr>
              <a:t>V2V</a:t>
            </a:r>
          </a:p>
        </p:txBody>
      </p:sp>
      <p:sp>
        <p:nvSpPr>
          <p:cNvPr id="10" name="TextBox 9">
            <a:extLst>
              <a:ext uri="{FF2B5EF4-FFF2-40B4-BE49-F238E27FC236}">
                <a16:creationId xmlns:a16="http://schemas.microsoft.com/office/drawing/2014/main" id="{A6450033-B297-F8BA-FC15-19F32DD0104B}"/>
              </a:ext>
            </a:extLst>
          </p:cNvPr>
          <p:cNvSpPr txBox="1"/>
          <p:nvPr/>
        </p:nvSpPr>
        <p:spPr>
          <a:xfrm>
            <a:off x="685800" y="2463800"/>
            <a:ext cx="2362200" cy="276999"/>
          </a:xfrm>
          <a:prstGeom prst="rect">
            <a:avLst/>
          </a:prstGeom>
          <a:noFill/>
        </p:spPr>
        <p:txBody>
          <a:bodyPr vert="horz" wrap="square" rtlCol="0">
            <a:noAutofit/>
          </a:bodyPr>
          <a:lstStyle/>
          <a:p>
            <a:pPr algn="ctr"/>
            <a:r>
              <a:rPr lang="en-US" sz="1200" b="1">
                <a:solidFill>
                  <a:srgbClr val="FFFFFF"/>
                </a:solidFill>
              </a:rPr>
              <a:t>Vehicle-to-Vehicle</a:t>
            </a:r>
          </a:p>
        </p:txBody>
      </p:sp>
      <p:cxnSp>
        <p:nvCxnSpPr>
          <p:cNvPr id="11" name="Straight Connector 10">
            <a:extLst>
              <a:ext uri="{FF2B5EF4-FFF2-40B4-BE49-F238E27FC236}">
                <a16:creationId xmlns:a16="http://schemas.microsoft.com/office/drawing/2014/main" id="{7AF05373-D73C-C3B5-B0FE-B8946B81E6F0}"/>
              </a:ext>
            </a:extLst>
          </p:cNvPr>
          <p:cNvCxnSpPr/>
          <p:nvPr/>
        </p:nvCxnSpPr>
        <p:spPr>
          <a:xfrm>
            <a:off x="863600" y="3187700"/>
            <a:ext cx="20066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BD6DDE48-290B-DE3C-2D34-9DB671BB7CFF}"/>
              </a:ext>
            </a:extLst>
          </p:cNvPr>
          <p:cNvSpPr txBox="1"/>
          <p:nvPr/>
        </p:nvSpPr>
        <p:spPr>
          <a:xfrm>
            <a:off x="685800" y="3302000"/>
            <a:ext cx="2362200" cy="646331"/>
          </a:xfrm>
          <a:prstGeom prst="rect">
            <a:avLst/>
          </a:prstGeom>
          <a:noFill/>
        </p:spPr>
        <p:txBody>
          <a:bodyPr vert="horz" wrap="square" rtlCol="0">
            <a:noAutofit/>
          </a:bodyPr>
          <a:lstStyle/>
          <a:p>
            <a:pPr algn="ctr"/>
            <a:r>
              <a:rPr lang="en-US" sz="1200">
                <a:solidFill>
                  <a:srgbClr val="D2E1F0"/>
                </a:solidFill>
              </a:rPr>
              <a:t>STM32F446RE + FreeRTOS
ESP32-S3 / ESP-NOW
5 Safety Use Cases</a:t>
            </a:r>
          </a:p>
        </p:txBody>
      </p:sp>
      <p:sp>
        <p:nvSpPr>
          <p:cNvPr id="13" name="TextBox 12">
            <a:extLst>
              <a:ext uri="{FF2B5EF4-FFF2-40B4-BE49-F238E27FC236}">
                <a16:creationId xmlns:a16="http://schemas.microsoft.com/office/drawing/2014/main" id="{A26BA388-E36D-2802-26BE-4E9A7E962A91}"/>
              </a:ext>
            </a:extLst>
          </p:cNvPr>
          <p:cNvSpPr txBox="1"/>
          <p:nvPr/>
        </p:nvSpPr>
        <p:spPr>
          <a:xfrm>
            <a:off x="685800" y="5054600"/>
            <a:ext cx="2362200" cy="261610"/>
          </a:xfrm>
          <a:prstGeom prst="rect">
            <a:avLst/>
          </a:prstGeom>
          <a:noFill/>
        </p:spPr>
        <p:txBody>
          <a:bodyPr vert="horz" wrap="square" rtlCol="0">
            <a:noAutofit/>
          </a:bodyPr>
          <a:lstStyle/>
          <a:p>
            <a:pPr algn="ctr"/>
            <a:r>
              <a:rPr lang="en-US" sz="1100">
                <a:solidFill>
                  <a:srgbClr val="288CFF"/>
                </a:solidFill>
              </a:rPr>
              <a:t>Click to explore  &gt;</a:t>
            </a:r>
          </a:p>
        </p:txBody>
      </p:sp>
      <p:sp>
        <p:nvSpPr>
          <p:cNvPr id="14" name="Rectangle: Rounded Corners 13">
            <a:hlinkClick r:id="" action="ppaction://noaction"/>
            <a:extLst>
              <a:ext uri="{FF2B5EF4-FFF2-40B4-BE49-F238E27FC236}">
                <a16:creationId xmlns:a16="http://schemas.microsoft.com/office/drawing/2014/main" id="{4B8F0A17-9B1B-F60D-4119-A26834850D27}"/>
              </a:ext>
            </a:extLst>
          </p:cNvPr>
          <p:cNvSpPr/>
          <p:nvPr/>
        </p:nvSpPr>
        <p:spPr>
          <a:xfrm>
            <a:off x="3429000" y="1092200"/>
            <a:ext cx="2514600" cy="4419600"/>
          </a:xfrm>
          <a:prstGeom prst="roundRect">
            <a:avLst/>
          </a:prstGeom>
          <a:solidFill>
            <a:srgbClr val="12284B"/>
          </a:solidFill>
          <a:ln w="25400">
            <a:solidFill>
              <a:srgbClr val="00C878"/>
            </a:solidFill>
          </a:ln>
          <a:effectLst>
            <a:glow rad="127000">
              <a:srgbClr val="00C878">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01AF8CC-B3E9-8FD2-7229-D73B93DFFAA5}"/>
              </a:ext>
            </a:extLst>
          </p:cNvPr>
          <p:cNvSpPr/>
          <p:nvPr/>
        </p:nvSpPr>
        <p:spPr>
          <a:xfrm>
            <a:off x="3429000" y="1092200"/>
            <a:ext cx="2514600" cy="88900"/>
          </a:xfrm>
          <a:prstGeom prst="rect">
            <a:avLst/>
          </a:prstGeom>
          <a:solidFill>
            <a:srgbClr val="00C87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6777E18-B18E-C203-104C-D68CCE005C26}"/>
              </a:ext>
            </a:extLst>
          </p:cNvPr>
          <p:cNvSpPr txBox="1"/>
          <p:nvPr/>
        </p:nvSpPr>
        <p:spPr>
          <a:xfrm>
            <a:off x="3505200" y="1270000"/>
            <a:ext cx="2362200" cy="923330"/>
          </a:xfrm>
          <a:prstGeom prst="rect">
            <a:avLst/>
          </a:prstGeom>
          <a:noFill/>
        </p:spPr>
        <p:txBody>
          <a:bodyPr vert="horz" wrap="square" rtlCol="0">
            <a:noAutofit/>
          </a:bodyPr>
          <a:lstStyle/>
          <a:p>
            <a:pPr algn="ctr"/>
            <a:r>
              <a:rPr lang="en-US" sz="5400" b="1">
                <a:solidFill>
                  <a:srgbClr val="00C878"/>
                </a:solidFill>
              </a:rPr>
              <a:t>V2I</a:t>
            </a:r>
          </a:p>
        </p:txBody>
      </p:sp>
      <p:sp>
        <p:nvSpPr>
          <p:cNvPr id="17" name="TextBox 16">
            <a:extLst>
              <a:ext uri="{FF2B5EF4-FFF2-40B4-BE49-F238E27FC236}">
                <a16:creationId xmlns:a16="http://schemas.microsoft.com/office/drawing/2014/main" id="{06D20148-F18E-0C8F-C43C-51E4CC3CADDC}"/>
              </a:ext>
            </a:extLst>
          </p:cNvPr>
          <p:cNvSpPr txBox="1"/>
          <p:nvPr/>
        </p:nvSpPr>
        <p:spPr>
          <a:xfrm>
            <a:off x="3505200" y="2463800"/>
            <a:ext cx="2362200" cy="276999"/>
          </a:xfrm>
          <a:prstGeom prst="rect">
            <a:avLst/>
          </a:prstGeom>
          <a:noFill/>
        </p:spPr>
        <p:txBody>
          <a:bodyPr vert="horz" wrap="square" rtlCol="0">
            <a:noAutofit/>
          </a:bodyPr>
          <a:lstStyle/>
          <a:p>
            <a:pPr algn="ctr"/>
            <a:r>
              <a:rPr lang="en-US" sz="1200" b="1">
                <a:solidFill>
                  <a:srgbClr val="FFFFFF"/>
                </a:solidFill>
              </a:rPr>
              <a:t>Vehicle-to-Infrastructure</a:t>
            </a:r>
          </a:p>
        </p:txBody>
      </p:sp>
      <p:cxnSp>
        <p:nvCxnSpPr>
          <p:cNvPr id="18" name="Straight Connector 17">
            <a:extLst>
              <a:ext uri="{FF2B5EF4-FFF2-40B4-BE49-F238E27FC236}">
                <a16:creationId xmlns:a16="http://schemas.microsoft.com/office/drawing/2014/main" id="{C2CE66C5-8CC9-C2B3-FFEF-F57ED86BFAE2}"/>
              </a:ext>
            </a:extLst>
          </p:cNvPr>
          <p:cNvCxnSpPr/>
          <p:nvPr/>
        </p:nvCxnSpPr>
        <p:spPr>
          <a:xfrm>
            <a:off x="3683000" y="3187700"/>
            <a:ext cx="20066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CE018E81-2202-7826-542D-931446186B65}"/>
              </a:ext>
            </a:extLst>
          </p:cNvPr>
          <p:cNvSpPr txBox="1"/>
          <p:nvPr/>
        </p:nvSpPr>
        <p:spPr>
          <a:xfrm>
            <a:off x="3505200" y="3302000"/>
            <a:ext cx="2362200" cy="646331"/>
          </a:xfrm>
          <a:prstGeom prst="rect">
            <a:avLst/>
          </a:prstGeom>
          <a:noFill/>
        </p:spPr>
        <p:txBody>
          <a:bodyPr vert="horz" wrap="square" rtlCol="0">
            <a:noAutofit/>
          </a:bodyPr>
          <a:lstStyle/>
          <a:p>
            <a:pPr algn="ctr"/>
            <a:r>
              <a:rPr lang="en-US" sz="1200">
                <a:solidFill>
                  <a:srgbClr val="D2E1F0"/>
                </a:solidFill>
              </a:rPr>
              <a:t>Raspberry Pi 4B
Traffic Signal Interface
Roadside Unit (RSU)</a:t>
            </a:r>
          </a:p>
        </p:txBody>
      </p:sp>
      <p:sp>
        <p:nvSpPr>
          <p:cNvPr id="20" name="TextBox 19">
            <a:extLst>
              <a:ext uri="{FF2B5EF4-FFF2-40B4-BE49-F238E27FC236}">
                <a16:creationId xmlns:a16="http://schemas.microsoft.com/office/drawing/2014/main" id="{94BBF468-97DB-8E34-7729-F78166DB1DD8}"/>
              </a:ext>
            </a:extLst>
          </p:cNvPr>
          <p:cNvSpPr txBox="1"/>
          <p:nvPr/>
        </p:nvSpPr>
        <p:spPr>
          <a:xfrm>
            <a:off x="3505200" y="5054600"/>
            <a:ext cx="2362200" cy="261610"/>
          </a:xfrm>
          <a:prstGeom prst="rect">
            <a:avLst/>
          </a:prstGeom>
          <a:noFill/>
        </p:spPr>
        <p:txBody>
          <a:bodyPr vert="horz" wrap="square" rtlCol="0">
            <a:noAutofit/>
          </a:bodyPr>
          <a:lstStyle/>
          <a:p>
            <a:pPr algn="ctr"/>
            <a:r>
              <a:rPr lang="en-US" sz="1100">
                <a:solidFill>
                  <a:srgbClr val="00C878"/>
                </a:solidFill>
              </a:rPr>
              <a:t>Click to explore  &gt;</a:t>
            </a:r>
          </a:p>
        </p:txBody>
      </p:sp>
      <p:sp>
        <p:nvSpPr>
          <p:cNvPr id="21" name="Rectangle: Rounded Corners 20">
            <a:hlinkClick r:id="" action="ppaction://noaction"/>
            <a:extLst>
              <a:ext uri="{FF2B5EF4-FFF2-40B4-BE49-F238E27FC236}">
                <a16:creationId xmlns:a16="http://schemas.microsoft.com/office/drawing/2014/main" id="{1D1D4A27-89C0-EC09-035D-8F4987AE17C8}"/>
              </a:ext>
            </a:extLst>
          </p:cNvPr>
          <p:cNvSpPr/>
          <p:nvPr/>
        </p:nvSpPr>
        <p:spPr>
          <a:xfrm>
            <a:off x="6248400" y="1092200"/>
            <a:ext cx="2514600" cy="4419600"/>
          </a:xfrm>
          <a:prstGeom prst="roundRect">
            <a:avLst/>
          </a:prstGeom>
          <a:solidFill>
            <a:srgbClr val="12284B"/>
          </a:solidFill>
          <a:ln w="25400">
            <a:solidFill>
              <a:srgbClr val="FFB400"/>
            </a:solidFill>
          </a:ln>
          <a:effectLst>
            <a:glow rad="127000">
              <a:srgbClr val="FFB400">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0BFCE16-FB9A-C0CE-240C-FC8E1E9FC05E}"/>
              </a:ext>
            </a:extLst>
          </p:cNvPr>
          <p:cNvSpPr/>
          <p:nvPr/>
        </p:nvSpPr>
        <p:spPr>
          <a:xfrm>
            <a:off x="6248400" y="1092200"/>
            <a:ext cx="2514600" cy="88900"/>
          </a:xfrm>
          <a:prstGeom prst="rect">
            <a:avLst/>
          </a:prstGeom>
          <a:solidFill>
            <a:srgbClr val="FFB4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D4A95F-531E-049A-D772-F250A8A56C46}"/>
              </a:ext>
            </a:extLst>
          </p:cNvPr>
          <p:cNvSpPr txBox="1"/>
          <p:nvPr/>
        </p:nvSpPr>
        <p:spPr>
          <a:xfrm>
            <a:off x="6324600" y="1270000"/>
            <a:ext cx="2362200" cy="923330"/>
          </a:xfrm>
          <a:prstGeom prst="rect">
            <a:avLst/>
          </a:prstGeom>
          <a:noFill/>
        </p:spPr>
        <p:txBody>
          <a:bodyPr vert="horz" wrap="square" rtlCol="0">
            <a:noAutofit/>
          </a:bodyPr>
          <a:lstStyle/>
          <a:p>
            <a:pPr algn="ctr"/>
            <a:r>
              <a:rPr lang="en-US" sz="5400" b="1">
                <a:solidFill>
                  <a:srgbClr val="FFB400"/>
                </a:solidFill>
              </a:rPr>
              <a:t>V2P</a:t>
            </a:r>
          </a:p>
        </p:txBody>
      </p:sp>
      <p:sp>
        <p:nvSpPr>
          <p:cNvPr id="24" name="TextBox 23">
            <a:extLst>
              <a:ext uri="{FF2B5EF4-FFF2-40B4-BE49-F238E27FC236}">
                <a16:creationId xmlns:a16="http://schemas.microsoft.com/office/drawing/2014/main" id="{D2301CE1-8BEF-D656-0672-7AEE675504AB}"/>
              </a:ext>
            </a:extLst>
          </p:cNvPr>
          <p:cNvSpPr txBox="1"/>
          <p:nvPr/>
        </p:nvSpPr>
        <p:spPr>
          <a:xfrm>
            <a:off x="6324600" y="2463800"/>
            <a:ext cx="2362200" cy="276999"/>
          </a:xfrm>
          <a:prstGeom prst="rect">
            <a:avLst/>
          </a:prstGeom>
          <a:noFill/>
        </p:spPr>
        <p:txBody>
          <a:bodyPr vert="horz" wrap="square" rtlCol="0">
            <a:noAutofit/>
          </a:bodyPr>
          <a:lstStyle/>
          <a:p>
            <a:pPr algn="ctr"/>
            <a:r>
              <a:rPr lang="en-US" sz="1200" b="1">
                <a:solidFill>
                  <a:srgbClr val="FFFFFF"/>
                </a:solidFill>
              </a:rPr>
              <a:t>Vehicle-to-Pedestrian</a:t>
            </a:r>
          </a:p>
        </p:txBody>
      </p:sp>
      <p:cxnSp>
        <p:nvCxnSpPr>
          <p:cNvPr id="25" name="Straight Connector 24">
            <a:extLst>
              <a:ext uri="{FF2B5EF4-FFF2-40B4-BE49-F238E27FC236}">
                <a16:creationId xmlns:a16="http://schemas.microsoft.com/office/drawing/2014/main" id="{4102AD32-6346-BC04-E7E5-71B420DBA2A1}"/>
              </a:ext>
            </a:extLst>
          </p:cNvPr>
          <p:cNvCxnSpPr/>
          <p:nvPr/>
        </p:nvCxnSpPr>
        <p:spPr>
          <a:xfrm>
            <a:off x="6502400" y="3187700"/>
            <a:ext cx="20066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5FBF6B35-52D7-2B75-3C86-A213480B9EC2}"/>
              </a:ext>
            </a:extLst>
          </p:cNvPr>
          <p:cNvSpPr txBox="1"/>
          <p:nvPr/>
        </p:nvSpPr>
        <p:spPr>
          <a:xfrm>
            <a:off x="6324600" y="3302000"/>
            <a:ext cx="2362200" cy="646331"/>
          </a:xfrm>
          <a:prstGeom prst="rect">
            <a:avLst/>
          </a:prstGeom>
          <a:noFill/>
        </p:spPr>
        <p:txBody>
          <a:bodyPr vert="horz" wrap="square" rtlCol="0">
            <a:noAutofit/>
          </a:bodyPr>
          <a:lstStyle/>
          <a:p>
            <a:pPr algn="ctr"/>
            <a:r>
              <a:rPr lang="en-US" sz="1200">
                <a:solidFill>
                  <a:srgbClr val="D2E1F0"/>
                </a:solidFill>
              </a:rPr>
              <a:t>Raspberry Pi + Camera
YOLO Detection Model
Audio-Visual Alert</a:t>
            </a:r>
          </a:p>
        </p:txBody>
      </p:sp>
      <p:sp>
        <p:nvSpPr>
          <p:cNvPr id="27" name="TextBox 26">
            <a:extLst>
              <a:ext uri="{FF2B5EF4-FFF2-40B4-BE49-F238E27FC236}">
                <a16:creationId xmlns:a16="http://schemas.microsoft.com/office/drawing/2014/main" id="{70443EFB-58BC-4C75-AC8F-0850E1750841}"/>
              </a:ext>
            </a:extLst>
          </p:cNvPr>
          <p:cNvSpPr txBox="1"/>
          <p:nvPr/>
        </p:nvSpPr>
        <p:spPr>
          <a:xfrm>
            <a:off x="6324600" y="5054600"/>
            <a:ext cx="2362200" cy="261610"/>
          </a:xfrm>
          <a:prstGeom prst="rect">
            <a:avLst/>
          </a:prstGeom>
          <a:noFill/>
        </p:spPr>
        <p:txBody>
          <a:bodyPr vert="horz" wrap="square" rtlCol="0">
            <a:noAutofit/>
          </a:bodyPr>
          <a:lstStyle/>
          <a:p>
            <a:pPr algn="ctr"/>
            <a:r>
              <a:rPr lang="en-US" sz="1100">
                <a:solidFill>
                  <a:srgbClr val="FFB400"/>
                </a:solidFill>
              </a:rPr>
              <a:t>Click to explore  &gt;</a:t>
            </a:r>
          </a:p>
        </p:txBody>
      </p:sp>
      <p:sp>
        <p:nvSpPr>
          <p:cNvPr id="28" name="Rectangle: Rounded Corners 27">
            <a:hlinkClick r:id="" action="ppaction://noaction"/>
            <a:extLst>
              <a:ext uri="{FF2B5EF4-FFF2-40B4-BE49-F238E27FC236}">
                <a16:creationId xmlns:a16="http://schemas.microsoft.com/office/drawing/2014/main" id="{CF1C1A66-68C9-D973-EF27-AD1A94B5CA74}"/>
              </a:ext>
            </a:extLst>
          </p:cNvPr>
          <p:cNvSpPr/>
          <p:nvPr/>
        </p:nvSpPr>
        <p:spPr>
          <a:xfrm>
            <a:off x="9067800" y="1092200"/>
            <a:ext cx="2514600" cy="4419600"/>
          </a:xfrm>
          <a:prstGeom prst="roundRect">
            <a:avLst/>
          </a:prstGeom>
          <a:solidFill>
            <a:srgbClr val="12284B"/>
          </a:solidFill>
          <a:ln w="25400">
            <a:solidFill>
              <a:srgbClr val="FF4664"/>
            </a:solidFill>
          </a:ln>
          <a:effectLst>
            <a:glow rad="127000">
              <a:srgbClr val="FF4664">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566B8DF-0F54-8F8F-4F9B-06E320EEF144}"/>
              </a:ext>
            </a:extLst>
          </p:cNvPr>
          <p:cNvSpPr/>
          <p:nvPr/>
        </p:nvSpPr>
        <p:spPr>
          <a:xfrm>
            <a:off x="9067800" y="1092200"/>
            <a:ext cx="2514600" cy="88900"/>
          </a:xfrm>
          <a:prstGeom prst="rect">
            <a:avLst/>
          </a:prstGeom>
          <a:solidFill>
            <a:srgbClr val="FF466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08E65DCB-F85F-A282-1C9A-D7677EADF457}"/>
              </a:ext>
            </a:extLst>
          </p:cNvPr>
          <p:cNvSpPr txBox="1"/>
          <p:nvPr/>
        </p:nvSpPr>
        <p:spPr>
          <a:xfrm>
            <a:off x="9144000" y="1270000"/>
            <a:ext cx="2362200" cy="923330"/>
          </a:xfrm>
          <a:prstGeom prst="rect">
            <a:avLst/>
          </a:prstGeom>
          <a:noFill/>
        </p:spPr>
        <p:txBody>
          <a:bodyPr vert="horz" wrap="square" rtlCol="0">
            <a:noAutofit/>
          </a:bodyPr>
          <a:lstStyle/>
          <a:p>
            <a:pPr algn="ctr"/>
            <a:r>
              <a:rPr lang="en-US" sz="5400" b="1">
                <a:solidFill>
                  <a:srgbClr val="FF4664"/>
                </a:solidFill>
              </a:rPr>
              <a:t>V2N</a:t>
            </a:r>
          </a:p>
        </p:txBody>
      </p:sp>
      <p:sp>
        <p:nvSpPr>
          <p:cNvPr id="31" name="TextBox 30">
            <a:extLst>
              <a:ext uri="{FF2B5EF4-FFF2-40B4-BE49-F238E27FC236}">
                <a16:creationId xmlns:a16="http://schemas.microsoft.com/office/drawing/2014/main" id="{00BE69F2-870F-365A-5A6F-729D38BB01B7}"/>
              </a:ext>
            </a:extLst>
          </p:cNvPr>
          <p:cNvSpPr txBox="1"/>
          <p:nvPr/>
        </p:nvSpPr>
        <p:spPr>
          <a:xfrm>
            <a:off x="9144000" y="2463800"/>
            <a:ext cx="2362200" cy="276999"/>
          </a:xfrm>
          <a:prstGeom prst="rect">
            <a:avLst/>
          </a:prstGeom>
          <a:noFill/>
        </p:spPr>
        <p:txBody>
          <a:bodyPr vert="horz" wrap="square" rtlCol="0">
            <a:noAutofit/>
          </a:bodyPr>
          <a:lstStyle/>
          <a:p>
            <a:pPr algn="ctr"/>
            <a:r>
              <a:rPr lang="en-US" sz="1200" b="1">
                <a:solidFill>
                  <a:srgbClr val="FFFFFF"/>
                </a:solidFill>
              </a:rPr>
              <a:t>Vehicle-to-Network</a:t>
            </a:r>
          </a:p>
        </p:txBody>
      </p:sp>
      <p:cxnSp>
        <p:nvCxnSpPr>
          <p:cNvPr id="32" name="Straight Connector 31">
            <a:extLst>
              <a:ext uri="{FF2B5EF4-FFF2-40B4-BE49-F238E27FC236}">
                <a16:creationId xmlns:a16="http://schemas.microsoft.com/office/drawing/2014/main" id="{E0798834-85C5-128F-3CAC-4AFDEB978CC8}"/>
              </a:ext>
            </a:extLst>
          </p:cNvPr>
          <p:cNvCxnSpPr/>
          <p:nvPr/>
        </p:nvCxnSpPr>
        <p:spPr>
          <a:xfrm>
            <a:off x="9321800" y="3187700"/>
            <a:ext cx="20066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149B60D6-BAB2-B3F4-158F-02AA23685527}"/>
              </a:ext>
            </a:extLst>
          </p:cNvPr>
          <p:cNvSpPr txBox="1"/>
          <p:nvPr/>
        </p:nvSpPr>
        <p:spPr>
          <a:xfrm>
            <a:off x="9144000" y="3302000"/>
            <a:ext cx="2362200" cy="646331"/>
          </a:xfrm>
          <a:prstGeom prst="rect">
            <a:avLst/>
          </a:prstGeom>
          <a:noFill/>
        </p:spPr>
        <p:txBody>
          <a:bodyPr vert="horz" wrap="square" rtlCol="0">
            <a:noAutofit/>
          </a:bodyPr>
          <a:lstStyle/>
          <a:p>
            <a:pPr algn="ctr"/>
            <a:r>
              <a:rPr lang="en-US" sz="1200">
                <a:solidFill>
                  <a:srgbClr val="D2E1F0"/>
                </a:solidFill>
              </a:rPr>
              <a:t>MQTT Cloud Broker
Live Web Dashboard
Remote Hazard Alerts</a:t>
            </a:r>
          </a:p>
        </p:txBody>
      </p:sp>
      <p:sp>
        <p:nvSpPr>
          <p:cNvPr id="34" name="TextBox 33">
            <a:extLst>
              <a:ext uri="{FF2B5EF4-FFF2-40B4-BE49-F238E27FC236}">
                <a16:creationId xmlns:a16="http://schemas.microsoft.com/office/drawing/2014/main" id="{27191922-A32C-35BC-E3D1-035EADA2565E}"/>
              </a:ext>
            </a:extLst>
          </p:cNvPr>
          <p:cNvSpPr txBox="1"/>
          <p:nvPr/>
        </p:nvSpPr>
        <p:spPr>
          <a:xfrm>
            <a:off x="9144000" y="5054600"/>
            <a:ext cx="2362200" cy="261610"/>
          </a:xfrm>
          <a:prstGeom prst="rect">
            <a:avLst/>
          </a:prstGeom>
          <a:noFill/>
        </p:spPr>
        <p:txBody>
          <a:bodyPr vert="horz" wrap="square" rtlCol="0">
            <a:noAutofit/>
          </a:bodyPr>
          <a:lstStyle/>
          <a:p>
            <a:pPr algn="ctr"/>
            <a:r>
              <a:rPr lang="en-US" sz="1100">
                <a:solidFill>
                  <a:srgbClr val="FF4664"/>
                </a:solidFill>
              </a:rPr>
              <a:t>Click to explore  &gt;</a:t>
            </a:r>
          </a:p>
        </p:txBody>
      </p:sp>
    </p:spTree>
    <p:extLst>
      <p:ext uri="{BB962C8B-B14F-4D97-AF65-F5344CB8AC3E}">
        <p14:creationId xmlns:p14="http://schemas.microsoft.com/office/powerpoint/2010/main" val="3199884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035C439-3B35-92AE-0A05-FE412C7880E2}"/>
              </a:ext>
            </a:extLst>
          </p:cNvPr>
          <p:cNvCxnSpPr/>
          <p:nvPr/>
        </p:nvCxnSpPr>
        <p:spPr>
          <a:xfrm>
            <a:off x="0" y="63500"/>
            <a:ext cx="12192000" cy="0"/>
          </a:xfrm>
          <a:prstGeom prst="line">
            <a:avLst/>
          </a:prstGeom>
          <a:ln w="50800">
            <a:solidFill>
              <a:srgbClr val="288CFF"/>
            </a:solidFill>
          </a:ln>
        </p:spPr>
        <p:style>
          <a:lnRef idx="2">
            <a:schemeClr val="accent1"/>
          </a:lnRef>
          <a:fillRef idx="0">
            <a:schemeClr val="accent1"/>
          </a:fillRef>
          <a:effectRef idx="1">
            <a:schemeClr val="accent1"/>
          </a:effectRef>
          <a:fontRef idx="minor">
            <a:schemeClr val="tx1"/>
          </a:fontRef>
        </p:style>
      </p:cxnSp>
      <p:sp>
        <p:nvSpPr>
          <p:cNvPr id="3" name="Rectangle: Rounded Corners 2">
            <a:extLst>
              <a:ext uri="{FF2B5EF4-FFF2-40B4-BE49-F238E27FC236}">
                <a16:creationId xmlns:a16="http://schemas.microsoft.com/office/drawing/2014/main" id="{F07EEDB5-94BC-BA52-08EB-ED436A29FE99}"/>
              </a:ext>
            </a:extLst>
          </p:cNvPr>
          <p:cNvSpPr/>
          <p:nvPr/>
        </p:nvSpPr>
        <p:spPr>
          <a:xfrm>
            <a:off x="381000" y="228600"/>
            <a:ext cx="1143000" cy="508000"/>
          </a:xfrm>
          <a:prstGeom prst="roundRect">
            <a:avLst/>
          </a:prstGeom>
          <a:solidFill>
            <a:srgbClr val="12284B"/>
          </a:solidFill>
          <a:ln w="25400">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CBAB05A-ABC3-82CC-DE56-644683C7B114}"/>
              </a:ext>
            </a:extLst>
          </p:cNvPr>
          <p:cNvSpPr txBox="1"/>
          <p:nvPr/>
        </p:nvSpPr>
        <p:spPr>
          <a:xfrm>
            <a:off x="406400" y="228600"/>
            <a:ext cx="1117600" cy="430887"/>
          </a:xfrm>
          <a:prstGeom prst="rect">
            <a:avLst/>
          </a:prstGeom>
          <a:noFill/>
        </p:spPr>
        <p:txBody>
          <a:bodyPr vert="horz" wrap="square" rtlCol="0">
            <a:noAutofit/>
          </a:bodyPr>
          <a:lstStyle/>
          <a:p>
            <a:pPr algn="ctr"/>
            <a:r>
              <a:rPr lang="en-US" sz="2200" b="1">
                <a:solidFill>
                  <a:srgbClr val="288CFF"/>
                </a:solidFill>
              </a:rPr>
              <a:t>V2V</a:t>
            </a:r>
          </a:p>
        </p:txBody>
      </p:sp>
      <p:sp>
        <p:nvSpPr>
          <p:cNvPr id="5" name="TextBox 4">
            <a:extLst>
              <a:ext uri="{FF2B5EF4-FFF2-40B4-BE49-F238E27FC236}">
                <a16:creationId xmlns:a16="http://schemas.microsoft.com/office/drawing/2014/main" id="{C982D29E-9716-8EE3-6FD8-4B758E0F99E9}"/>
              </a:ext>
            </a:extLst>
          </p:cNvPr>
          <p:cNvSpPr txBox="1"/>
          <p:nvPr/>
        </p:nvSpPr>
        <p:spPr>
          <a:xfrm>
            <a:off x="1676400" y="279400"/>
            <a:ext cx="8890000" cy="461665"/>
          </a:xfrm>
          <a:prstGeom prst="rect">
            <a:avLst/>
          </a:prstGeom>
          <a:noFill/>
        </p:spPr>
        <p:txBody>
          <a:bodyPr vert="horz" wrap="square" rtlCol="0">
            <a:noAutofit/>
          </a:bodyPr>
          <a:lstStyle/>
          <a:p>
            <a:r>
              <a:rPr lang="en-US" sz="2400" b="1">
                <a:solidFill>
                  <a:srgbClr val="FFFFFF"/>
                </a:solidFill>
              </a:rPr>
              <a:t>Vehicle-to-Vehicle Communication</a:t>
            </a:r>
          </a:p>
        </p:txBody>
      </p:sp>
      <p:sp>
        <p:nvSpPr>
          <p:cNvPr id="6" name="Rectangle: Rounded Corners 5">
            <a:hlinkClick r:id="" action="ppaction://noaction"/>
            <a:extLst>
              <a:ext uri="{FF2B5EF4-FFF2-40B4-BE49-F238E27FC236}">
                <a16:creationId xmlns:a16="http://schemas.microsoft.com/office/drawing/2014/main" id="{64D811A3-D152-AC30-A9BD-D4FFB7C3A1BD}"/>
              </a:ext>
            </a:extLst>
          </p:cNvPr>
          <p:cNvSpPr/>
          <p:nvPr/>
        </p:nvSpPr>
        <p:spPr>
          <a:xfrm>
            <a:off x="10668000" y="228600"/>
            <a:ext cx="1143000" cy="457200"/>
          </a:xfrm>
          <a:prstGeom prst="roundRect">
            <a:avLst/>
          </a:prstGeom>
          <a:solidFill>
            <a:srgbClr val="12284B"/>
          </a:solidFill>
          <a:ln w="12700">
            <a:solidFill>
              <a:srgbClr val="5A6E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DFAA4B24-8384-D256-D1E0-E9E719187CF5}"/>
              </a:ext>
            </a:extLst>
          </p:cNvPr>
          <p:cNvSpPr txBox="1"/>
          <p:nvPr/>
        </p:nvSpPr>
        <p:spPr>
          <a:xfrm>
            <a:off x="10693400" y="254000"/>
            <a:ext cx="1117600" cy="261610"/>
          </a:xfrm>
          <a:prstGeom prst="rect">
            <a:avLst/>
          </a:prstGeom>
          <a:noFill/>
        </p:spPr>
        <p:txBody>
          <a:bodyPr vert="horz" wrap="square" rtlCol="0">
            <a:noAutofit/>
          </a:bodyPr>
          <a:lstStyle/>
          <a:p>
            <a:pPr algn="ctr"/>
            <a:r>
              <a:rPr lang="en-US" sz="1100">
                <a:solidFill>
                  <a:srgbClr val="5A6E8C"/>
                </a:solidFill>
              </a:rPr>
              <a:t>&lt; Menu</a:t>
            </a:r>
          </a:p>
        </p:txBody>
      </p:sp>
      <p:cxnSp>
        <p:nvCxnSpPr>
          <p:cNvPr id="8" name="Straight Connector 7">
            <a:extLst>
              <a:ext uri="{FF2B5EF4-FFF2-40B4-BE49-F238E27FC236}">
                <a16:creationId xmlns:a16="http://schemas.microsoft.com/office/drawing/2014/main" id="{4D1B4CD7-840D-B1A4-CF42-E56EF66E9338}"/>
              </a:ext>
            </a:extLst>
          </p:cNvPr>
          <p:cNvCxnSpPr/>
          <p:nvPr/>
        </p:nvCxnSpPr>
        <p:spPr>
          <a:xfrm>
            <a:off x="381000" y="825500"/>
            <a:ext cx="11430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F8912FB3-B0EB-4663-1557-3FAF2A1CC1CF}"/>
              </a:ext>
            </a:extLst>
          </p:cNvPr>
          <p:cNvSpPr/>
          <p:nvPr/>
        </p:nvSpPr>
        <p:spPr>
          <a:xfrm>
            <a:off x="355600" y="965200"/>
            <a:ext cx="5562600" cy="5588000"/>
          </a:xfrm>
          <a:prstGeom prst="roundRect">
            <a:avLst/>
          </a:prstGeom>
          <a:solidFill>
            <a:srgbClr val="12284B"/>
          </a:solidFill>
          <a:ln>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0D993DB-CAF6-2729-82AB-51611ACF867E}"/>
              </a:ext>
            </a:extLst>
          </p:cNvPr>
          <p:cNvSpPr txBox="1"/>
          <p:nvPr/>
        </p:nvSpPr>
        <p:spPr>
          <a:xfrm>
            <a:off x="571500" y="1117600"/>
            <a:ext cx="5080000" cy="323165"/>
          </a:xfrm>
          <a:prstGeom prst="rect">
            <a:avLst/>
          </a:prstGeom>
          <a:noFill/>
        </p:spPr>
        <p:txBody>
          <a:bodyPr vert="horz" wrap="square" rtlCol="0">
            <a:noAutofit/>
          </a:bodyPr>
          <a:lstStyle/>
          <a:p>
            <a:r>
              <a:rPr lang="en-US" sz="1500" b="1">
                <a:solidFill>
                  <a:srgbClr val="288CFF"/>
                </a:solidFill>
              </a:rPr>
              <a:t>Hardware Architecture</a:t>
            </a:r>
          </a:p>
        </p:txBody>
      </p:sp>
      <p:cxnSp>
        <p:nvCxnSpPr>
          <p:cNvPr id="11" name="Straight Connector 10">
            <a:extLst>
              <a:ext uri="{FF2B5EF4-FFF2-40B4-BE49-F238E27FC236}">
                <a16:creationId xmlns:a16="http://schemas.microsoft.com/office/drawing/2014/main" id="{C52E83A5-AAFD-B9A8-DF7F-B3F68526C76E}"/>
              </a:ext>
            </a:extLst>
          </p:cNvPr>
          <p:cNvCxnSpPr/>
          <p:nvPr/>
        </p:nvCxnSpPr>
        <p:spPr>
          <a:xfrm>
            <a:off x="571500" y="1485900"/>
            <a:ext cx="5207000" cy="0"/>
          </a:xfrm>
          <a:prstGeom prst="line">
            <a:avLst/>
          </a:prstGeom>
          <a:ln w="12700">
            <a:solidFill>
              <a:srgbClr val="008CB4"/>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2A18AB3F-5AA8-8277-F61B-40750518C2BB}"/>
              </a:ext>
            </a:extLst>
          </p:cNvPr>
          <p:cNvSpPr txBox="1"/>
          <p:nvPr/>
        </p:nvSpPr>
        <p:spPr>
          <a:xfrm>
            <a:off x="571500" y="1574800"/>
            <a:ext cx="5232400" cy="2292935"/>
          </a:xfrm>
          <a:prstGeom prst="rect">
            <a:avLst/>
          </a:prstGeom>
          <a:noFill/>
        </p:spPr>
        <p:txBody>
          <a:bodyPr vert="horz" wrap="square" rtlCol="0">
            <a:noAutofit/>
          </a:bodyPr>
          <a:lstStyle/>
          <a:p>
            <a:r>
              <a:rPr lang="en-US" sz="1300">
                <a:solidFill>
                  <a:srgbClr val="D2E1F0"/>
                </a:solidFill>
              </a:rPr>
              <a:t>MCU:  STM32F446RE Nucleo-64
RTOS: FreeRTOS - 6 concurrent priority tasks
RF:   ESP32-S3 DevKit (UART bridge to STM32)
Protocol:    ESP-NOW (IEEE 802.11 MAC layer)
Latency:     1-2 ms end-to-end
Range:       200-480 m in open air
Sensors:     5x HC-SR04 ultrasonic (F/R/L/Ri/RL)
IMU:         MPU9250 (accel + gyro + mag, SPI)
Display:     0.96 inch OLED SSD1306 (I2C)
Alert:       Buzzer driver (PWM)
Firmware:    AUTOSAR-inspired (MCAL &gt; HAL &gt; App)</a:t>
            </a:r>
          </a:p>
        </p:txBody>
      </p:sp>
      <p:sp>
        <p:nvSpPr>
          <p:cNvPr id="13" name="Rectangle: Rounded Corners 12">
            <a:extLst>
              <a:ext uri="{FF2B5EF4-FFF2-40B4-BE49-F238E27FC236}">
                <a16:creationId xmlns:a16="http://schemas.microsoft.com/office/drawing/2014/main" id="{13F3FECB-9CE2-D677-D915-3A25360743D5}"/>
              </a:ext>
            </a:extLst>
          </p:cNvPr>
          <p:cNvSpPr/>
          <p:nvPr/>
        </p:nvSpPr>
        <p:spPr>
          <a:xfrm>
            <a:off x="6096000" y="965200"/>
            <a:ext cx="5842000" cy="5588000"/>
          </a:xfrm>
          <a:prstGeom prst="roundRect">
            <a:avLst/>
          </a:prstGeom>
          <a:solidFill>
            <a:srgbClr val="12284B"/>
          </a:solidFill>
          <a:ln>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3DA8FAC0-B184-4BEC-58F6-3BF7AE54083D}"/>
              </a:ext>
            </a:extLst>
          </p:cNvPr>
          <p:cNvSpPr txBox="1"/>
          <p:nvPr/>
        </p:nvSpPr>
        <p:spPr>
          <a:xfrm>
            <a:off x="6324600" y="1117600"/>
            <a:ext cx="5384800" cy="323165"/>
          </a:xfrm>
          <a:prstGeom prst="rect">
            <a:avLst/>
          </a:prstGeom>
          <a:noFill/>
        </p:spPr>
        <p:txBody>
          <a:bodyPr vert="horz" wrap="square" rtlCol="0">
            <a:noAutofit/>
          </a:bodyPr>
          <a:lstStyle/>
          <a:p>
            <a:r>
              <a:rPr lang="en-US" sz="1500" b="1">
                <a:solidFill>
                  <a:srgbClr val="288CFF"/>
                </a:solidFill>
              </a:rPr>
              <a:t>V2V Safety Use Cases</a:t>
            </a:r>
          </a:p>
        </p:txBody>
      </p:sp>
      <p:cxnSp>
        <p:nvCxnSpPr>
          <p:cNvPr id="15" name="Straight Connector 14">
            <a:extLst>
              <a:ext uri="{FF2B5EF4-FFF2-40B4-BE49-F238E27FC236}">
                <a16:creationId xmlns:a16="http://schemas.microsoft.com/office/drawing/2014/main" id="{F04D9F41-A542-813C-F3AA-AAA833114ED3}"/>
              </a:ext>
            </a:extLst>
          </p:cNvPr>
          <p:cNvCxnSpPr/>
          <p:nvPr/>
        </p:nvCxnSpPr>
        <p:spPr>
          <a:xfrm>
            <a:off x="6324600" y="1485900"/>
            <a:ext cx="5461000" cy="0"/>
          </a:xfrm>
          <a:prstGeom prst="line">
            <a:avLst/>
          </a:prstGeom>
          <a:ln w="12700">
            <a:solidFill>
              <a:srgbClr val="008CB4"/>
            </a:solidFill>
          </a:ln>
        </p:spPr>
        <p:style>
          <a:lnRef idx="2">
            <a:schemeClr val="accent1"/>
          </a:lnRef>
          <a:fillRef idx="0">
            <a:schemeClr val="accent1"/>
          </a:fillRef>
          <a:effectRef idx="1">
            <a:schemeClr val="accent1"/>
          </a:effectRef>
          <a:fontRef idx="minor">
            <a:schemeClr val="tx1"/>
          </a:fontRef>
        </p:style>
      </p:cxnSp>
      <p:sp>
        <p:nvSpPr>
          <p:cNvPr id="16" name="Rectangle: Rounded Corners 15">
            <a:extLst>
              <a:ext uri="{FF2B5EF4-FFF2-40B4-BE49-F238E27FC236}">
                <a16:creationId xmlns:a16="http://schemas.microsoft.com/office/drawing/2014/main" id="{24BB1641-555A-FB64-3FC4-D6D0F39A17FC}"/>
              </a:ext>
            </a:extLst>
          </p:cNvPr>
          <p:cNvSpPr/>
          <p:nvPr/>
        </p:nvSpPr>
        <p:spPr>
          <a:xfrm>
            <a:off x="6324600" y="1574800"/>
            <a:ext cx="5588000" cy="914400"/>
          </a:xfrm>
          <a:prstGeom prst="roundRect">
            <a:avLst/>
          </a:prstGeom>
          <a:solidFill>
            <a:srgbClr val="0C1E41"/>
          </a:solidFill>
          <a:ln w="12700">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7A30C81-8E2A-EA71-930F-036E80F2E035}"/>
              </a:ext>
            </a:extLst>
          </p:cNvPr>
          <p:cNvSpPr txBox="1"/>
          <p:nvPr/>
        </p:nvSpPr>
        <p:spPr>
          <a:xfrm>
            <a:off x="6375400" y="1625600"/>
            <a:ext cx="863600" cy="307777"/>
          </a:xfrm>
          <a:prstGeom prst="rect">
            <a:avLst/>
          </a:prstGeom>
          <a:noFill/>
        </p:spPr>
        <p:txBody>
          <a:bodyPr vert="horz" wrap="square" rtlCol="0">
            <a:noAutofit/>
          </a:bodyPr>
          <a:lstStyle/>
          <a:p>
            <a:pPr algn="ctr"/>
            <a:r>
              <a:rPr lang="en-US" sz="1400" b="1">
                <a:solidFill>
                  <a:srgbClr val="288CFF"/>
                </a:solidFill>
              </a:rPr>
              <a:t>FCW</a:t>
            </a:r>
          </a:p>
        </p:txBody>
      </p:sp>
      <p:sp>
        <p:nvSpPr>
          <p:cNvPr id="18" name="TextBox 17">
            <a:extLst>
              <a:ext uri="{FF2B5EF4-FFF2-40B4-BE49-F238E27FC236}">
                <a16:creationId xmlns:a16="http://schemas.microsoft.com/office/drawing/2014/main" id="{E3474ACE-7C97-865C-0FBA-3D6CA5F8304C}"/>
              </a:ext>
            </a:extLst>
          </p:cNvPr>
          <p:cNvSpPr txBox="1"/>
          <p:nvPr/>
        </p:nvSpPr>
        <p:spPr>
          <a:xfrm>
            <a:off x="7315200" y="1625600"/>
            <a:ext cx="4470400" cy="292388"/>
          </a:xfrm>
          <a:prstGeom prst="rect">
            <a:avLst/>
          </a:prstGeom>
          <a:noFill/>
        </p:spPr>
        <p:txBody>
          <a:bodyPr vert="horz" wrap="square" rtlCol="0">
            <a:noAutofit/>
          </a:bodyPr>
          <a:lstStyle/>
          <a:p>
            <a:r>
              <a:rPr lang="en-US" sz="1300" b="1">
                <a:solidFill>
                  <a:srgbClr val="FFFFFF"/>
                </a:solidFill>
              </a:rPr>
              <a:t>Forward Collision Warning</a:t>
            </a:r>
          </a:p>
        </p:txBody>
      </p:sp>
      <p:sp>
        <p:nvSpPr>
          <p:cNvPr id="19" name="TextBox 18">
            <a:extLst>
              <a:ext uri="{FF2B5EF4-FFF2-40B4-BE49-F238E27FC236}">
                <a16:creationId xmlns:a16="http://schemas.microsoft.com/office/drawing/2014/main" id="{E6BA0DD8-0530-1EBF-B80D-79988339F919}"/>
              </a:ext>
            </a:extLst>
          </p:cNvPr>
          <p:cNvSpPr txBox="1"/>
          <p:nvPr/>
        </p:nvSpPr>
        <p:spPr>
          <a:xfrm>
            <a:off x="7315200" y="1930400"/>
            <a:ext cx="4470400" cy="261610"/>
          </a:xfrm>
          <a:prstGeom prst="rect">
            <a:avLst/>
          </a:prstGeom>
          <a:noFill/>
        </p:spPr>
        <p:txBody>
          <a:bodyPr vert="horz" wrap="square" rtlCol="0">
            <a:noAutofit/>
          </a:bodyPr>
          <a:lstStyle/>
          <a:p>
            <a:r>
              <a:rPr lang="en-US" sz="1100">
                <a:solidFill>
                  <a:srgbClr val="5A6E8C"/>
                </a:solidFill>
              </a:rPr>
              <a:t>Monitors front-sensor TTC. Alerts when gap &lt; safe threshold.</a:t>
            </a:r>
          </a:p>
        </p:txBody>
      </p:sp>
      <p:sp>
        <p:nvSpPr>
          <p:cNvPr id="20" name="Rectangle: Rounded Corners 19">
            <a:extLst>
              <a:ext uri="{FF2B5EF4-FFF2-40B4-BE49-F238E27FC236}">
                <a16:creationId xmlns:a16="http://schemas.microsoft.com/office/drawing/2014/main" id="{5F3E780B-3B14-5257-BB8E-5110342D5EB8}"/>
              </a:ext>
            </a:extLst>
          </p:cNvPr>
          <p:cNvSpPr/>
          <p:nvPr/>
        </p:nvSpPr>
        <p:spPr>
          <a:xfrm>
            <a:off x="6324600" y="2590800"/>
            <a:ext cx="5588000" cy="914400"/>
          </a:xfrm>
          <a:prstGeom prst="roundRect">
            <a:avLst/>
          </a:prstGeom>
          <a:solidFill>
            <a:srgbClr val="0C1E41"/>
          </a:solidFill>
          <a:ln w="12700">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AB7456C-13F2-86D0-F0AD-8189B982C86E}"/>
              </a:ext>
            </a:extLst>
          </p:cNvPr>
          <p:cNvSpPr txBox="1"/>
          <p:nvPr/>
        </p:nvSpPr>
        <p:spPr>
          <a:xfrm>
            <a:off x="6375400" y="2641600"/>
            <a:ext cx="863600" cy="307777"/>
          </a:xfrm>
          <a:prstGeom prst="rect">
            <a:avLst/>
          </a:prstGeom>
          <a:noFill/>
        </p:spPr>
        <p:txBody>
          <a:bodyPr vert="horz" wrap="square" rtlCol="0">
            <a:noAutofit/>
          </a:bodyPr>
          <a:lstStyle/>
          <a:p>
            <a:pPr algn="ctr"/>
            <a:r>
              <a:rPr lang="en-US" sz="1400" b="1">
                <a:solidFill>
                  <a:srgbClr val="288CFF"/>
                </a:solidFill>
              </a:rPr>
              <a:t>EEBL</a:t>
            </a:r>
          </a:p>
        </p:txBody>
      </p:sp>
      <p:sp>
        <p:nvSpPr>
          <p:cNvPr id="22" name="TextBox 21">
            <a:extLst>
              <a:ext uri="{FF2B5EF4-FFF2-40B4-BE49-F238E27FC236}">
                <a16:creationId xmlns:a16="http://schemas.microsoft.com/office/drawing/2014/main" id="{3957E89C-BD5D-650D-5F7C-801AB200E7EC}"/>
              </a:ext>
            </a:extLst>
          </p:cNvPr>
          <p:cNvSpPr txBox="1"/>
          <p:nvPr/>
        </p:nvSpPr>
        <p:spPr>
          <a:xfrm>
            <a:off x="7315200" y="2641600"/>
            <a:ext cx="4470400" cy="292388"/>
          </a:xfrm>
          <a:prstGeom prst="rect">
            <a:avLst/>
          </a:prstGeom>
          <a:noFill/>
        </p:spPr>
        <p:txBody>
          <a:bodyPr vert="horz" wrap="square" rtlCol="0">
            <a:noAutofit/>
          </a:bodyPr>
          <a:lstStyle/>
          <a:p>
            <a:r>
              <a:rPr lang="en-US" sz="1300" b="1">
                <a:solidFill>
                  <a:srgbClr val="FFFFFF"/>
                </a:solidFill>
              </a:rPr>
              <a:t>Emergency Electronic Brake Light</a:t>
            </a:r>
          </a:p>
        </p:txBody>
      </p:sp>
      <p:sp>
        <p:nvSpPr>
          <p:cNvPr id="23" name="TextBox 22">
            <a:extLst>
              <a:ext uri="{FF2B5EF4-FFF2-40B4-BE49-F238E27FC236}">
                <a16:creationId xmlns:a16="http://schemas.microsoft.com/office/drawing/2014/main" id="{43A0EA12-3CAE-F759-27F1-C926500B0C5C}"/>
              </a:ext>
            </a:extLst>
          </p:cNvPr>
          <p:cNvSpPr txBox="1"/>
          <p:nvPr/>
        </p:nvSpPr>
        <p:spPr>
          <a:xfrm>
            <a:off x="7315200" y="2946400"/>
            <a:ext cx="4470400" cy="261610"/>
          </a:xfrm>
          <a:prstGeom prst="rect">
            <a:avLst/>
          </a:prstGeom>
          <a:noFill/>
        </p:spPr>
        <p:txBody>
          <a:bodyPr vert="horz" wrap="square" rtlCol="0">
            <a:noAutofit/>
          </a:bodyPr>
          <a:lstStyle/>
          <a:p>
            <a:r>
              <a:rPr lang="en-US" sz="1100">
                <a:solidFill>
                  <a:srgbClr val="5A6E8C"/>
                </a:solidFill>
              </a:rPr>
              <a:t>Broadcasts hard-braking event via ESP-NOW instantly.</a:t>
            </a:r>
          </a:p>
        </p:txBody>
      </p:sp>
      <p:sp>
        <p:nvSpPr>
          <p:cNvPr id="24" name="Rectangle: Rounded Corners 23">
            <a:extLst>
              <a:ext uri="{FF2B5EF4-FFF2-40B4-BE49-F238E27FC236}">
                <a16:creationId xmlns:a16="http://schemas.microsoft.com/office/drawing/2014/main" id="{75803709-77B0-DF3F-85D9-276A65C55476}"/>
              </a:ext>
            </a:extLst>
          </p:cNvPr>
          <p:cNvSpPr/>
          <p:nvPr/>
        </p:nvSpPr>
        <p:spPr>
          <a:xfrm>
            <a:off x="6324600" y="3606800"/>
            <a:ext cx="5588000" cy="914400"/>
          </a:xfrm>
          <a:prstGeom prst="roundRect">
            <a:avLst/>
          </a:prstGeom>
          <a:solidFill>
            <a:srgbClr val="0C1E41"/>
          </a:solidFill>
          <a:ln w="12700">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FD6B7D2-E252-4612-2161-E2C0EBBACC81}"/>
              </a:ext>
            </a:extLst>
          </p:cNvPr>
          <p:cNvSpPr txBox="1"/>
          <p:nvPr/>
        </p:nvSpPr>
        <p:spPr>
          <a:xfrm>
            <a:off x="6375400" y="3657600"/>
            <a:ext cx="863600" cy="307777"/>
          </a:xfrm>
          <a:prstGeom prst="rect">
            <a:avLst/>
          </a:prstGeom>
          <a:noFill/>
        </p:spPr>
        <p:txBody>
          <a:bodyPr vert="horz" wrap="square" rtlCol="0">
            <a:noAutofit/>
          </a:bodyPr>
          <a:lstStyle/>
          <a:p>
            <a:pPr algn="ctr"/>
            <a:r>
              <a:rPr lang="en-US" sz="1400" b="1">
                <a:solidFill>
                  <a:srgbClr val="288CFF"/>
                </a:solidFill>
              </a:rPr>
              <a:t>BSW</a:t>
            </a:r>
          </a:p>
        </p:txBody>
      </p:sp>
      <p:sp>
        <p:nvSpPr>
          <p:cNvPr id="26" name="TextBox 25">
            <a:extLst>
              <a:ext uri="{FF2B5EF4-FFF2-40B4-BE49-F238E27FC236}">
                <a16:creationId xmlns:a16="http://schemas.microsoft.com/office/drawing/2014/main" id="{6F46A024-4851-67A6-32AE-2AB2846BFAF2}"/>
              </a:ext>
            </a:extLst>
          </p:cNvPr>
          <p:cNvSpPr txBox="1"/>
          <p:nvPr/>
        </p:nvSpPr>
        <p:spPr>
          <a:xfrm>
            <a:off x="7315200" y="3657600"/>
            <a:ext cx="4470400" cy="292388"/>
          </a:xfrm>
          <a:prstGeom prst="rect">
            <a:avLst/>
          </a:prstGeom>
          <a:noFill/>
        </p:spPr>
        <p:txBody>
          <a:bodyPr vert="horz" wrap="square" rtlCol="0">
            <a:noAutofit/>
          </a:bodyPr>
          <a:lstStyle/>
          <a:p>
            <a:r>
              <a:rPr lang="en-US" sz="1300" b="1">
                <a:solidFill>
                  <a:srgbClr val="FFFFFF"/>
                </a:solidFill>
              </a:rPr>
              <a:t>Blind Spot Warning</a:t>
            </a:r>
          </a:p>
        </p:txBody>
      </p:sp>
      <p:sp>
        <p:nvSpPr>
          <p:cNvPr id="27" name="TextBox 26">
            <a:extLst>
              <a:ext uri="{FF2B5EF4-FFF2-40B4-BE49-F238E27FC236}">
                <a16:creationId xmlns:a16="http://schemas.microsoft.com/office/drawing/2014/main" id="{AFF09AAC-EB21-DF6A-D682-5F0FB4744D72}"/>
              </a:ext>
            </a:extLst>
          </p:cNvPr>
          <p:cNvSpPr txBox="1"/>
          <p:nvPr/>
        </p:nvSpPr>
        <p:spPr>
          <a:xfrm>
            <a:off x="7315200" y="3962400"/>
            <a:ext cx="4470400" cy="261610"/>
          </a:xfrm>
          <a:prstGeom prst="rect">
            <a:avLst/>
          </a:prstGeom>
          <a:noFill/>
        </p:spPr>
        <p:txBody>
          <a:bodyPr vert="horz" wrap="square" rtlCol="0">
            <a:noAutofit/>
          </a:bodyPr>
          <a:lstStyle/>
          <a:p>
            <a:r>
              <a:rPr lang="en-US" sz="1100">
                <a:solidFill>
                  <a:srgbClr val="5A6E8C"/>
                </a:solidFill>
              </a:rPr>
              <a:t>Side ultrasonic sensors detect vehicles in adjacent lane.</a:t>
            </a:r>
          </a:p>
        </p:txBody>
      </p:sp>
      <p:sp>
        <p:nvSpPr>
          <p:cNvPr id="28" name="Rectangle: Rounded Corners 27">
            <a:extLst>
              <a:ext uri="{FF2B5EF4-FFF2-40B4-BE49-F238E27FC236}">
                <a16:creationId xmlns:a16="http://schemas.microsoft.com/office/drawing/2014/main" id="{D9359BD0-4973-E0EF-3CF2-0F5128C81628}"/>
              </a:ext>
            </a:extLst>
          </p:cNvPr>
          <p:cNvSpPr/>
          <p:nvPr/>
        </p:nvSpPr>
        <p:spPr>
          <a:xfrm>
            <a:off x="6324600" y="4622800"/>
            <a:ext cx="5588000" cy="914400"/>
          </a:xfrm>
          <a:prstGeom prst="roundRect">
            <a:avLst/>
          </a:prstGeom>
          <a:solidFill>
            <a:srgbClr val="0C1E41"/>
          </a:solidFill>
          <a:ln w="12700">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10B252E2-8A5C-211D-DC58-9BB8802DF078}"/>
              </a:ext>
            </a:extLst>
          </p:cNvPr>
          <p:cNvSpPr txBox="1"/>
          <p:nvPr/>
        </p:nvSpPr>
        <p:spPr>
          <a:xfrm>
            <a:off x="6375400" y="4673600"/>
            <a:ext cx="863600" cy="307777"/>
          </a:xfrm>
          <a:prstGeom prst="rect">
            <a:avLst/>
          </a:prstGeom>
          <a:noFill/>
        </p:spPr>
        <p:txBody>
          <a:bodyPr vert="horz" wrap="square" rtlCol="0">
            <a:noAutofit/>
          </a:bodyPr>
          <a:lstStyle/>
          <a:p>
            <a:pPr algn="ctr"/>
            <a:r>
              <a:rPr lang="en-US" sz="1400" b="1">
                <a:solidFill>
                  <a:srgbClr val="288CFF"/>
                </a:solidFill>
              </a:rPr>
              <a:t>DNPW</a:t>
            </a:r>
          </a:p>
        </p:txBody>
      </p:sp>
      <p:sp>
        <p:nvSpPr>
          <p:cNvPr id="30" name="TextBox 29">
            <a:extLst>
              <a:ext uri="{FF2B5EF4-FFF2-40B4-BE49-F238E27FC236}">
                <a16:creationId xmlns:a16="http://schemas.microsoft.com/office/drawing/2014/main" id="{91F7FE82-0358-C995-4481-734D6D247F0D}"/>
              </a:ext>
            </a:extLst>
          </p:cNvPr>
          <p:cNvSpPr txBox="1"/>
          <p:nvPr/>
        </p:nvSpPr>
        <p:spPr>
          <a:xfrm>
            <a:off x="7315200" y="4673600"/>
            <a:ext cx="4470400" cy="292388"/>
          </a:xfrm>
          <a:prstGeom prst="rect">
            <a:avLst/>
          </a:prstGeom>
          <a:noFill/>
        </p:spPr>
        <p:txBody>
          <a:bodyPr vert="horz" wrap="square" rtlCol="0">
            <a:noAutofit/>
          </a:bodyPr>
          <a:lstStyle/>
          <a:p>
            <a:r>
              <a:rPr lang="en-US" sz="1300" b="1">
                <a:solidFill>
                  <a:srgbClr val="FFFFFF"/>
                </a:solidFill>
              </a:rPr>
              <a:t>Do Not Pass Warning</a:t>
            </a:r>
          </a:p>
        </p:txBody>
      </p:sp>
      <p:sp>
        <p:nvSpPr>
          <p:cNvPr id="31" name="TextBox 30">
            <a:extLst>
              <a:ext uri="{FF2B5EF4-FFF2-40B4-BE49-F238E27FC236}">
                <a16:creationId xmlns:a16="http://schemas.microsoft.com/office/drawing/2014/main" id="{EACBCF5E-1F1A-D22E-CFDE-748F258389D9}"/>
              </a:ext>
            </a:extLst>
          </p:cNvPr>
          <p:cNvSpPr txBox="1"/>
          <p:nvPr/>
        </p:nvSpPr>
        <p:spPr>
          <a:xfrm>
            <a:off x="7315200" y="4978400"/>
            <a:ext cx="4470400" cy="261610"/>
          </a:xfrm>
          <a:prstGeom prst="rect">
            <a:avLst/>
          </a:prstGeom>
          <a:noFill/>
        </p:spPr>
        <p:txBody>
          <a:bodyPr vert="horz" wrap="square" rtlCol="0">
            <a:noAutofit/>
          </a:bodyPr>
          <a:lstStyle/>
          <a:p>
            <a:r>
              <a:rPr lang="en-US" sz="1100">
                <a:solidFill>
                  <a:srgbClr val="5A6E8C"/>
                </a:solidFill>
              </a:rPr>
              <a:t>Detects oncoming vehicle - prevents unsafe overtaking.</a:t>
            </a:r>
          </a:p>
        </p:txBody>
      </p:sp>
      <p:sp>
        <p:nvSpPr>
          <p:cNvPr id="32" name="Rectangle: Rounded Corners 31">
            <a:extLst>
              <a:ext uri="{FF2B5EF4-FFF2-40B4-BE49-F238E27FC236}">
                <a16:creationId xmlns:a16="http://schemas.microsoft.com/office/drawing/2014/main" id="{165057BE-A5CF-8686-6DC8-035DD0BDA302}"/>
              </a:ext>
            </a:extLst>
          </p:cNvPr>
          <p:cNvSpPr/>
          <p:nvPr/>
        </p:nvSpPr>
        <p:spPr>
          <a:xfrm>
            <a:off x="6324600" y="5638800"/>
            <a:ext cx="5588000" cy="914400"/>
          </a:xfrm>
          <a:prstGeom prst="roundRect">
            <a:avLst/>
          </a:prstGeom>
          <a:solidFill>
            <a:srgbClr val="0C1E41"/>
          </a:solidFill>
          <a:ln w="12700">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FCF1B29E-8DB0-8649-5D99-C488E4376020}"/>
              </a:ext>
            </a:extLst>
          </p:cNvPr>
          <p:cNvSpPr txBox="1"/>
          <p:nvPr/>
        </p:nvSpPr>
        <p:spPr>
          <a:xfrm>
            <a:off x="6375400" y="5689600"/>
            <a:ext cx="863600" cy="307777"/>
          </a:xfrm>
          <a:prstGeom prst="rect">
            <a:avLst/>
          </a:prstGeom>
          <a:noFill/>
        </p:spPr>
        <p:txBody>
          <a:bodyPr vert="horz" wrap="square" rtlCol="0">
            <a:noAutofit/>
          </a:bodyPr>
          <a:lstStyle/>
          <a:p>
            <a:pPr algn="ctr"/>
            <a:r>
              <a:rPr lang="en-US" sz="1400" b="1">
                <a:solidFill>
                  <a:srgbClr val="288CFF"/>
                </a:solidFill>
              </a:rPr>
              <a:t>IMA</a:t>
            </a:r>
          </a:p>
        </p:txBody>
      </p:sp>
      <p:sp>
        <p:nvSpPr>
          <p:cNvPr id="34" name="TextBox 33">
            <a:extLst>
              <a:ext uri="{FF2B5EF4-FFF2-40B4-BE49-F238E27FC236}">
                <a16:creationId xmlns:a16="http://schemas.microsoft.com/office/drawing/2014/main" id="{BABADD08-F5D2-A7FE-562B-E1BB06E7E827}"/>
              </a:ext>
            </a:extLst>
          </p:cNvPr>
          <p:cNvSpPr txBox="1"/>
          <p:nvPr/>
        </p:nvSpPr>
        <p:spPr>
          <a:xfrm>
            <a:off x="7315200" y="5689600"/>
            <a:ext cx="4470400" cy="292388"/>
          </a:xfrm>
          <a:prstGeom prst="rect">
            <a:avLst/>
          </a:prstGeom>
          <a:noFill/>
        </p:spPr>
        <p:txBody>
          <a:bodyPr vert="horz" wrap="square" rtlCol="0">
            <a:noAutofit/>
          </a:bodyPr>
          <a:lstStyle/>
          <a:p>
            <a:r>
              <a:rPr lang="en-US" sz="1300" b="1">
                <a:solidFill>
                  <a:srgbClr val="FFFFFF"/>
                </a:solidFill>
              </a:rPr>
              <a:t>Intersection Movement Assist</a:t>
            </a:r>
          </a:p>
        </p:txBody>
      </p:sp>
      <p:sp>
        <p:nvSpPr>
          <p:cNvPr id="35" name="TextBox 34">
            <a:extLst>
              <a:ext uri="{FF2B5EF4-FFF2-40B4-BE49-F238E27FC236}">
                <a16:creationId xmlns:a16="http://schemas.microsoft.com/office/drawing/2014/main" id="{A05FF198-78C4-964E-62D8-CFB6311AE982}"/>
              </a:ext>
            </a:extLst>
          </p:cNvPr>
          <p:cNvSpPr txBox="1"/>
          <p:nvPr/>
        </p:nvSpPr>
        <p:spPr>
          <a:xfrm>
            <a:off x="7315200" y="5994400"/>
            <a:ext cx="4470400" cy="261610"/>
          </a:xfrm>
          <a:prstGeom prst="rect">
            <a:avLst/>
          </a:prstGeom>
          <a:noFill/>
        </p:spPr>
        <p:txBody>
          <a:bodyPr vert="horz" wrap="square" rtlCol="0">
            <a:noAutofit/>
          </a:bodyPr>
          <a:lstStyle/>
          <a:p>
            <a:r>
              <a:rPr lang="en-US" sz="1100">
                <a:solidFill>
                  <a:srgbClr val="5A6E8C"/>
                </a:solidFill>
              </a:rPr>
              <a:t>Cross-traffic hazard alert at intersections via ESP-NOW.</a:t>
            </a:r>
          </a:p>
        </p:txBody>
      </p:sp>
    </p:spTree>
    <p:extLst>
      <p:ext uri="{BB962C8B-B14F-4D97-AF65-F5344CB8AC3E}">
        <p14:creationId xmlns:p14="http://schemas.microsoft.com/office/powerpoint/2010/main" val="7434438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3CEDDE19-21F4-A987-7560-54FE8CBC60C1}"/>
              </a:ext>
            </a:extLst>
          </p:cNvPr>
          <p:cNvCxnSpPr/>
          <p:nvPr/>
        </p:nvCxnSpPr>
        <p:spPr>
          <a:xfrm>
            <a:off x="0" y="63500"/>
            <a:ext cx="12192000" cy="0"/>
          </a:xfrm>
          <a:prstGeom prst="line">
            <a:avLst/>
          </a:prstGeom>
          <a:ln w="50800">
            <a:solidFill>
              <a:srgbClr val="00C878"/>
            </a:solidFill>
          </a:ln>
        </p:spPr>
        <p:style>
          <a:lnRef idx="2">
            <a:schemeClr val="accent1"/>
          </a:lnRef>
          <a:fillRef idx="0">
            <a:schemeClr val="accent1"/>
          </a:fillRef>
          <a:effectRef idx="1">
            <a:schemeClr val="accent1"/>
          </a:effectRef>
          <a:fontRef idx="minor">
            <a:schemeClr val="tx1"/>
          </a:fontRef>
        </p:style>
      </p:cxnSp>
      <p:sp>
        <p:nvSpPr>
          <p:cNvPr id="3" name="Rectangle: Rounded Corners 2">
            <a:extLst>
              <a:ext uri="{FF2B5EF4-FFF2-40B4-BE49-F238E27FC236}">
                <a16:creationId xmlns:a16="http://schemas.microsoft.com/office/drawing/2014/main" id="{1ED2D7A8-15F0-0A1B-7ED0-84357DC13314}"/>
              </a:ext>
            </a:extLst>
          </p:cNvPr>
          <p:cNvSpPr/>
          <p:nvPr/>
        </p:nvSpPr>
        <p:spPr>
          <a:xfrm>
            <a:off x="381000" y="228600"/>
            <a:ext cx="1143000" cy="508000"/>
          </a:xfrm>
          <a:prstGeom prst="roundRect">
            <a:avLst/>
          </a:prstGeom>
          <a:solidFill>
            <a:srgbClr val="12284B"/>
          </a:solidFill>
          <a:ln w="25400">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4811897-3165-FC8B-251F-46E30C05E1D2}"/>
              </a:ext>
            </a:extLst>
          </p:cNvPr>
          <p:cNvSpPr txBox="1"/>
          <p:nvPr/>
        </p:nvSpPr>
        <p:spPr>
          <a:xfrm>
            <a:off x="406400" y="228600"/>
            <a:ext cx="1117600" cy="430887"/>
          </a:xfrm>
          <a:prstGeom prst="rect">
            <a:avLst/>
          </a:prstGeom>
          <a:noFill/>
        </p:spPr>
        <p:txBody>
          <a:bodyPr vert="horz" wrap="square" rtlCol="0">
            <a:noAutofit/>
          </a:bodyPr>
          <a:lstStyle/>
          <a:p>
            <a:pPr algn="ctr"/>
            <a:r>
              <a:rPr lang="en-US" sz="2200" b="1">
                <a:solidFill>
                  <a:srgbClr val="00C878"/>
                </a:solidFill>
              </a:rPr>
              <a:t>V2I</a:t>
            </a:r>
          </a:p>
        </p:txBody>
      </p:sp>
      <p:sp>
        <p:nvSpPr>
          <p:cNvPr id="5" name="TextBox 4">
            <a:extLst>
              <a:ext uri="{FF2B5EF4-FFF2-40B4-BE49-F238E27FC236}">
                <a16:creationId xmlns:a16="http://schemas.microsoft.com/office/drawing/2014/main" id="{8D1C21B6-F896-0AEA-DCA7-3E715A0D7B14}"/>
              </a:ext>
            </a:extLst>
          </p:cNvPr>
          <p:cNvSpPr txBox="1"/>
          <p:nvPr/>
        </p:nvSpPr>
        <p:spPr>
          <a:xfrm>
            <a:off x="1676400" y="279400"/>
            <a:ext cx="9144000" cy="461665"/>
          </a:xfrm>
          <a:prstGeom prst="rect">
            <a:avLst/>
          </a:prstGeom>
          <a:noFill/>
        </p:spPr>
        <p:txBody>
          <a:bodyPr vert="horz" wrap="square" rtlCol="0">
            <a:noAutofit/>
          </a:bodyPr>
          <a:lstStyle/>
          <a:p>
            <a:r>
              <a:rPr lang="en-US" sz="2400" b="1">
                <a:solidFill>
                  <a:srgbClr val="FFFFFF"/>
                </a:solidFill>
              </a:rPr>
              <a:t>Vehicle-to-Infrastructure Communication</a:t>
            </a:r>
          </a:p>
        </p:txBody>
      </p:sp>
      <p:sp>
        <p:nvSpPr>
          <p:cNvPr id="6" name="Rectangle: Rounded Corners 5">
            <a:hlinkClick r:id="" action="ppaction://noaction"/>
            <a:extLst>
              <a:ext uri="{FF2B5EF4-FFF2-40B4-BE49-F238E27FC236}">
                <a16:creationId xmlns:a16="http://schemas.microsoft.com/office/drawing/2014/main" id="{2F2D4142-41CB-E610-92B1-D300346FF595}"/>
              </a:ext>
            </a:extLst>
          </p:cNvPr>
          <p:cNvSpPr/>
          <p:nvPr/>
        </p:nvSpPr>
        <p:spPr>
          <a:xfrm>
            <a:off x="10668000" y="228600"/>
            <a:ext cx="1143000" cy="457200"/>
          </a:xfrm>
          <a:prstGeom prst="roundRect">
            <a:avLst/>
          </a:prstGeom>
          <a:solidFill>
            <a:srgbClr val="12284B"/>
          </a:solidFill>
          <a:ln w="12700">
            <a:solidFill>
              <a:srgbClr val="5A6E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CB8619-7A55-ECCB-0A5D-F264FC424CBC}"/>
              </a:ext>
            </a:extLst>
          </p:cNvPr>
          <p:cNvSpPr txBox="1"/>
          <p:nvPr/>
        </p:nvSpPr>
        <p:spPr>
          <a:xfrm>
            <a:off x="10693400" y="254000"/>
            <a:ext cx="1117600" cy="261610"/>
          </a:xfrm>
          <a:prstGeom prst="rect">
            <a:avLst/>
          </a:prstGeom>
          <a:noFill/>
        </p:spPr>
        <p:txBody>
          <a:bodyPr vert="horz" wrap="square" rtlCol="0">
            <a:noAutofit/>
          </a:bodyPr>
          <a:lstStyle/>
          <a:p>
            <a:pPr algn="ctr"/>
            <a:r>
              <a:rPr lang="en-US" sz="1100">
                <a:solidFill>
                  <a:srgbClr val="5A6E8C"/>
                </a:solidFill>
              </a:rPr>
              <a:t>&lt; Menu</a:t>
            </a:r>
          </a:p>
        </p:txBody>
      </p:sp>
      <p:cxnSp>
        <p:nvCxnSpPr>
          <p:cNvPr id="8" name="Straight Connector 7">
            <a:extLst>
              <a:ext uri="{FF2B5EF4-FFF2-40B4-BE49-F238E27FC236}">
                <a16:creationId xmlns:a16="http://schemas.microsoft.com/office/drawing/2014/main" id="{5C2120B0-9AB4-59FD-FF45-7818C452BA93}"/>
              </a:ext>
            </a:extLst>
          </p:cNvPr>
          <p:cNvCxnSpPr/>
          <p:nvPr/>
        </p:nvCxnSpPr>
        <p:spPr>
          <a:xfrm>
            <a:off x="381000" y="825500"/>
            <a:ext cx="11430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DB5BFDEC-E858-C68E-C6AE-7EB65E1394F9}"/>
              </a:ext>
            </a:extLst>
          </p:cNvPr>
          <p:cNvSpPr/>
          <p:nvPr/>
        </p:nvSpPr>
        <p:spPr>
          <a:xfrm>
            <a:off x="355600" y="965200"/>
            <a:ext cx="5562600" cy="5588000"/>
          </a:xfrm>
          <a:prstGeom prst="roundRect">
            <a:avLst/>
          </a:prstGeom>
          <a:solidFill>
            <a:srgbClr val="12284B"/>
          </a:solidFill>
          <a:ln>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780E17F2-83E9-58F5-1EFF-54BA43470E60}"/>
              </a:ext>
            </a:extLst>
          </p:cNvPr>
          <p:cNvSpPr txBox="1"/>
          <p:nvPr/>
        </p:nvSpPr>
        <p:spPr>
          <a:xfrm>
            <a:off x="571500" y="1117600"/>
            <a:ext cx="5080000" cy="323165"/>
          </a:xfrm>
          <a:prstGeom prst="rect">
            <a:avLst/>
          </a:prstGeom>
          <a:noFill/>
        </p:spPr>
        <p:txBody>
          <a:bodyPr vert="horz" wrap="square" rtlCol="0">
            <a:noAutofit/>
          </a:bodyPr>
          <a:lstStyle/>
          <a:p>
            <a:r>
              <a:rPr lang="en-US" sz="1500" b="1">
                <a:solidFill>
                  <a:srgbClr val="00C878"/>
                </a:solidFill>
              </a:rPr>
              <a:t>Platform and Architecture</a:t>
            </a:r>
          </a:p>
        </p:txBody>
      </p:sp>
      <p:cxnSp>
        <p:nvCxnSpPr>
          <p:cNvPr id="11" name="Straight Connector 10">
            <a:extLst>
              <a:ext uri="{FF2B5EF4-FFF2-40B4-BE49-F238E27FC236}">
                <a16:creationId xmlns:a16="http://schemas.microsoft.com/office/drawing/2014/main" id="{1F1D9A81-B9DF-FC00-64E9-E2B4C3ADEBE7}"/>
              </a:ext>
            </a:extLst>
          </p:cNvPr>
          <p:cNvCxnSpPr/>
          <p:nvPr/>
        </p:nvCxnSpPr>
        <p:spPr>
          <a:xfrm>
            <a:off x="571500" y="1485900"/>
            <a:ext cx="5207000" cy="0"/>
          </a:xfrm>
          <a:prstGeom prst="line">
            <a:avLst/>
          </a:prstGeom>
          <a:ln w="12700">
            <a:solidFill>
              <a:srgbClr val="00785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68D98D92-D4FC-5D3B-9044-272994A8E980}"/>
              </a:ext>
            </a:extLst>
          </p:cNvPr>
          <p:cNvSpPr txBox="1"/>
          <p:nvPr/>
        </p:nvSpPr>
        <p:spPr>
          <a:xfrm>
            <a:off x="571500" y="1574800"/>
            <a:ext cx="5232400" cy="3293209"/>
          </a:xfrm>
          <a:prstGeom prst="rect">
            <a:avLst/>
          </a:prstGeom>
          <a:noFill/>
        </p:spPr>
        <p:txBody>
          <a:bodyPr vert="horz" wrap="square" rtlCol="0">
            <a:noAutofit/>
          </a:bodyPr>
          <a:lstStyle/>
          <a:p>
            <a:r>
              <a:rPr lang="en-US" sz="1300">
                <a:solidFill>
                  <a:srgbClr val="D2E1F0"/>
                </a:solidFill>
              </a:rPr>
              <a:t>Platform:   Raspberry Pi 4B
Interface:  UART / TCP socket to RSU
Protocol:   Custom serial framing + JSON
Functions:
  Receives Signal Phase and Timing (SPaT) data
  from traffic signal controllers
  Communicates with Road Side Units (RSU)
  for infrastructure-to-vehicle alerts
  Adaptive speed advisory based on signal state
  Hazard zone notifications (accidents, roadworks)
  Logs all V2I events to cloud via MQTT</a:t>
            </a:r>
          </a:p>
        </p:txBody>
      </p:sp>
      <p:sp>
        <p:nvSpPr>
          <p:cNvPr id="13" name="Rectangle: Rounded Corners 12">
            <a:extLst>
              <a:ext uri="{FF2B5EF4-FFF2-40B4-BE49-F238E27FC236}">
                <a16:creationId xmlns:a16="http://schemas.microsoft.com/office/drawing/2014/main" id="{73A9F4BF-AD39-6CF8-8D56-B49FF85D62B8}"/>
              </a:ext>
            </a:extLst>
          </p:cNvPr>
          <p:cNvSpPr/>
          <p:nvPr/>
        </p:nvSpPr>
        <p:spPr>
          <a:xfrm>
            <a:off x="6096000" y="965200"/>
            <a:ext cx="5842000" cy="5588000"/>
          </a:xfrm>
          <a:prstGeom prst="roundRect">
            <a:avLst/>
          </a:prstGeom>
          <a:solidFill>
            <a:srgbClr val="12284B"/>
          </a:solidFill>
          <a:ln>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C5896BB-63AC-9CDF-7685-DC0313AD9BE4}"/>
              </a:ext>
            </a:extLst>
          </p:cNvPr>
          <p:cNvSpPr txBox="1"/>
          <p:nvPr/>
        </p:nvSpPr>
        <p:spPr>
          <a:xfrm>
            <a:off x="6324600" y="1117600"/>
            <a:ext cx="5384800" cy="323165"/>
          </a:xfrm>
          <a:prstGeom prst="rect">
            <a:avLst/>
          </a:prstGeom>
          <a:noFill/>
        </p:spPr>
        <p:txBody>
          <a:bodyPr vert="horz" wrap="square" rtlCol="0">
            <a:noAutofit/>
          </a:bodyPr>
          <a:lstStyle/>
          <a:p>
            <a:r>
              <a:rPr lang="en-US" sz="1500" b="1">
                <a:solidFill>
                  <a:srgbClr val="00C878"/>
                </a:solidFill>
              </a:rPr>
              <a:t>V2I Use Cases</a:t>
            </a:r>
          </a:p>
        </p:txBody>
      </p:sp>
      <p:cxnSp>
        <p:nvCxnSpPr>
          <p:cNvPr id="15" name="Straight Connector 14">
            <a:extLst>
              <a:ext uri="{FF2B5EF4-FFF2-40B4-BE49-F238E27FC236}">
                <a16:creationId xmlns:a16="http://schemas.microsoft.com/office/drawing/2014/main" id="{933FF0AA-B846-F876-D3D2-4217505EC1C5}"/>
              </a:ext>
            </a:extLst>
          </p:cNvPr>
          <p:cNvCxnSpPr/>
          <p:nvPr/>
        </p:nvCxnSpPr>
        <p:spPr>
          <a:xfrm>
            <a:off x="6324600" y="1485900"/>
            <a:ext cx="5461000" cy="0"/>
          </a:xfrm>
          <a:prstGeom prst="line">
            <a:avLst/>
          </a:prstGeom>
          <a:ln w="12700">
            <a:solidFill>
              <a:srgbClr val="007850"/>
            </a:solidFill>
          </a:ln>
        </p:spPr>
        <p:style>
          <a:lnRef idx="2">
            <a:schemeClr val="accent1"/>
          </a:lnRef>
          <a:fillRef idx="0">
            <a:schemeClr val="accent1"/>
          </a:fillRef>
          <a:effectRef idx="1">
            <a:schemeClr val="accent1"/>
          </a:effectRef>
          <a:fontRef idx="minor">
            <a:schemeClr val="tx1"/>
          </a:fontRef>
        </p:style>
      </p:cxnSp>
      <p:sp>
        <p:nvSpPr>
          <p:cNvPr id="16" name="Rectangle: Rounded Corners 15">
            <a:extLst>
              <a:ext uri="{FF2B5EF4-FFF2-40B4-BE49-F238E27FC236}">
                <a16:creationId xmlns:a16="http://schemas.microsoft.com/office/drawing/2014/main" id="{279139ED-F4E5-F41A-445B-0DF07CDB9046}"/>
              </a:ext>
            </a:extLst>
          </p:cNvPr>
          <p:cNvSpPr/>
          <p:nvPr/>
        </p:nvSpPr>
        <p:spPr>
          <a:xfrm>
            <a:off x="6324600" y="1574800"/>
            <a:ext cx="5588000" cy="914400"/>
          </a:xfrm>
          <a:prstGeom prst="roundRect">
            <a:avLst/>
          </a:prstGeom>
          <a:solidFill>
            <a:srgbClr val="051E14"/>
          </a:solidFill>
          <a:ln w="12700">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CE2DACD-9DFA-AC18-1170-CCF4084749EE}"/>
              </a:ext>
            </a:extLst>
          </p:cNvPr>
          <p:cNvSpPr/>
          <p:nvPr/>
        </p:nvSpPr>
        <p:spPr>
          <a:xfrm>
            <a:off x="6324600" y="1574800"/>
            <a:ext cx="76200" cy="914400"/>
          </a:xfrm>
          <a:prstGeom prst="rect">
            <a:avLst/>
          </a:prstGeom>
          <a:solidFill>
            <a:srgbClr val="00C87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F01EA614-3747-813F-23A0-3EE3A470D0ED}"/>
              </a:ext>
            </a:extLst>
          </p:cNvPr>
          <p:cNvSpPr txBox="1"/>
          <p:nvPr/>
        </p:nvSpPr>
        <p:spPr>
          <a:xfrm>
            <a:off x="6527800" y="1651000"/>
            <a:ext cx="5257800" cy="307777"/>
          </a:xfrm>
          <a:prstGeom prst="rect">
            <a:avLst/>
          </a:prstGeom>
          <a:noFill/>
        </p:spPr>
        <p:txBody>
          <a:bodyPr vert="horz" wrap="square" rtlCol="0">
            <a:noAutofit/>
          </a:bodyPr>
          <a:lstStyle/>
          <a:p>
            <a:r>
              <a:rPr lang="en-US" sz="1400" b="1">
                <a:solidFill>
                  <a:srgbClr val="FFFFFF"/>
                </a:solidFill>
              </a:rPr>
              <a:t>Red Light Notification</a:t>
            </a:r>
          </a:p>
        </p:txBody>
      </p:sp>
      <p:sp>
        <p:nvSpPr>
          <p:cNvPr id="19" name="TextBox 18">
            <a:extLst>
              <a:ext uri="{FF2B5EF4-FFF2-40B4-BE49-F238E27FC236}">
                <a16:creationId xmlns:a16="http://schemas.microsoft.com/office/drawing/2014/main" id="{C3D3FB50-B9C3-EAA2-FDD8-22E3798470BE}"/>
              </a:ext>
            </a:extLst>
          </p:cNvPr>
          <p:cNvSpPr txBox="1"/>
          <p:nvPr/>
        </p:nvSpPr>
        <p:spPr>
          <a:xfrm>
            <a:off x="6527800" y="1981200"/>
            <a:ext cx="5257800" cy="276999"/>
          </a:xfrm>
          <a:prstGeom prst="rect">
            <a:avLst/>
          </a:prstGeom>
          <a:noFill/>
        </p:spPr>
        <p:txBody>
          <a:bodyPr vert="horz" wrap="square" rtlCol="0">
            <a:noAutofit/>
          </a:bodyPr>
          <a:lstStyle/>
          <a:p>
            <a:r>
              <a:rPr lang="en-US" sz="1200">
                <a:solidFill>
                  <a:srgbClr val="5A6E8C"/>
                </a:solidFill>
              </a:rPr>
              <a:t>Driver alerted to upcoming red phase before reaching intersection.</a:t>
            </a:r>
          </a:p>
        </p:txBody>
      </p:sp>
      <p:sp>
        <p:nvSpPr>
          <p:cNvPr id="20" name="Rectangle: Rounded Corners 19">
            <a:extLst>
              <a:ext uri="{FF2B5EF4-FFF2-40B4-BE49-F238E27FC236}">
                <a16:creationId xmlns:a16="http://schemas.microsoft.com/office/drawing/2014/main" id="{2A9A95D9-A7A9-D95E-A3D6-8A78360978AD}"/>
              </a:ext>
            </a:extLst>
          </p:cNvPr>
          <p:cNvSpPr/>
          <p:nvPr/>
        </p:nvSpPr>
        <p:spPr>
          <a:xfrm>
            <a:off x="6324600" y="2590800"/>
            <a:ext cx="5588000" cy="914400"/>
          </a:xfrm>
          <a:prstGeom prst="roundRect">
            <a:avLst/>
          </a:prstGeom>
          <a:solidFill>
            <a:srgbClr val="051E14"/>
          </a:solidFill>
          <a:ln w="12700">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93C1811-437B-81D8-D699-25C3D731BDEF}"/>
              </a:ext>
            </a:extLst>
          </p:cNvPr>
          <p:cNvSpPr/>
          <p:nvPr/>
        </p:nvSpPr>
        <p:spPr>
          <a:xfrm>
            <a:off x="6324600" y="2590800"/>
            <a:ext cx="76200" cy="914400"/>
          </a:xfrm>
          <a:prstGeom prst="rect">
            <a:avLst/>
          </a:prstGeom>
          <a:solidFill>
            <a:srgbClr val="00C87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7C98E37-B977-34EB-A838-C498BBC03E74}"/>
              </a:ext>
            </a:extLst>
          </p:cNvPr>
          <p:cNvSpPr txBox="1"/>
          <p:nvPr/>
        </p:nvSpPr>
        <p:spPr>
          <a:xfrm>
            <a:off x="6527800" y="2667000"/>
            <a:ext cx="5257800" cy="307777"/>
          </a:xfrm>
          <a:prstGeom prst="rect">
            <a:avLst/>
          </a:prstGeom>
          <a:noFill/>
        </p:spPr>
        <p:txBody>
          <a:bodyPr vert="horz" wrap="square" rtlCol="0">
            <a:noAutofit/>
          </a:bodyPr>
          <a:lstStyle/>
          <a:p>
            <a:r>
              <a:rPr lang="en-US" sz="1400" b="1">
                <a:solidFill>
                  <a:srgbClr val="FFFFFF"/>
                </a:solidFill>
              </a:rPr>
              <a:t>Speed Limit Advisory</a:t>
            </a:r>
          </a:p>
        </p:txBody>
      </p:sp>
      <p:sp>
        <p:nvSpPr>
          <p:cNvPr id="23" name="TextBox 22">
            <a:extLst>
              <a:ext uri="{FF2B5EF4-FFF2-40B4-BE49-F238E27FC236}">
                <a16:creationId xmlns:a16="http://schemas.microsoft.com/office/drawing/2014/main" id="{4271B237-DC32-3544-C266-972B9D71BC51}"/>
              </a:ext>
            </a:extLst>
          </p:cNvPr>
          <p:cNvSpPr txBox="1"/>
          <p:nvPr/>
        </p:nvSpPr>
        <p:spPr>
          <a:xfrm>
            <a:off x="6527800" y="2997200"/>
            <a:ext cx="5257800" cy="276999"/>
          </a:xfrm>
          <a:prstGeom prst="rect">
            <a:avLst/>
          </a:prstGeom>
          <a:noFill/>
        </p:spPr>
        <p:txBody>
          <a:bodyPr vert="horz" wrap="square" rtlCol="0">
            <a:noAutofit/>
          </a:bodyPr>
          <a:lstStyle/>
          <a:p>
            <a:r>
              <a:rPr lang="en-US" sz="1200">
                <a:solidFill>
                  <a:srgbClr val="5A6E8C"/>
                </a:solidFill>
              </a:rPr>
              <a:t>Infrastructure broadcasts local speed limit to approaching vehicles.</a:t>
            </a:r>
          </a:p>
        </p:txBody>
      </p:sp>
      <p:sp>
        <p:nvSpPr>
          <p:cNvPr id="24" name="Rectangle: Rounded Corners 23">
            <a:extLst>
              <a:ext uri="{FF2B5EF4-FFF2-40B4-BE49-F238E27FC236}">
                <a16:creationId xmlns:a16="http://schemas.microsoft.com/office/drawing/2014/main" id="{4512AFE5-89D8-44A2-B9ED-B16E884498F2}"/>
              </a:ext>
            </a:extLst>
          </p:cNvPr>
          <p:cNvSpPr/>
          <p:nvPr/>
        </p:nvSpPr>
        <p:spPr>
          <a:xfrm>
            <a:off x="6324600" y="3606800"/>
            <a:ext cx="5588000" cy="914400"/>
          </a:xfrm>
          <a:prstGeom prst="roundRect">
            <a:avLst/>
          </a:prstGeom>
          <a:solidFill>
            <a:srgbClr val="051E14"/>
          </a:solidFill>
          <a:ln w="12700">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D8EF7DCB-A911-20FC-B696-131D980AE23A}"/>
              </a:ext>
            </a:extLst>
          </p:cNvPr>
          <p:cNvSpPr/>
          <p:nvPr/>
        </p:nvSpPr>
        <p:spPr>
          <a:xfrm>
            <a:off x="6324600" y="3606800"/>
            <a:ext cx="76200" cy="914400"/>
          </a:xfrm>
          <a:prstGeom prst="rect">
            <a:avLst/>
          </a:prstGeom>
          <a:solidFill>
            <a:srgbClr val="00C87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210F920B-3F2E-3DE2-BDBE-AD8CC5221BBF}"/>
              </a:ext>
            </a:extLst>
          </p:cNvPr>
          <p:cNvSpPr txBox="1"/>
          <p:nvPr/>
        </p:nvSpPr>
        <p:spPr>
          <a:xfrm>
            <a:off x="6527800" y="3683000"/>
            <a:ext cx="5257800" cy="307777"/>
          </a:xfrm>
          <a:prstGeom prst="rect">
            <a:avLst/>
          </a:prstGeom>
          <a:noFill/>
        </p:spPr>
        <p:txBody>
          <a:bodyPr vert="horz" wrap="square" rtlCol="0">
            <a:noAutofit/>
          </a:bodyPr>
          <a:lstStyle/>
          <a:p>
            <a:r>
              <a:rPr lang="en-US" sz="1400" b="1">
                <a:solidFill>
                  <a:srgbClr val="FFFFFF"/>
                </a:solidFill>
              </a:rPr>
              <a:t>Hazard Zone Warning</a:t>
            </a:r>
          </a:p>
        </p:txBody>
      </p:sp>
      <p:sp>
        <p:nvSpPr>
          <p:cNvPr id="27" name="TextBox 26">
            <a:extLst>
              <a:ext uri="{FF2B5EF4-FFF2-40B4-BE49-F238E27FC236}">
                <a16:creationId xmlns:a16="http://schemas.microsoft.com/office/drawing/2014/main" id="{3DEB2D04-55BF-DD33-8560-0A6F2F286DCA}"/>
              </a:ext>
            </a:extLst>
          </p:cNvPr>
          <p:cNvSpPr txBox="1"/>
          <p:nvPr/>
        </p:nvSpPr>
        <p:spPr>
          <a:xfrm>
            <a:off x="6527800" y="4013200"/>
            <a:ext cx="5257800" cy="276999"/>
          </a:xfrm>
          <a:prstGeom prst="rect">
            <a:avLst/>
          </a:prstGeom>
          <a:noFill/>
        </p:spPr>
        <p:txBody>
          <a:bodyPr vert="horz" wrap="square" rtlCol="0">
            <a:noAutofit/>
          </a:bodyPr>
          <a:lstStyle/>
          <a:p>
            <a:r>
              <a:rPr lang="en-US" sz="1200">
                <a:solidFill>
                  <a:srgbClr val="5A6E8C"/>
                </a:solidFill>
              </a:rPr>
              <a:t>RSU broadcasts accident or road works zone - vehicle triggers alert.</a:t>
            </a:r>
          </a:p>
        </p:txBody>
      </p:sp>
      <p:sp>
        <p:nvSpPr>
          <p:cNvPr id="28" name="Rectangle: Rounded Corners 27">
            <a:extLst>
              <a:ext uri="{FF2B5EF4-FFF2-40B4-BE49-F238E27FC236}">
                <a16:creationId xmlns:a16="http://schemas.microsoft.com/office/drawing/2014/main" id="{776F4BFD-7AC9-BBBF-25F2-D865E3D77851}"/>
              </a:ext>
            </a:extLst>
          </p:cNvPr>
          <p:cNvSpPr/>
          <p:nvPr/>
        </p:nvSpPr>
        <p:spPr>
          <a:xfrm>
            <a:off x="6324600" y="4622800"/>
            <a:ext cx="5588000" cy="914400"/>
          </a:xfrm>
          <a:prstGeom prst="roundRect">
            <a:avLst/>
          </a:prstGeom>
          <a:solidFill>
            <a:srgbClr val="051E14"/>
          </a:solidFill>
          <a:ln w="12700">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2D4A34B4-D644-C3D4-47DA-93BBD35988AE}"/>
              </a:ext>
            </a:extLst>
          </p:cNvPr>
          <p:cNvSpPr/>
          <p:nvPr/>
        </p:nvSpPr>
        <p:spPr>
          <a:xfrm>
            <a:off x="6324600" y="4622800"/>
            <a:ext cx="76200" cy="914400"/>
          </a:xfrm>
          <a:prstGeom prst="rect">
            <a:avLst/>
          </a:prstGeom>
          <a:solidFill>
            <a:srgbClr val="00C87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07A5FC46-80CB-056B-BFEC-C09AD38B597F}"/>
              </a:ext>
            </a:extLst>
          </p:cNvPr>
          <p:cNvSpPr txBox="1"/>
          <p:nvPr/>
        </p:nvSpPr>
        <p:spPr>
          <a:xfrm>
            <a:off x="6527800" y="4699000"/>
            <a:ext cx="5257800" cy="307777"/>
          </a:xfrm>
          <a:prstGeom prst="rect">
            <a:avLst/>
          </a:prstGeom>
          <a:noFill/>
        </p:spPr>
        <p:txBody>
          <a:bodyPr vert="horz" wrap="square" rtlCol="0">
            <a:noAutofit/>
          </a:bodyPr>
          <a:lstStyle/>
          <a:p>
            <a:r>
              <a:rPr lang="en-US" sz="1400" b="1">
                <a:solidFill>
                  <a:srgbClr val="FFFFFF"/>
                </a:solidFill>
              </a:rPr>
              <a:t>Green Wave Coordination</a:t>
            </a:r>
          </a:p>
        </p:txBody>
      </p:sp>
      <p:sp>
        <p:nvSpPr>
          <p:cNvPr id="31" name="TextBox 30">
            <a:extLst>
              <a:ext uri="{FF2B5EF4-FFF2-40B4-BE49-F238E27FC236}">
                <a16:creationId xmlns:a16="http://schemas.microsoft.com/office/drawing/2014/main" id="{5FFFC49E-1FE4-2AF1-053F-36A91ED72DF8}"/>
              </a:ext>
            </a:extLst>
          </p:cNvPr>
          <p:cNvSpPr txBox="1"/>
          <p:nvPr/>
        </p:nvSpPr>
        <p:spPr>
          <a:xfrm>
            <a:off x="6527800" y="5029200"/>
            <a:ext cx="5257800" cy="276999"/>
          </a:xfrm>
          <a:prstGeom prst="rect">
            <a:avLst/>
          </a:prstGeom>
          <a:noFill/>
        </p:spPr>
        <p:txBody>
          <a:bodyPr vert="horz" wrap="square" rtlCol="0">
            <a:noAutofit/>
          </a:bodyPr>
          <a:lstStyle/>
          <a:p>
            <a:r>
              <a:rPr lang="en-US" sz="1200">
                <a:solidFill>
                  <a:srgbClr val="5A6E8C"/>
                </a:solidFill>
              </a:rPr>
              <a:t>Speed guidance to catch green phase - reduces stop-and-go driving.</a:t>
            </a:r>
          </a:p>
        </p:txBody>
      </p:sp>
      <p:sp>
        <p:nvSpPr>
          <p:cNvPr id="32" name="Rectangle: Rounded Corners 31">
            <a:extLst>
              <a:ext uri="{FF2B5EF4-FFF2-40B4-BE49-F238E27FC236}">
                <a16:creationId xmlns:a16="http://schemas.microsoft.com/office/drawing/2014/main" id="{221BEDCF-FE5D-C5A7-0E24-20EE556ECDF4}"/>
              </a:ext>
            </a:extLst>
          </p:cNvPr>
          <p:cNvSpPr/>
          <p:nvPr/>
        </p:nvSpPr>
        <p:spPr>
          <a:xfrm>
            <a:off x="6324600" y="5638800"/>
            <a:ext cx="5588000" cy="914400"/>
          </a:xfrm>
          <a:prstGeom prst="roundRect">
            <a:avLst/>
          </a:prstGeom>
          <a:solidFill>
            <a:srgbClr val="051E14"/>
          </a:solidFill>
          <a:ln w="12700">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39248E73-DFBA-9EEE-7E55-E5B474EEEC2C}"/>
              </a:ext>
            </a:extLst>
          </p:cNvPr>
          <p:cNvSpPr/>
          <p:nvPr/>
        </p:nvSpPr>
        <p:spPr>
          <a:xfrm>
            <a:off x="6324600" y="5638800"/>
            <a:ext cx="76200" cy="914400"/>
          </a:xfrm>
          <a:prstGeom prst="rect">
            <a:avLst/>
          </a:prstGeom>
          <a:solidFill>
            <a:srgbClr val="00C87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1DF40C49-47A9-7EB0-6547-1D74CBE57256}"/>
              </a:ext>
            </a:extLst>
          </p:cNvPr>
          <p:cNvSpPr txBox="1"/>
          <p:nvPr/>
        </p:nvSpPr>
        <p:spPr>
          <a:xfrm>
            <a:off x="6527800" y="5715000"/>
            <a:ext cx="5257800" cy="307777"/>
          </a:xfrm>
          <a:prstGeom prst="rect">
            <a:avLst/>
          </a:prstGeom>
          <a:noFill/>
        </p:spPr>
        <p:txBody>
          <a:bodyPr vert="horz" wrap="square" rtlCol="0">
            <a:noAutofit/>
          </a:bodyPr>
          <a:lstStyle/>
          <a:p>
            <a:r>
              <a:rPr lang="en-US" sz="1400" b="1">
                <a:solidFill>
                  <a:srgbClr val="FFFFFF"/>
                </a:solidFill>
              </a:rPr>
              <a:t>Event Logging</a:t>
            </a:r>
          </a:p>
        </p:txBody>
      </p:sp>
      <p:sp>
        <p:nvSpPr>
          <p:cNvPr id="35" name="TextBox 34">
            <a:extLst>
              <a:ext uri="{FF2B5EF4-FFF2-40B4-BE49-F238E27FC236}">
                <a16:creationId xmlns:a16="http://schemas.microsoft.com/office/drawing/2014/main" id="{E7249CC1-B961-A897-D933-004F27EE2FF6}"/>
              </a:ext>
            </a:extLst>
          </p:cNvPr>
          <p:cNvSpPr txBox="1"/>
          <p:nvPr/>
        </p:nvSpPr>
        <p:spPr>
          <a:xfrm>
            <a:off x="6527800" y="6045200"/>
            <a:ext cx="5257800" cy="276999"/>
          </a:xfrm>
          <a:prstGeom prst="rect">
            <a:avLst/>
          </a:prstGeom>
          <a:noFill/>
        </p:spPr>
        <p:txBody>
          <a:bodyPr vert="horz" wrap="square" rtlCol="0">
            <a:noAutofit/>
          </a:bodyPr>
          <a:lstStyle/>
          <a:p>
            <a:r>
              <a:rPr lang="en-US" sz="1200">
                <a:solidFill>
                  <a:srgbClr val="5A6E8C"/>
                </a:solidFill>
              </a:rPr>
              <a:t>All V2I events timestamped and published to MQTT cloud broker.</a:t>
            </a:r>
          </a:p>
        </p:txBody>
      </p:sp>
    </p:spTree>
    <p:extLst>
      <p:ext uri="{BB962C8B-B14F-4D97-AF65-F5344CB8AC3E}">
        <p14:creationId xmlns:p14="http://schemas.microsoft.com/office/powerpoint/2010/main" val="17042847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FE940E47-25A1-9584-6169-12B8B1AB35AE}"/>
              </a:ext>
            </a:extLst>
          </p:cNvPr>
          <p:cNvCxnSpPr/>
          <p:nvPr/>
        </p:nvCxnSpPr>
        <p:spPr>
          <a:xfrm>
            <a:off x="0" y="63500"/>
            <a:ext cx="12192000" cy="0"/>
          </a:xfrm>
          <a:prstGeom prst="line">
            <a:avLst/>
          </a:prstGeom>
          <a:ln w="50800">
            <a:solidFill>
              <a:srgbClr val="FFB400"/>
            </a:solidFill>
          </a:ln>
        </p:spPr>
        <p:style>
          <a:lnRef idx="2">
            <a:schemeClr val="accent1"/>
          </a:lnRef>
          <a:fillRef idx="0">
            <a:schemeClr val="accent1"/>
          </a:fillRef>
          <a:effectRef idx="1">
            <a:schemeClr val="accent1"/>
          </a:effectRef>
          <a:fontRef idx="minor">
            <a:schemeClr val="tx1"/>
          </a:fontRef>
        </p:style>
      </p:cxnSp>
      <p:sp>
        <p:nvSpPr>
          <p:cNvPr id="3" name="Rectangle: Rounded Corners 2">
            <a:extLst>
              <a:ext uri="{FF2B5EF4-FFF2-40B4-BE49-F238E27FC236}">
                <a16:creationId xmlns:a16="http://schemas.microsoft.com/office/drawing/2014/main" id="{7416CAD9-6099-FF9A-A2F5-F58BE50690DE}"/>
              </a:ext>
            </a:extLst>
          </p:cNvPr>
          <p:cNvSpPr/>
          <p:nvPr/>
        </p:nvSpPr>
        <p:spPr>
          <a:xfrm>
            <a:off x="381000" y="228600"/>
            <a:ext cx="1143000" cy="508000"/>
          </a:xfrm>
          <a:prstGeom prst="roundRect">
            <a:avLst/>
          </a:prstGeom>
          <a:solidFill>
            <a:srgbClr val="12284B"/>
          </a:solidFill>
          <a:ln w="25400">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5426E19-4B75-9021-346E-A14E71A535B5}"/>
              </a:ext>
            </a:extLst>
          </p:cNvPr>
          <p:cNvSpPr txBox="1"/>
          <p:nvPr/>
        </p:nvSpPr>
        <p:spPr>
          <a:xfrm>
            <a:off x="406400" y="228600"/>
            <a:ext cx="1117600" cy="430887"/>
          </a:xfrm>
          <a:prstGeom prst="rect">
            <a:avLst/>
          </a:prstGeom>
          <a:noFill/>
        </p:spPr>
        <p:txBody>
          <a:bodyPr vert="horz" wrap="square" rtlCol="0">
            <a:noAutofit/>
          </a:bodyPr>
          <a:lstStyle/>
          <a:p>
            <a:pPr algn="ctr"/>
            <a:r>
              <a:rPr lang="en-US" sz="2200" b="1">
                <a:solidFill>
                  <a:srgbClr val="FFB400"/>
                </a:solidFill>
              </a:rPr>
              <a:t>V2P</a:t>
            </a:r>
          </a:p>
        </p:txBody>
      </p:sp>
      <p:sp>
        <p:nvSpPr>
          <p:cNvPr id="5" name="TextBox 4">
            <a:extLst>
              <a:ext uri="{FF2B5EF4-FFF2-40B4-BE49-F238E27FC236}">
                <a16:creationId xmlns:a16="http://schemas.microsoft.com/office/drawing/2014/main" id="{DAD1B86A-731F-40F8-9723-2E7726B7320D}"/>
              </a:ext>
            </a:extLst>
          </p:cNvPr>
          <p:cNvSpPr txBox="1"/>
          <p:nvPr/>
        </p:nvSpPr>
        <p:spPr>
          <a:xfrm>
            <a:off x="1676400" y="279400"/>
            <a:ext cx="9017000" cy="461665"/>
          </a:xfrm>
          <a:prstGeom prst="rect">
            <a:avLst/>
          </a:prstGeom>
          <a:noFill/>
        </p:spPr>
        <p:txBody>
          <a:bodyPr vert="horz" wrap="square" rtlCol="0">
            <a:noAutofit/>
          </a:bodyPr>
          <a:lstStyle/>
          <a:p>
            <a:r>
              <a:rPr lang="en-US" sz="2400" b="1">
                <a:solidFill>
                  <a:srgbClr val="FFFFFF"/>
                </a:solidFill>
              </a:rPr>
              <a:t>Vehicle-to-Pedestrian Detection</a:t>
            </a:r>
          </a:p>
        </p:txBody>
      </p:sp>
      <p:sp>
        <p:nvSpPr>
          <p:cNvPr id="6" name="Rectangle: Rounded Corners 5">
            <a:hlinkClick r:id="" action="ppaction://noaction"/>
            <a:extLst>
              <a:ext uri="{FF2B5EF4-FFF2-40B4-BE49-F238E27FC236}">
                <a16:creationId xmlns:a16="http://schemas.microsoft.com/office/drawing/2014/main" id="{1A69B4E8-BC62-2C81-175A-DAA8EA8B2C4F}"/>
              </a:ext>
            </a:extLst>
          </p:cNvPr>
          <p:cNvSpPr/>
          <p:nvPr/>
        </p:nvSpPr>
        <p:spPr>
          <a:xfrm>
            <a:off x="10668000" y="228600"/>
            <a:ext cx="1143000" cy="457200"/>
          </a:xfrm>
          <a:prstGeom prst="roundRect">
            <a:avLst/>
          </a:prstGeom>
          <a:solidFill>
            <a:srgbClr val="12284B"/>
          </a:solidFill>
          <a:ln w="12700">
            <a:solidFill>
              <a:srgbClr val="5A6E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1B03DF8-CE8B-15E0-C831-A3513D47BD30}"/>
              </a:ext>
            </a:extLst>
          </p:cNvPr>
          <p:cNvSpPr txBox="1"/>
          <p:nvPr/>
        </p:nvSpPr>
        <p:spPr>
          <a:xfrm>
            <a:off x="10693400" y="254000"/>
            <a:ext cx="1117600" cy="261610"/>
          </a:xfrm>
          <a:prstGeom prst="rect">
            <a:avLst/>
          </a:prstGeom>
          <a:noFill/>
        </p:spPr>
        <p:txBody>
          <a:bodyPr vert="horz" wrap="square" rtlCol="0">
            <a:noAutofit/>
          </a:bodyPr>
          <a:lstStyle/>
          <a:p>
            <a:pPr algn="ctr"/>
            <a:r>
              <a:rPr lang="en-US" sz="1100">
                <a:solidFill>
                  <a:srgbClr val="5A6E8C"/>
                </a:solidFill>
              </a:rPr>
              <a:t>&lt; Menu</a:t>
            </a:r>
          </a:p>
        </p:txBody>
      </p:sp>
      <p:cxnSp>
        <p:nvCxnSpPr>
          <p:cNvPr id="8" name="Straight Connector 7">
            <a:extLst>
              <a:ext uri="{FF2B5EF4-FFF2-40B4-BE49-F238E27FC236}">
                <a16:creationId xmlns:a16="http://schemas.microsoft.com/office/drawing/2014/main" id="{96DA0991-779A-5014-231A-BF9A66F9BCE1}"/>
              </a:ext>
            </a:extLst>
          </p:cNvPr>
          <p:cNvCxnSpPr/>
          <p:nvPr/>
        </p:nvCxnSpPr>
        <p:spPr>
          <a:xfrm>
            <a:off x="381000" y="825500"/>
            <a:ext cx="11430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4291182C-FBF5-5DC7-45CF-E71FEA6BB632}"/>
              </a:ext>
            </a:extLst>
          </p:cNvPr>
          <p:cNvSpPr/>
          <p:nvPr/>
        </p:nvSpPr>
        <p:spPr>
          <a:xfrm>
            <a:off x="355600" y="965200"/>
            <a:ext cx="5562600" cy="5588000"/>
          </a:xfrm>
          <a:prstGeom prst="roundRect">
            <a:avLst/>
          </a:prstGeom>
          <a:solidFill>
            <a:srgbClr val="12284B"/>
          </a:solidFill>
          <a:ln>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79DAAAD-9D9E-6C6C-D3F7-39551184AC17}"/>
              </a:ext>
            </a:extLst>
          </p:cNvPr>
          <p:cNvSpPr txBox="1"/>
          <p:nvPr/>
        </p:nvSpPr>
        <p:spPr>
          <a:xfrm>
            <a:off x="571500" y="1117600"/>
            <a:ext cx="5080000" cy="323165"/>
          </a:xfrm>
          <a:prstGeom prst="rect">
            <a:avLst/>
          </a:prstGeom>
          <a:noFill/>
        </p:spPr>
        <p:txBody>
          <a:bodyPr vert="horz" wrap="square" rtlCol="0">
            <a:noAutofit/>
          </a:bodyPr>
          <a:lstStyle/>
          <a:p>
            <a:r>
              <a:rPr lang="en-US" sz="1500" b="1">
                <a:solidFill>
                  <a:srgbClr val="FFB400"/>
                </a:solidFill>
              </a:rPr>
              <a:t>Detection Pipeline</a:t>
            </a:r>
          </a:p>
        </p:txBody>
      </p:sp>
      <p:cxnSp>
        <p:nvCxnSpPr>
          <p:cNvPr id="11" name="Straight Connector 10">
            <a:extLst>
              <a:ext uri="{FF2B5EF4-FFF2-40B4-BE49-F238E27FC236}">
                <a16:creationId xmlns:a16="http://schemas.microsoft.com/office/drawing/2014/main" id="{E5EA6850-6F47-3939-1508-63E35FBD6078}"/>
              </a:ext>
            </a:extLst>
          </p:cNvPr>
          <p:cNvCxnSpPr/>
          <p:nvPr/>
        </p:nvCxnSpPr>
        <p:spPr>
          <a:xfrm>
            <a:off x="571500" y="1485900"/>
            <a:ext cx="5207000" cy="0"/>
          </a:xfrm>
          <a:prstGeom prst="line">
            <a:avLst/>
          </a:prstGeom>
          <a:ln w="12700">
            <a:solidFill>
              <a:srgbClr val="A06E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6E37635C-BD59-BF2B-7B2D-48BDB2B1D6D7}"/>
              </a:ext>
            </a:extLst>
          </p:cNvPr>
          <p:cNvSpPr txBox="1"/>
          <p:nvPr/>
        </p:nvSpPr>
        <p:spPr>
          <a:xfrm>
            <a:off x="571500" y="1574800"/>
            <a:ext cx="5232400" cy="3093154"/>
          </a:xfrm>
          <a:prstGeom prst="rect">
            <a:avLst/>
          </a:prstGeom>
          <a:noFill/>
        </p:spPr>
        <p:txBody>
          <a:bodyPr vert="horz" wrap="square" rtlCol="0">
            <a:noAutofit/>
          </a:bodyPr>
          <a:lstStyle/>
          <a:p>
            <a:r>
              <a:rPr lang="en-US" sz="1300">
                <a:solidFill>
                  <a:srgbClr val="D2E1F0"/>
                </a:solidFill>
              </a:rPr>
              <a:t>Platform:  Raspberry Pi 4B
Camera:    Raspberry Pi Camera Module
Model:     YOLO (You Only Look Once)
Runtime:   OpenCV + Python inference loop
Pipeline:
  1. Camera captures front-view video stream
  2. Each frame passed to YOLO detector
  3. Bounding boxes drawn on detected objects
  4. Danger zone check:
     &gt; if pedestrian in vehicle path
     &gt; trigger buzzer + OLED alert
  5. Detection result published to MQTT (V2N)
Classes:  person  |  bicycle  |  motorcycle</a:t>
            </a:r>
          </a:p>
        </p:txBody>
      </p:sp>
      <p:sp>
        <p:nvSpPr>
          <p:cNvPr id="13" name="Rectangle: Rounded Corners 12">
            <a:extLst>
              <a:ext uri="{FF2B5EF4-FFF2-40B4-BE49-F238E27FC236}">
                <a16:creationId xmlns:a16="http://schemas.microsoft.com/office/drawing/2014/main" id="{D089488B-7FB2-2EC7-4648-2099B4486094}"/>
              </a:ext>
            </a:extLst>
          </p:cNvPr>
          <p:cNvSpPr/>
          <p:nvPr/>
        </p:nvSpPr>
        <p:spPr>
          <a:xfrm>
            <a:off x="6096000" y="965200"/>
            <a:ext cx="5842000" cy="5588000"/>
          </a:xfrm>
          <a:prstGeom prst="roundRect">
            <a:avLst/>
          </a:prstGeom>
          <a:solidFill>
            <a:srgbClr val="12284B"/>
          </a:solidFill>
          <a:ln>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E2CAC0C-1343-3094-CDA9-39ACEB29DF5B}"/>
              </a:ext>
            </a:extLst>
          </p:cNvPr>
          <p:cNvSpPr txBox="1"/>
          <p:nvPr/>
        </p:nvSpPr>
        <p:spPr>
          <a:xfrm>
            <a:off x="6324600" y="1117600"/>
            <a:ext cx="5384800" cy="323165"/>
          </a:xfrm>
          <a:prstGeom prst="rect">
            <a:avLst/>
          </a:prstGeom>
          <a:noFill/>
        </p:spPr>
        <p:txBody>
          <a:bodyPr vert="horz" wrap="square" rtlCol="0">
            <a:noAutofit/>
          </a:bodyPr>
          <a:lstStyle/>
          <a:p>
            <a:r>
              <a:rPr lang="en-US" sz="1500" b="1">
                <a:solidFill>
                  <a:srgbClr val="FFB400"/>
                </a:solidFill>
              </a:rPr>
              <a:t>Alert System and Performance</a:t>
            </a:r>
          </a:p>
        </p:txBody>
      </p:sp>
      <p:cxnSp>
        <p:nvCxnSpPr>
          <p:cNvPr id="15" name="Straight Connector 14">
            <a:extLst>
              <a:ext uri="{FF2B5EF4-FFF2-40B4-BE49-F238E27FC236}">
                <a16:creationId xmlns:a16="http://schemas.microsoft.com/office/drawing/2014/main" id="{A454282A-7248-CDD8-D3F5-CF9232D50727}"/>
              </a:ext>
            </a:extLst>
          </p:cNvPr>
          <p:cNvCxnSpPr/>
          <p:nvPr/>
        </p:nvCxnSpPr>
        <p:spPr>
          <a:xfrm>
            <a:off x="6324600" y="1485900"/>
            <a:ext cx="5461000" cy="0"/>
          </a:xfrm>
          <a:prstGeom prst="line">
            <a:avLst/>
          </a:prstGeom>
          <a:ln w="12700">
            <a:solidFill>
              <a:srgbClr val="A06E00"/>
            </a:solidFill>
          </a:ln>
        </p:spPr>
        <p:style>
          <a:lnRef idx="2">
            <a:schemeClr val="accent1"/>
          </a:lnRef>
          <a:fillRef idx="0">
            <a:schemeClr val="accent1"/>
          </a:fillRef>
          <a:effectRef idx="1">
            <a:schemeClr val="accent1"/>
          </a:effectRef>
          <a:fontRef idx="minor">
            <a:schemeClr val="tx1"/>
          </a:fontRef>
        </p:style>
      </p:cxnSp>
      <p:sp>
        <p:nvSpPr>
          <p:cNvPr id="16" name="Rectangle: Rounded Corners 15">
            <a:extLst>
              <a:ext uri="{FF2B5EF4-FFF2-40B4-BE49-F238E27FC236}">
                <a16:creationId xmlns:a16="http://schemas.microsoft.com/office/drawing/2014/main" id="{18DE57D6-B344-091D-9CD0-95843B729D48}"/>
              </a:ext>
            </a:extLst>
          </p:cNvPr>
          <p:cNvSpPr/>
          <p:nvPr/>
        </p:nvSpPr>
        <p:spPr>
          <a:xfrm>
            <a:off x="6324600" y="1574800"/>
            <a:ext cx="5588000" cy="914400"/>
          </a:xfrm>
          <a:prstGeom prst="roundRect">
            <a:avLst/>
          </a:prstGeom>
          <a:solidFill>
            <a:srgbClr val="231905"/>
          </a:solidFill>
          <a:ln w="12700">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CD90E334-9F21-2418-E4CA-4B8807FF1865}"/>
              </a:ext>
            </a:extLst>
          </p:cNvPr>
          <p:cNvSpPr/>
          <p:nvPr/>
        </p:nvSpPr>
        <p:spPr>
          <a:xfrm>
            <a:off x="6324600" y="1574800"/>
            <a:ext cx="76200" cy="914400"/>
          </a:xfrm>
          <a:prstGeom prst="rect">
            <a:avLst/>
          </a:prstGeom>
          <a:solidFill>
            <a:srgbClr val="FFB4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519D81A-3C62-A0DA-741E-CCC58AC5CC6D}"/>
              </a:ext>
            </a:extLst>
          </p:cNvPr>
          <p:cNvSpPr txBox="1"/>
          <p:nvPr/>
        </p:nvSpPr>
        <p:spPr>
          <a:xfrm>
            <a:off x="6527800" y="1651000"/>
            <a:ext cx="5257800" cy="307777"/>
          </a:xfrm>
          <a:prstGeom prst="rect">
            <a:avLst/>
          </a:prstGeom>
          <a:noFill/>
        </p:spPr>
        <p:txBody>
          <a:bodyPr vert="horz" wrap="square" rtlCol="0">
            <a:noAutofit/>
          </a:bodyPr>
          <a:lstStyle/>
          <a:p>
            <a:r>
              <a:rPr lang="en-US" sz="1400" b="1">
                <a:solidFill>
                  <a:srgbClr val="FFFFFF"/>
                </a:solidFill>
              </a:rPr>
              <a:t>Audio Alert</a:t>
            </a:r>
          </a:p>
        </p:txBody>
      </p:sp>
      <p:sp>
        <p:nvSpPr>
          <p:cNvPr id="19" name="TextBox 18">
            <a:extLst>
              <a:ext uri="{FF2B5EF4-FFF2-40B4-BE49-F238E27FC236}">
                <a16:creationId xmlns:a16="http://schemas.microsoft.com/office/drawing/2014/main" id="{0FC8FF93-5A1E-5146-C1B8-179B1B85A3EB}"/>
              </a:ext>
            </a:extLst>
          </p:cNvPr>
          <p:cNvSpPr txBox="1"/>
          <p:nvPr/>
        </p:nvSpPr>
        <p:spPr>
          <a:xfrm>
            <a:off x="6527800" y="1981200"/>
            <a:ext cx="5257800" cy="276999"/>
          </a:xfrm>
          <a:prstGeom prst="rect">
            <a:avLst/>
          </a:prstGeom>
          <a:noFill/>
        </p:spPr>
        <p:txBody>
          <a:bodyPr vert="horz" wrap="square" rtlCol="0">
            <a:noAutofit/>
          </a:bodyPr>
          <a:lstStyle/>
          <a:p>
            <a:r>
              <a:rPr lang="en-US" sz="1200">
                <a:solidFill>
                  <a:srgbClr val="5A6E8C"/>
                </a:solidFill>
              </a:rPr>
              <a:t>Buzzer triggers immediately when pedestrian enters danger zone.</a:t>
            </a:r>
          </a:p>
        </p:txBody>
      </p:sp>
      <p:sp>
        <p:nvSpPr>
          <p:cNvPr id="20" name="Rectangle: Rounded Corners 19">
            <a:extLst>
              <a:ext uri="{FF2B5EF4-FFF2-40B4-BE49-F238E27FC236}">
                <a16:creationId xmlns:a16="http://schemas.microsoft.com/office/drawing/2014/main" id="{7792E5A5-EC58-5091-4F55-D71A88F76241}"/>
              </a:ext>
            </a:extLst>
          </p:cNvPr>
          <p:cNvSpPr/>
          <p:nvPr/>
        </p:nvSpPr>
        <p:spPr>
          <a:xfrm>
            <a:off x="6324600" y="2590800"/>
            <a:ext cx="5588000" cy="914400"/>
          </a:xfrm>
          <a:prstGeom prst="roundRect">
            <a:avLst/>
          </a:prstGeom>
          <a:solidFill>
            <a:srgbClr val="231905"/>
          </a:solidFill>
          <a:ln w="12700">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A20306D-8AE2-5615-F943-37A1EF41226A}"/>
              </a:ext>
            </a:extLst>
          </p:cNvPr>
          <p:cNvSpPr/>
          <p:nvPr/>
        </p:nvSpPr>
        <p:spPr>
          <a:xfrm>
            <a:off x="6324600" y="2590800"/>
            <a:ext cx="76200" cy="914400"/>
          </a:xfrm>
          <a:prstGeom prst="rect">
            <a:avLst/>
          </a:prstGeom>
          <a:solidFill>
            <a:srgbClr val="FFB4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F7752AE-BC7B-9E6D-86F7-E5E3D0A2989B}"/>
              </a:ext>
            </a:extLst>
          </p:cNvPr>
          <p:cNvSpPr txBox="1"/>
          <p:nvPr/>
        </p:nvSpPr>
        <p:spPr>
          <a:xfrm>
            <a:off x="6527800" y="2667000"/>
            <a:ext cx="5257800" cy="307777"/>
          </a:xfrm>
          <a:prstGeom prst="rect">
            <a:avLst/>
          </a:prstGeom>
          <a:noFill/>
        </p:spPr>
        <p:txBody>
          <a:bodyPr vert="horz" wrap="square" rtlCol="0">
            <a:noAutofit/>
          </a:bodyPr>
          <a:lstStyle/>
          <a:p>
            <a:r>
              <a:rPr lang="en-US" sz="1400" b="1">
                <a:solidFill>
                  <a:srgbClr val="FFFFFF"/>
                </a:solidFill>
              </a:rPr>
              <a:t>Visual Warning</a:t>
            </a:r>
          </a:p>
        </p:txBody>
      </p:sp>
      <p:sp>
        <p:nvSpPr>
          <p:cNvPr id="23" name="TextBox 22">
            <a:extLst>
              <a:ext uri="{FF2B5EF4-FFF2-40B4-BE49-F238E27FC236}">
                <a16:creationId xmlns:a16="http://schemas.microsoft.com/office/drawing/2014/main" id="{4576FFBC-FA36-FFDF-D30A-12AB1B68E143}"/>
              </a:ext>
            </a:extLst>
          </p:cNvPr>
          <p:cNvSpPr txBox="1"/>
          <p:nvPr/>
        </p:nvSpPr>
        <p:spPr>
          <a:xfrm>
            <a:off x="6527800" y="2997200"/>
            <a:ext cx="5257800" cy="276999"/>
          </a:xfrm>
          <a:prstGeom prst="rect">
            <a:avLst/>
          </a:prstGeom>
          <a:noFill/>
        </p:spPr>
        <p:txBody>
          <a:bodyPr vert="horz" wrap="square" rtlCol="0">
            <a:noAutofit/>
          </a:bodyPr>
          <a:lstStyle/>
          <a:p>
            <a:r>
              <a:rPr lang="en-US" sz="1200">
                <a:solidFill>
                  <a:srgbClr val="5A6E8C"/>
                </a:solidFill>
              </a:rPr>
              <a:t>OLED display shows PEDESTRIAN DETECTED with distance estimate.</a:t>
            </a:r>
          </a:p>
        </p:txBody>
      </p:sp>
      <p:sp>
        <p:nvSpPr>
          <p:cNvPr id="24" name="Rectangle: Rounded Corners 23">
            <a:extLst>
              <a:ext uri="{FF2B5EF4-FFF2-40B4-BE49-F238E27FC236}">
                <a16:creationId xmlns:a16="http://schemas.microsoft.com/office/drawing/2014/main" id="{EDEC6CC1-911C-2067-4BE5-3FCD908D736B}"/>
              </a:ext>
            </a:extLst>
          </p:cNvPr>
          <p:cNvSpPr/>
          <p:nvPr/>
        </p:nvSpPr>
        <p:spPr>
          <a:xfrm>
            <a:off x="6324600" y="3606800"/>
            <a:ext cx="5588000" cy="914400"/>
          </a:xfrm>
          <a:prstGeom prst="roundRect">
            <a:avLst/>
          </a:prstGeom>
          <a:solidFill>
            <a:srgbClr val="231905"/>
          </a:solidFill>
          <a:ln w="12700">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D4724D83-114C-8239-27D4-2DAE3EDD2E38}"/>
              </a:ext>
            </a:extLst>
          </p:cNvPr>
          <p:cNvSpPr/>
          <p:nvPr/>
        </p:nvSpPr>
        <p:spPr>
          <a:xfrm>
            <a:off x="6324600" y="3606800"/>
            <a:ext cx="76200" cy="914400"/>
          </a:xfrm>
          <a:prstGeom prst="rect">
            <a:avLst/>
          </a:prstGeom>
          <a:solidFill>
            <a:srgbClr val="FFB4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7BB354AB-2405-86C1-C7A1-DB4ACFBAA9E9}"/>
              </a:ext>
            </a:extLst>
          </p:cNvPr>
          <p:cNvSpPr txBox="1"/>
          <p:nvPr/>
        </p:nvSpPr>
        <p:spPr>
          <a:xfrm>
            <a:off x="6527800" y="3683000"/>
            <a:ext cx="5257800" cy="307777"/>
          </a:xfrm>
          <a:prstGeom prst="rect">
            <a:avLst/>
          </a:prstGeom>
          <a:noFill/>
        </p:spPr>
        <p:txBody>
          <a:bodyPr vert="horz" wrap="square" rtlCol="0">
            <a:noAutofit/>
          </a:bodyPr>
          <a:lstStyle/>
          <a:p>
            <a:r>
              <a:rPr lang="en-US" sz="1400" b="1">
                <a:solidFill>
                  <a:srgbClr val="FFFFFF"/>
                </a:solidFill>
              </a:rPr>
              <a:t>Real-Time Inference</a:t>
            </a:r>
          </a:p>
        </p:txBody>
      </p:sp>
      <p:sp>
        <p:nvSpPr>
          <p:cNvPr id="27" name="TextBox 26">
            <a:extLst>
              <a:ext uri="{FF2B5EF4-FFF2-40B4-BE49-F238E27FC236}">
                <a16:creationId xmlns:a16="http://schemas.microsoft.com/office/drawing/2014/main" id="{34508251-BA43-E683-4F55-A1350264DCC2}"/>
              </a:ext>
            </a:extLst>
          </p:cNvPr>
          <p:cNvSpPr txBox="1"/>
          <p:nvPr/>
        </p:nvSpPr>
        <p:spPr>
          <a:xfrm>
            <a:off x="6527800" y="4013200"/>
            <a:ext cx="5257800" cy="276999"/>
          </a:xfrm>
          <a:prstGeom prst="rect">
            <a:avLst/>
          </a:prstGeom>
          <a:noFill/>
        </p:spPr>
        <p:txBody>
          <a:bodyPr vert="horz" wrap="square" rtlCol="0">
            <a:noAutofit/>
          </a:bodyPr>
          <a:lstStyle/>
          <a:p>
            <a:r>
              <a:rPr lang="en-US" sz="1200">
                <a:solidFill>
                  <a:srgbClr val="5A6E8C"/>
                </a:solidFill>
              </a:rPr>
              <a:t>YOLO runs at real-time frame rate on Raspberry Pi 4B CPU.</a:t>
            </a:r>
          </a:p>
        </p:txBody>
      </p:sp>
      <p:sp>
        <p:nvSpPr>
          <p:cNvPr id="28" name="Rectangle: Rounded Corners 27">
            <a:extLst>
              <a:ext uri="{FF2B5EF4-FFF2-40B4-BE49-F238E27FC236}">
                <a16:creationId xmlns:a16="http://schemas.microsoft.com/office/drawing/2014/main" id="{8C01B5AB-659E-A284-E679-1D5A6BC73B72}"/>
              </a:ext>
            </a:extLst>
          </p:cNvPr>
          <p:cNvSpPr/>
          <p:nvPr/>
        </p:nvSpPr>
        <p:spPr>
          <a:xfrm>
            <a:off x="6324600" y="4622800"/>
            <a:ext cx="5588000" cy="914400"/>
          </a:xfrm>
          <a:prstGeom prst="roundRect">
            <a:avLst/>
          </a:prstGeom>
          <a:solidFill>
            <a:srgbClr val="231905"/>
          </a:solidFill>
          <a:ln w="12700">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8DBA7FE-03A2-3E5A-659F-485E4BF76C9D}"/>
              </a:ext>
            </a:extLst>
          </p:cNvPr>
          <p:cNvSpPr/>
          <p:nvPr/>
        </p:nvSpPr>
        <p:spPr>
          <a:xfrm>
            <a:off x="6324600" y="4622800"/>
            <a:ext cx="76200" cy="914400"/>
          </a:xfrm>
          <a:prstGeom prst="rect">
            <a:avLst/>
          </a:prstGeom>
          <a:solidFill>
            <a:srgbClr val="FFB4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14A8CE58-224C-E71B-FE53-5AACB4630460}"/>
              </a:ext>
            </a:extLst>
          </p:cNvPr>
          <p:cNvSpPr txBox="1"/>
          <p:nvPr/>
        </p:nvSpPr>
        <p:spPr>
          <a:xfrm>
            <a:off x="6527800" y="4699000"/>
            <a:ext cx="5257800" cy="307777"/>
          </a:xfrm>
          <a:prstGeom prst="rect">
            <a:avLst/>
          </a:prstGeom>
          <a:noFill/>
        </p:spPr>
        <p:txBody>
          <a:bodyPr vert="horz" wrap="square" rtlCol="0">
            <a:noAutofit/>
          </a:bodyPr>
          <a:lstStyle/>
          <a:p>
            <a:r>
              <a:rPr lang="en-US" sz="1400" b="1">
                <a:solidFill>
                  <a:srgbClr val="FFFFFF"/>
                </a:solidFill>
              </a:rPr>
              <a:t>Cloud Logging</a:t>
            </a:r>
          </a:p>
        </p:txBody>
      </p:sp>
      <p:sp>
        <p:nvSpPr>
          <p:cNvPr id="31" name="TextBox 30">
            <a:extLst>
              <a:ext uri="{FF2B5EF4-FFF2-40B4-BE49-F238E27FC236}">
                <a16:creationId xmlns:a16="http://schemas.microsoft.com/office/drawing/2014/main" id="{3A96C027-7CB6-5C57-29E8-5A57B81714E1}"/>
              </a:ext>
            </a:extLst>
          </p:cNvPr>
          <p:cNvSpPr txBox="1"/>
          <p:nvPr/>
        </p:nvSpPr>
        <p:spPr>
          <a:xfrm>
            <a:off x="6527800" y="5029200"/>
            <a:ext cx="5257800" cy="276999"/>
          </a:xfrm>
          <a:prstGeom prst="rect">
            <a:avLst/>
          </a:prstGeom>
          <a:noFill/>
        </p:spPr>
        <p:txBody>
          <a:bodyPr vert="horz" wrap="square" rtlCol="0">
            <a:noAutofit/>
          </a:bodyPr>
          <a:lstStyle/>
          <a:p>
            <a:r>
              <a:rPr lang="en-US" sz="1200">
                <a:solidFill>
                  <a:srgbClr val="5A6E8C"/>
                </a:solidFill>
              </a:rPr>
              <a:t>Detection events with confidence score published to MQTT dashboard.</a:t>
            </a:r>
          </a:p>
        </p:txBody>
      </p:sp>
      <p:sp>
        <p:nvSpPr>
          <p:cNvPr id="32" name="Rectangle: Rounded Corners 31">
            <a:extLst>
              <a:ext uri="{FF2B5EF4-FFF2-40B4-BE49-F238E27FC236}">
                <a16:creationId xmlns:a16="http://schemas.microsoft.com/office/drawing/2014/main" id="{5B7C575B-0677-FD3B-984F-CB9C133FDBD7}"/>
              </a:ext>
            </a:extLst>
          </p:cNvPr>
          <p:cNvSpPr/>
          <p:nvPr/>
        </p:nvSpPr>
        <p:spPr>
          <a:xfrm>
            <a:off x="6324600" y="5638800"/>
            <a:ext cx="5588000" cy="914400"/>
          </a:xfrm>
          <a:prstGeom prst="roundRect">
            <a:avLst/>
          </a:prstGeom>
          <a:solidFill>
            <a:srgbClr val="231905"/>
          </a:solidFill>
          <a:ln w="12700">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5E5DAED1-8230-87DE-49B8-D964AC2418C8}"/>
              </a:ext>
            </a:extLst>
          </p:cNvPr>
          <p:cNvSpPr/>
          <p:nvPr/>
        </p:nvSpPr>
        <p:spPr>
          <a:xfrm>
            <a:off x="6324600" y="5638800"/>
            <a:ext cx="76200" cy="914400"/>
          </a:xfrm>
          <a:prstGeom prst="rect">
            <a:avLst/>
          </a:prstGeom>
          <a:solidFill>
            <a:srgbClr val="FFB4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7F12D5CB-E2C0-04C7-8FA0-A4D17F99C2EE}"/>
              </a:ext>
            </a:extLst>
          </p:cNvPr>
          <p:cNvSpPr txBox="1"/>
          <p:nvPr/>
        </p:nvSpPr>
        <p:spPr>
          <a:xfrm>
            <a:off x="6527800" y="5715000"/>
            <a:ext cx="5257800" cy="307777"/>
          </a:xfrm>
          <a:prstGeom prst="rect">
            <a:avLst/>
          </a:prstGeom>
          <a:noFill/>
        </p:spPr>
        <p:txBody>
          <a:bodyPr vert="horz" wrap="square" rtlCol="0">
            <a:noAutofit/>
          </a:bodyPr>
          <a:lstStyle/>
          <a:p>
            <a:r>
              <a:rPr lang="en-US" sz="1400" b="1">
                <a:solidFill>
                  <a:srgbClr val="FFFFFF"/>
                </a:solidFill>
              </a:rPr>
              <a:t>False Positive Control</a:t>
            </a:r>
          </a:p>
        </p:txBody>
      </p:sp>
      <p:sp>
        <p:nvSpPr>
          <p:cNvPr id="35" name="TextBox 34">
            <a:extLst>
              <a:ext uri="{FF2B5EF4-FFF2-40B4-BE49-F238E27FC236}">
                <a16:creationId xmlns:a16="http://schemas.microsoft.com/office/drawing/2014/main" id="{1B309CF6-3F9C-4CED-5F61-463F38337218}"/>
              </a:ext>
            </a:extLst>
          </p:cNvPr>
          <p:cNvSpPr txBox="1"/>
          <p:nvPr/>
        </p:nvSpPr>
        <p:spPr>
          <a:xfrm>
            <a:off x="6527800" y="6045200"/>
            <a:ext cx="5257800" cy="276999"/>
          </a:xfrm>
          <a:prstGeom prst="rect">
            <a:avLst/>
          </a:prstGeom>
          <a:noFill/>
        </p:spPr>
        <p:txBody>
          <a:bodyPr vert="horz" wrap="square" rtlCol="0">
            <a:noAutofit/>
          </a:bodyPr>
          <a:lstStyle/>
          <a:p>
            <a:r>
              <a:rPr lang="en-US" sz="1200">
                <a:solidFill>
                  <a:srgbClr val="5A6E8C"/>
                </a:solidFill>
              </a:rPr>
              <a:t>Confidence threshold tuned to minimise false alerts at speed.</a:t>
            </a:r>
          </a:p>
        </p:txBody>
      </p:sp>
    </p:spTree>
    <p:extLst>
      <p:ext uri="{BB962C8B-B14F-4D97-AF65-F5344CB8AC3E}">
        <p14:creationId xmlns:p14="http://schemas.microsoft.com/office/powerpoint/2010/main" val="5608016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2D1339DC-03E8-B1EC-21A3-026C8E69CE79}"/>
              </a:ext>
            </a:extLst>
          </p:cNvPr>
          <p:cNvCxnSpPr/>
          <p:nvPr/>
        </p:nvCxnSpPr>
        <p:spPr>
          <a:xfrm>
            <a:off x="0" y="63500"/>
            <a:ext cx="12192000" cy="0"/>
          </a:xfrm>
          <a:prstGeom prst="line">
            <a:avLst/>
          </a:prstGeom>
          <a:ln w="50800">
            <a:solidFill>
              <a:srgbClr val="FF4664"/>
            </a:solidFill>
          </a:ln>
        </p:spPr>
        <p:style>
          <a:lnRef idx="2">
            <a:schemeClr val="accent1"/>
          </a:lnRef>
          <a:fillRef idx="0">
            <a:schemeClr val="accent1"/>
          </a:fillRef>
          <a:effectRef idx="1">
            <a:schemeClr val="accent1"/>
          </a:effectRef>
          <a:fontRef idx="minor">
            <a:schemeClr val="tx1"/>
          </a:fontRef>
        </p:style>
      </p:cxnSp>
      <p:sp>
        <p:nvSpPr>
          <p:cNvPr id="3" name="Rectangle: Rounded Corners 2">
            <a:extLst>
              <a:ext uri="{FF2B5EF4-FFF2-40B4-BE49-F238E27FC236}">
                <a16:creationId xmlns:a16="http://schemas.microsoft.com/office/drawing/2014/main" id="{D27CF19A-EDFD-E531-80F0-0990B61A815A}"/>
              </a:ext>
            </a:extLst>
          </p:cNvPr>
          <p:cNvSpPr/>
          <p:nvPr/>
        </p:nvSpPr>
        <p:spPr>
          <a:xfrm>
            <a:off x="381000" y="228600"/>
            <a:ext cx="1143000" cy="508000"/>
          </a:xfrm>
          <a:prstGeom prst="roundRect">
            <a:avLst/>
          </a:prstGeom>
          <a:solidFill>
            <a:srgbClr val="12284B"/>
          </a:solidFill>
          <a:ln w="25400">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E4C1DA5-3FB9-DA2D-FE71-8ADE07418FFE}"/>
              </a:ext>
            </a:extLst>
          </p:cNvPr>
          <p:cNvSpPr txBox="1"/>
          <p:nvPr/>
        </p:nvSpPr>
        <p:spPr>
          <a:xfrm>
            <a:off x="406400" y="228600"/>
            <a:ext cx="1117600" cy="430887"/>
          </a:xfrm>
          <a:prstGeom prst="rect">
            <a:avLst/>
          </a:prstGeom>
          <a:noFill/>
        </p:spPr>
        <p:txBody>
          <a:bodyPr vert="horz" wrap="square" rtlCol="0">
            <a:noAutofit/>
          </a:bodyPr>
          <a:lstStyle/>
          <a:p>
            <a:pPr algn="ctr"/>
            <a:r>
              <a:rPr lang="en-US" sz="2200" b="1">
                <a:solidFill>
                  <a:srgbClr val="FF4664"/>
                </a:solidFill>
              </a:rPr>
              <a:t>V2N</a:t>
            </a:r>
          </a:p>
        </p:txBody>
      </p:sp>
      <p:sp>
        <p:nvSpPr>
          <p:cNvPr id="5" name="TextBox 4">
            <a:extLst>
              <a:ext uri="{FF2B5EF4-FFF2-40B4-BE49-F238E27FC236}">
                <a16:creationId xmlns:a16="http://schemas.microsoft.com/office/drawing/2014/main" id="{7826E051-69AF-72DD-D94A-74AFDA7C0458}"/>
              </a:ext>
            </a:extLst>
          </p:cNvPr>
          <p:cNvSpPr txBox="1"/>
          <p:nvPr/>
        </p:nvSpPr>
        <p:spPr>
          <a:xfrm>
            <a:off x="1676400" y="279400"/>
            <a:ext cx="9017000" cy="461665"/>
          </a:xfrm>
          <a:prstGeom prst="rect">
            <a:avLst/>
          </a:prstGeom>
          <a:noFill/>
        </p:spPr>
        <p:txBody>
          <a:bodyPr vert="horz" wrap="square" rtlCol="0">
            <a:noAutofit/>
          </a:bodyPr>
          <a:lstStyle/>
          <a:p>
            <a:r>
              <a:rPr lang="en-US" sz="2400" b="1">
                <a:solidFill>
                  <a:srgbClr val="FFFFFF"/>
                </a:solidFill>
              </a:rPr>
              <a:t>Vehicle-to-Network  -  Cloud Layer</a:t>
            </a:r>
          </a:p>
        </p:txBody>
      </p:sp>
      <p:sp>
        <p:nvSpPr>
          <p:cNvPr id="6" name="Rectangle: Rounded Corners 5">
            <a:hlinkClick r:id="" action="ppaction://noaction"/>
            <a:extLst>
              <a:ext uri="{FF2B5EF4-FFF2-40B4-BE49-F238E27FC236}">
                <a16:creationId xmlns:a16="http://schemas.microsoft.com/office/drawing/2014/main" id="{C5DA86A7-B6D2-9BF7-7B95-7CC503DEFD1E}"/>
              </a:ext>
            </a:extLst>
          </p:cNvPr>
          <p:cNvSpPr/>
          <p:nvPr/>
        </p:nvSpPr>
        <p:spPr>
          <a:xfrm>
            <a:off x="10668000" y="228600"/>
            <a:ext cx="1143000" cy="457200"/>
          </a:xfrm>
          <a:prstGeom prst="roundRect">
            <a:avLst/>
          </a:prstGeom>
          <a:solidFill>
            <a:srgbClr val="12284B"/>
          </a:solidFill>
          <a:ln w="12700">
            <a:solidFill>
              <a:srgbClr val="5A6E8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3A04553-F143-46A0-1695-BD76B73B79C3}"/>
              </a:ext>
            </a:extLst>
          </p:cNvPr>
          <p:cNvSpPr txBox="1"/>
          <p:nvPr/>
        </p:nvSpPr>
        <p:spPr>
          <a:xfrm>
            <a:off x="10693400" y="254000"/>
            <a:ext cx="1117600" cy="261610"/>
          </a:xfrm>
          <a:prstGeom prst="rect">
            <a:avLst/>
          </a:prstGeom>
          <a:noFill/>
        </p:spPr>
        <p:txBody>
          <a:bodyPr vert="horz" wrap="square" rtlCol="0">
            <a:noAutofit/>
          </a:bodyPr>
          <a:lstStyle/>
          <a:p>
            <a:pPr algn="ctr"/>
            <a:r>
              <a:rPr lang="en-US" sz="1100">
                <a:solidFill>
                  <a:srgbClr val="5A6E8C"/>
                </a:solidFill>
              </a:rPr>
              <a:t>&lt; Menu</a:t>
            </a:r>
          </a:p>
        </p:txBody>
      </p:sp>
      <p:cxnSp>
        <p:nvCxnSpPr>
          <p:cNvPr id="8" name="Straight Connector 7">
            <a:extLst>
              <a:ext uri="{FF2B5EF4-FFF2-40B4-BE49-F238E27FC236}">
                <a16:creationId xmlns:a16="http://schemas.microsoft.com/office/drawing/2014/main" id="{B1FB985A-EE57-367D-E658-EA4043F0291C}"/>
              </a:ext>
            </a:extLst>
          </p:cNvPr>
          <p:cNvCxnSpPr/>
          <p:nvPr/>
        </p:nvCxnSpPr>
        <p:spPr>
          <a:xfrm>
            <a:off x="381000" y="825500"/>
            <a:ext cx="11430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9C253293-B595-52BD-7DC4-BB4C9EBB24AD}"/>
              </a:ext>
            </a:extLst>
          </p:cNvPr>
          <p:cNvSpPr/>
          <p:nvPr/>
        </p:nvSpPr>
        <p:spPr>
          <a:xfrm>
            <a:off x="355600" y="965200"/>
            <a:ext cx="5562600" cy="5588000"/>
          </a:xfrm>
          <a:prstGeom prst="roundRect">
            <a:avLst/>
          </a:prstGeom>
          <a:solidFill>
            <a:srgbClr val="12284B"/>
          </a:solidFill>
          <a:ln>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B5F8FAE7-96B4-F721-0B2B-089E3DB441EF}"/>
              </a:ext>
            </a:extLst>
          </p:cNvPr>
          <p:cNvSpPr txBox="1"/>
          <p:nvPr/>
        </p:nvSpPr>
        <p:spPr>
          <a:xfrm>
            <a:off x="571500" y="1117600"/>
            <a:ext cx="5080000" cy="323165"/>
          </a:xfrm>
          <a:prstGeom prst="rect">
            <a:avLst/>
          </a:prstGeom>
          <a:noFill/>
        </p:spPr>
        <p:txBody>
          <a:bodyPr vert="horz" wrap="square" rtlCol="0">
            <a:noAutofit/>
          </a:bodyPr>
          <a:lstStyle/>
          <a:p>
            <a:r>
              <a:rPr lang="en-US" sz="1500" b="1">
                <a:solidFill>
                  <a:srgbClr val="FF4664"/>
                </a:solidFill>
              </a:rPr>
              <a:t>Architecture</a:t>
            </a:r>
          </a:p>
        </p:txBody>
      </p:sp>
      <p:cxnSp>
        <p:nvCxnSpPr>
          <p:cNvPr id="11" name="Straight Connector 10">
            <a:extLst>
              <a:ext uri="{FF2B5EF4-FFF2-40B4-BE49-F238E27FC236}">
                <a16:creationId xmlns:a16="http://schemas.microsoft.com/office/drawing/2014/main" id="{10F1426D-1ABC-6C6A-250B-E03860D7E3EF}"/>
              </a:ext>
            </a:extLst>
          </p:cNvPr>
          <p:cNvCxnSpPr/>
          <p:nvPr/>
        </p:nvCxnSpPr>
        <p:spPr>
          <a:xfrm>
            <a:off x="571500" y="1485900"/>
            <a:ext cx="5207000" cy="0"/>
          </a:xfrm>
          <a:prstGeom prst="line">
            <a:avLst/>
          </a:prstGeom>
          <a:ln w="12700">
            <a:solidFill>
              <a:srgbClr val="961E32"/>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F1724CE2-6B8B-13DC-06EA-F539D652DFFB}"/>
              </a:ext>
            </a:extLst>
          </p:cNvPr>
          <p:cNvSpPr txBox="1"/>
          <p:nvPr/>
        </p:nvSpPr>
        <p:spPr>
          <a:xfrm>
            <a:off x="571500" y="1574800"/>
            <a:ext cx="5232400" cy="3093154"/>
          </a:xfrm>
          <a:prstGeom prst="rect">
            <a:avLst/>
          </a:prstGeom>
          <a:noFill/>
        </p:spPr>
        <p:txBody>
          <a:bodyPr vert="horz" wrap="square" rtlCol="0">
            <a:noAutofit/>
          </a:bodyPr>
          <a:lstStyle/>
          <a:p>
            <a:r>
              <a:rPr lang="en-US" sz="1300">
                <a:solidFill>
                  <a:srgbClr val="D2E1F0"/>
                </a:solidFill>
              </a:rPr>
              <a:t>Platform:  Raspberry Pi 4B (Wi-Fi / 4G)
Protocol:  MQTT (Message Queuing Telemetry)
Broker:    Cloud MQTT Broker
Data Published at 10 Hz:
  Vehicle speed and heading
  All sensor readings (ultrasonic + IMU)
  V2V ADAS event triggers (FCW, EEBL, ...)
  V2P detections (class, confidence, time)
  V2I received events (SPaT, RSU alerts)
  GPS position for map overlay
Data Received (server to vehicle):
  Remote hazard notifications from fleet
  Priority alert broadcast from RSU cloud</a:t>
            </a:r>
          </a:p>
        </p:txBody>
      </p:sp>
      <p:sp>
        <p:nvSpPr>
          <p:cNvPr id="13" name="Rectangle: Rounded Corners 12">
            <a:extLst>
              <a:ext uri="{FF2B5EF4-FFF2-40B4-BE49-F238E27FC236}">
                <a16:creationId xmlns:a16="http://schemas.microsoft.com/office/drawing/2014/main" id="{E4459BC5-BA54-A5C1-781C-8E4EBB7E1B35}"/>
              </a:ext>
            </a:extLst>
          </p:cNvPr>
          <p:cNvSpPr/>
          <p:nvPr/>
        </p:nvSpPr>
        <p:spPr>
          <a:xfrm>
            <a:off x="6096000" y="965200"/>
            <a:ext cx="5842000" cy="5588000"/>
          </a:xfrm>
          <a:prstGeom prst="roundRect">
            <a:avLst/>
          </a:prstGeom>
          <a:solidFill>
            <a:srgbClr val="12284B"/>
          </a:solidFill>
          <a:ln>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C209228-6413-DDA4-DB49-16E43A79E2D0}"/>
              </a:ext>
            </a:extLst>
          </p:cNvPr>
          <p:cNvSpPr txBox="1"/>
          <p:nvPr/>
        </p:nvSpPr>
        <p:spPr>
          <a:xfrm>
            <a:off x="6324600" y="1117600"/>
            <a:ext cx="5384800" cy="323165"/>
          </a:xfrm>
          <a:prstGeom prst="rect">
            <a:avLst/>
          </a:prstGeom>
          <a:noFill/>
        </p:spPr>
        <p:txBody>
          <a:bodyPr vert="horz" wrap="square" rtlCol="0">
            <a:noAutofit/>
          </a:bodyPr>
          <a:lstStyle/>
          <a:p>
            <a:r>
              <a:rPr lang="en-US" sz="1500" b="1">
                <a:solidFill>
                  <a:srgbClr val="FF4664"/>
                </a:solidFill>
              </a:rPr>
              <a:t>Live Dashboard Features</a:t>
            </a:r>
          </a:p>
        </p:txBody>
      </p:sp>
      <p:cxnSp>
        <p:nvCxnSpPr>
          <p:cNvPr id="15" name="Straight Connector 14">
            <a:extLst>
              <a:ext uri="{FF2B5EF4-FFF2-40B4-BE49-F238E27FC236}">
                <a16:creationId xmlns:a16="http://schemas.microsoft.com/office/drawing/2014/main" id="{61EB759B-752D-5F22-3613-EFFA38722253}"/>
              </a:ext>
            </a:extLst>
          </p:cNvPr>
          <p:cNvCxnSpPr/>
          <p:nvPr/>
        </p:nvCxnSpPr>
        <p:spPr>
          <a:xfrm>
            <a:off x="6324600" y="1485900"/>
            <a:ext cx="5461000" cy="0"/>
          </a:xfrm>
          <a:prstGeom prst="line">
            <a:avLst/>
          </a:prstGeom>
          <a:ln w="12700">
            <a:solidFill>
              <a:srgbClr val="961E32"/>
            </a:solidFill>
          </a:ln>
        </p:spPr>
        <p:style>
          <a:lnRef idx="2">
            <a:schemeClr val="accent1"/>
          </a:lnRef>
          <a:fillRef idx="0">
            <a:schemeClr val="accent1"/>
          </a:fillRef>
          <a:effectRef idx="1">
            <a:schemeClr val="accent1"/>
          </a:effectRef>
          <a:fontRef idx="minor">
            <a:schemeClr val="tx1"/>
          </a:fontRef>
        </p:style>
      </p:cxnSp>
      <p:sp>
        <p:nvSpPr>
          <p:cNvPr id="16" name="Rectangle: Rounded Corners 15">
            <a:extLst>
              <a:ext uri="{FF2B5EF4-FFF2-40B4-BE49-F238E27FC236}">
                <a16:creationId xmlns:a16="http://schemas.microsoft.com/office/drawing/2014/main" id="{47CC81B7-3FD8-BC0F-B1CA-FC6669DBD045}"/>
              </a:ext>
            </a:extLst>
          </p:cNvPr>
          <p:cNvSpPr/>
          <p:nvPr/>
        </p:nvSpPr>
        <p:spPr>
          <a:xfrm>
            <a:off x="6324600" y="1574800"/>
            <a:ext cx="5588000" cy="914400"/>
          </a:xfrm>
          <a:prstGeom prst="roundRect">
            <a:avLst/>
          </a:prstGeom>
          <a:solidFill>
            <a:srgbClr val="23080F"/>
          </a:solidFill>
          <a:ln w="12700">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E6CCC58-8BE0-02E6-D98B-8F351AD310B6}"/>
              </a:ext>
            </a:extLst>
          </p:cNvPr>
          <p:cNvSpPr/>
          <p:nvPr/>
        </p:nvSpPr>
        <p:spPr>
          <a:xfrm>
            <a:off x="6324600" y="1574800"/>
            <a:ext cx="76200" cy="914400"/>
          </a:xfrm>
          <a:prstGeom prst="rect">
            <a:avLst/>
          </a:prstGeom>
          <a:solidFill>
            <a:srgbClr val="FF466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499F6CA3-6227-AC01-00C6-902EB81047A0}"/>
              </a:ext>
            </a:extLst>
          </p:cNvPr>
          <p:cNvSpPr txBox="1"/>
          <p:nvPr/>
        </p:nvSpPr>
        <p:spPr>
          <a:xfrm>
            <a:off x="6527800" y="1651000"/>
            <a:ext cx="5257800" cy="307777"/>
          </a:xfrm>
          <a:prstGeom prst="rect">
            <a:avLst/>
          </a:prstGeom>
          <a:noFill/>
        </p:spPr>
        <p:txBody>
          <a:bodyPr vert="horz" wrap="square" rtlCol="0">
            <a:noAutofit/>
          </a:bodyPr>
          <a:lstStyle/>
          <a:p>
            <a:r>
              <a:rPr lang="en-US" sz="1400" b="1">
                <a:solidFill>
                  <a:srgbClr val="FFFFFF"/>
                </a:solidFill>
              </a:rPr>
              <a:t>Vehicle State Panel</a:t>
            </a:r>
          </a:p>
        </p:txBody>
      </p:sp>
      <p:sp>
        <p:nvSpPr>
          <p:cNvPr id="19" name="TextBox 18">
            <a:extLst>
              <a:ext uri="{FF2B5EF4-FFF2-40B4-BE49-F238E27FC236}">
                <a16:creationId xmlns:a16="http://schemas.microsoft.com/office/drawing/2014/main" id="{D4F55EFE-40B5-1ED0-85D7-7AD019E32283}"/>
              </a:ext>
            </a:extLst>
          </p:cNvPr>
          <p:cNvSpPr txBox="1"/>
          <p:nvPr/>
        </p:nvSpPr>
        <p:spPr>
          <a:xfrm>
            <a:off x="6527800" y="1981200"/>
            <a:ext cx="5257800" cy="276999"/>
          </a:xfrm>
          <a:prstGeom prst="rect">
            <a:avLst/>
          </a:prstGeom>
          <a:noFill/>
        </p:spPr>
        <p:txBody>
          <a:bodyPr vert="horz" wrap="square" rtlCol="0">
            <a:noAutofit/>
          </a:bodyPr>
          <a:lstStyle/>
          <a:p>
            <a:r>
              <a:rPr lang="en-US" sz="1200">
                <a:solidFill>
                  <a:srgbClr val="5A6E8C"/>
                </a:solidFill>
              </a:rPr>
              <a:t>Live speed, heading, sensor values updated every 100 ms.</a:t>
            </a:r>
          </a:p>
        </p:txBody>
      </p:sp>
      <p:sp>
        <p:nvSpPr>
          <p:cNvPr id="20" name="Rectangle: Rounded Corners 19">
            <a:extLst>
              <a:ext uri="{FF2B5EF4-FFF2-40B4-BE49-F238E27FC236}">
                <a16:creationId xmlns:a16="http://schemas.microsoft.com/office/drawing/2014/main" id="{EBB4E42C-6622-3B30-6BEA-10E1B33D6F41}"/>
              </a:ext>
            </a:extLst>
          </p:cNvPr>
          <p:cNvSpPr/>
          <p:nvPr/>
        </p:nvSpPr>
        <p:spPr>
          <a:xfrm>
            <a:off x="6324600" y="2590800"/>
            <a:ext cx="5588000" cy="914400"/>
          </a:xfrm>
          <a:prstGeom prst="roundRect">
            <a:avLst/>
          </a:prstGeom>
          <a:solidFill>
            <a:srgbClr val="23080F"/>
          </a:solidFill>
          <a:ln w="12700">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DC3B45A-AA48-FE07-E7CA-A0195D597C9D}"/>
              </a:ext>
            </a:extLst>
          </p:cNvPr>
          <p:cNvSpPr/>
          <p:nvPr/>
        </p:nvSpPr>
        <p:spPr>
          <a:xfrm>
            <a:off x="6324600" y="2590800"/>
            <a:ext cx="76200" cy="914400"/>
          </a:xfrm>
          <a:prstGeom prst="rect">
            <a:avLst/>
          </a:prstGeom>
          <a:solidFill>
            <a:srgbClr val="FF466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30B5318B-79C6-5301-75C9-7F0A7A55D5E3}"/>
              </a:ext>
            </a:extLst>
          </p:cNvPr>
          <p:cNvSpPr txBox="1"/>
          <p:nvPr/>
        </p:nvSpPr>
        <p:spPr>
          <a:xfrm>
            <a:off x="6527800" y="2667000"/>
            <a:ext cx="5257800" cy="307777"/>
          </a:xfrm>
          <a:prstGeom prst="rect">
            <a:avLst/>
          </a:prstGeom>
          <a:noFill/>
        </p:spPr>
        <p:txBody>
          <a:bodyPr vert="horz" wrap="square" rtlCol="0">
            <a:noAutofit/>
          </a:bodyPr>
          <a:lstStyle/>
          <a:p>
            <a:r>
              <a:rPr lang="en-US" sz="1400" b="1">
                <a:solidFill>
                  <a:srgbClr val="FFFFFF"/>
                </a:solidFill>
              </a:rPr>
              <a:t>Map Overlay</a:t>
            </a:r>
          </a:p>
        </p:txBody>
      </p:sp>
      <p:sp>
        <p:nvSpPr>
          <p:cNvPr id="23" name="TextBox 22">
            <a:extLst>
              <a:ext uri="{FF2B5EF4-FFF2-40B4-BE49-F238E27FC236}">
                <a16:creationId xmlns:a16="http://schemas.microsoft.com/office/drawing/2014/main" id="{488BD452-168A-9EC7-E832-9DFEACC0D101}"/>
              </a:ext>
            </a:extLst>
          </p:cNvPr>
          <p:cNvSpPr txBox="1"/>
          <p:nvPr/>
        </p:nvSpPr>
        <p:spPr>
          <a:xfrm>
            <a:off x="6527800" y="2997200"/>
            <a:ext cx="5257800" cy="276999"/>
          </a:xfrm>
          <a:prstGeom prst="rect">
            <a:avLst/>
          </a:prstGeom>
          <a:noFill/>
        </p:spPr>
        <p:txBody>
          <a:bodyPr vert="horz" wrap="square" rtlCol="0">
            <a:noAutofit/>
          </a:bodyPr>
          <a:lstStyle/>
          <a:p>
            <a:r>
              <a:rPr lang="en-US" sz="1200">
                <a:solidFill>
                  <a:srgbClr val="5A6E8C"/>
                </a:solidFill>
              </a:rPr>
              <a:t>Vehicle position plotted on map with hazard zone markers.</a:t>
            </a:r>
          </a:p>
        </p:txBody>
      </p:sp>
      <p:sp>
        <p:nvSpPr>
          <p:cNvPr id="24" name="Rectangle: Rounded Corners 23">
            <a:extLst>
              <a:ext uri="{FF2B5EF4-FFF2-40B4-BE49-F238E27FC236}">
                <a16:creationId xmlns:a16="http://schemas.microsoft.com/office/drawing/2014/main" id="{79CAE288-1489-70E7-92E2-DCA220CC6616}"/>
              </a:ext>
            </a:extLst>
          </p:cNvPr>
          <p:cNvSpPr/>
          <p:nvPr/>
        </p:nvSpPr>
        <p:spPr>
          <a:xfrm>
            <a:off x="6324600" y="3606800"/>
            <a:ext cx="5588000" cy="914400"/>
          </a:xfrm>
          <a:prstGeom prst="roundRect">
            <a:avLst/>
          </a:prstGeom>
          <a:solidFill>
            <a:srgbClr val="23080F"/>
          </a:solidFill>
          <a:ln w="12700">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858604E-F58A-0A8C-139B-D2A81A2F9FC5}"/>
              </a:ext>
            </a:extLst>
          </p:cNvPr>
          <p:cNvSpPr/>
          <p:nvPr/>
        </p:nvSpPr>
        <p:spPr>
          <a:xfrm>
            <a:off x="6324600" y="3606800"/>
            <a:ext cx="76200" cy="914400"/>
          </a:xfrm>
          <a:prstGeom prst="rect">
            <a:avLst/>
          </a:prstGeom>
          <a:solidFill>
            <a:srgbClr val="FF466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1FBE9B3E-B61C-3307-EC2E-5E299C50D285}"/>
              </a:ext>
            </a:extLst>
          </p:cNvPr>
          <p:cNvSpPr txBox="1"/>
          <p:nvPr/>
        </p:nvSpPr>
        <p:spPr>
          <a:xfrm>
            <a:off x="6527800" y="3683000"/>
            <a:ext cx="5257800" cy="307777"/>
          </a:xfrm>
          <a:prstGeom prst="rect">
            <a:avLst/>
          </a:prstGeom>
          <a:noFill/>
        </p:spPr>
        <p:txBody>
          <a:bodyPr vert="horz" wrap="square" rtlCol="0">
            <a:noAutofit/>
          </a:bodyPr>
          <a:lstStyle/>
          <a:p>
            <a:r>
              <a:rPr lang="en-US" sz="1400" b="1">
                <a:solidFill>
                  <a:srgbClr val="FFFFFF"/>
                </a:solidFill>
              </a:rPr>
              <a:t>ADAS Event Log</a:t>
            </a:r>
          </a:p>
        </p:txBody>
      </p:sp>
      <p:sp>
        <p:nvSpPr>
          <p:cNvPr id="27" name="TextBox 26">
            <a:extLst>
              <a:ext uri="{FF2B5EF4-FFF2-40B4-BE49-F238E27FC236}">
                <a16:creationId xmlns:a16="http://schemas.microsoft.com/office/drawing/2014/main" id="{A1EF9C5D-F181-C27C-8CD2-E5306F40448C}"/>
              </a:ext>
            </a:extLst>
          </p:cNvPr>
          <p:cNvSpPr txBox="1"/>
          <p:nvPr/>
        </p:nvSpPr>
        <p:spPr>
          <a:xfrm>
            <a:off x="6527800" y="4013200"/>
            <a:ext cx="5257800" cy="276999"/>
          </a:xfrm>
          <a:prstGeom prst="rect">
            <a:avLst/>
          </a:prstGeom>
          <a:noFill/>
        </p:spPr>
        <p:txBody>
          <a:bodyPr vert="horz" wrap="square" rtlCol="0">
            <a:noAutofit/>
          </a:bodyPr>
          <a:lstStyle/>
          <a:p>
            <a:r>
              <a:rPr lang="en-US" sz="1200">
                <a:solidFill>
                  <a:srgbClr val="5A6E8C"/>
                </a:solidFill>
              </a:rPr>
              <a:t>Timestamped log of every FCW / EEBL / BSW / DNPW / IMA trigger.</a:t>
            </a:r>
          </a:p>
        </p:txBody>
      </p:sp>
      <p:sp>
        <p:nvSpPr>
          <p:cNvPr id="28" name="Rectangle: Rounded Corners 27">
            <a:extLst>
              <a:ext uri="{FF2B5EF4-FFF2-40B4-BE49-F238E27FC236}">
                <a16:creationId xmlns:a16="http://schemas.microsoft.com/office/drawing/2014/main" id="{5B660211-CC57-08F6-0F9A-BDC7695EBBFC}"/>
              </a:ext>
            </a:extLst>
          </p:cNvPr>
          <p:cNvSpPr/>
          <p:nvPr/>
        </p:nvSpPr>
        <p:spPr>
          <a:xfrm>
            <a:off x="6324600" y="4622800"/>
            <a:ext cx="5588000" cy="914400"/>
          </a:xfrm>
          <a:prstGeom prst="roundRect">
            <a:avLst/>
          </a:prstGeom>
          <a:solidFill>
            <a:srgbClr val="23080F"/>
          </a:solidFill>
          <a:ln w="12700">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6DD02115-C45A-A16A-350C-F879A8498075}"/>
              </a:ext>
            </a:extLst>
          </p:cNvPr>
          <p:cNvSpPr/>
          <p:nvPr/>
        </p:nvSpPr>
        <p:spPr>
          <a:xfrm>
            <a:off x="6324600" y="4622800"/>
            <a:ext cx="76200" cy="914400"/>
          </a:xfrm>
          <a:prstGeom prst="rect">
            <a:avLst/>
          </a:prstGeom>
          <a:solidFill>
            <a:srgbClr val="FF466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8D6E9922-1DB3-B2EF-72CF-948C525B76E2}"/>
              </a:ext>
            </a:extLst>
          </p:cNvPr>
          <p:cNvSpPr txBox="1"/>
          <p:nvPr/>
        </p:nvSpPr>
        <p:spPr>
          <a:xfrm>
            <a:off x="6527800" y="4699000"/>
            <a:ext cx="5257800" cy="307777"/>
          </a:xfrm>
          <a:prstGeom prst="rect">
            <a:avLst/>
          </a:prstGeom>
          <a:noFill/>
        </p:spPr>
        <p:txBody>
          <a:bodyPr vert="horz" wrap="square" rtlCol="0">
            <a:noAutofit/>
          </a:bodyPr>
          <a:lstStyle/>
          <a:p>
            <a:r>
              <a:rPr lang="en-US" sz="1400" b="1">
                <a:solidFill>
                  <a:srgbClr val="FFFFFF"/>
                </a:solidFill>
              </a:rPr>
              <a:t>V2P Detection Feed</a:t>
            </a:r>
          </a:p>
        </p:txBody>
      </p:sp>
      <p:sp>
        <p:nvSpPr>
          <p:cNvPr id="31" name="TextBox 30">
            <a:extLst>
              <a:ext uri="{FF2B5EF4-FFF2-40B4-BE49-F238E27FC236}">
                <a16:creationId xmlns:a16="http://schemas.microsoft.com/office/drawing/2014/main" id="{CE6F4BBC-E63E-6C8F-2D2A-C1584D50D45B}"/>
              </a:ext>
            </a:extLst>
          </p:cNvPr>
          <p:cNvSpPr txBox="1"/>
          <p:nvPr/>
        </p:nvSpPr>
        <p:spPr>
          <a:xfrm>
            <a:off x="6527800" y="5029200"/>
            <a:ext cx="5257800" cy="276999"/>
          </a:xfrm>
          <a:prstGeom prst="rect">
            <a:avLst/>
          </a:prstGeom>
          <a:noFill/>
        </p:spPr>
        <p:txBody>
          <a:bodyPr vert="horz" wrap="square" rtlCol="0">
            <a:noAutofit/>
          </a:bodyPr>
          <a:lstStyle/>
          <a:p>
            <a:r>
              <a:rPr lang="en-US" sz="1200">
                <a:solidFill>
                  <a:srgbClr val="5A6E8C"/>
                </a:solidFill>
              </a:rPr>
              <a:t>Live detection feed with bounding box, class, and confidence.</a:t>
            </a:r>
          </a:p>
        </p:txBody>
      </p:sp>
      <p:sp>
        <p:nvSpPr>
          <p:cNvPr id="32" name="Rectangle: Rounded Corners 31">
            <a:extLst>
              <a:ext uri="{FF2B5EF4-FFF2-40B4-BE49-F238E27FC236}">
                <a16:creationId xmlns:a16="http://schemas.microsoft.com/office/drawing/2014/main" id="{71080CF1-E8A2-8435-6A1F-F08EB70794E9}"/>
              </a:ext>
            </a:extLst>
          </p:cNvPr>
          <p:cNvSpPr/>
          <p:nvPr/>
        </p:nvSpPr>
        <p:spPr>
          <a:xfrm>
            <a:off x="6324600" y="5638800"/>
            <a:ext cx="5588000" cy="914400"/>
          </a:xfrm>
          <a:prstGeom prst="roundRect">
            <a:avLst/>
          </a:prstGeom>
          <a:solidFill>
            <a:srgbClr val="23080F"/>
          </a:solidFill>
          <a:ln w="12700">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6055B4B-B5F1-4451-E4CB-65A3AEC4D627}"/>
              </a:ext>
            </a:extLst>
          </p:cNvPr>
          <p:cNvSpPr/>
          <p:nvPr/>
        </p:nvSpPr>
        <p:spPr>
          <a:xfrm>
            <a:off x="6324600" y="5638800"/>
            <a:ext cx="76200" cy="914400"/>
          </a:xfrm>
          <a:prstGeom prst="rect">
            <a:avLst/>
          </a:prstGeom>
          <a:solidFill>
            <a:srgbClr val="FF466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81D38846-6456-9CA2-C889-6649E3501C55}"/>
              </a:ext>
            </a:extLst>
          </p:cNvPr>
          <p:cNvSpPr txBox="1"/>
          <p:nvPr/>
        </p:nvSpPr>
        <p:spPr>
          <a:xfrm>
            <a:off x="6527800" y="5715000"/>
            <a:ext cx="5257800" cy="307777"/>
          </a:xfrm>
          <a:prstGeom prst="rect">
            <a:avLst/>
          </a:prstGeom>
          <a:noFill/>
        </p:spPr>
        <p:txBody>
          <a:bodyPr vert="horz" wrap="square" rtlCol="0">
            <a:noAutofit/>
          </a:bodyPr>
          <a:lstStyle/>
          <a:p>
            <a:r>
              <a:rPr lang="en-US" sz="1400" b="1">
                <a:solidFill>
                  <a:srgbClr val="FFFFFF"/>
                </a:solidFill>
              </a:rPr>
              <a:t>Fleet Alerts</a:t>
            </a:r>
          </a:p>
        </p:txBody>
      </p:sp>
      <p:sp>
        <p:nvSpPr>
          <p:cNvPr id="35" name="TextBox 34">
            <a:extLst>
              <a:ext uri="{FF2B5EF4-FFF2-40B4-BE49-F238E27FC236}">
                <a16:creationId xmlns:a16="http://schemas.microsoft.com/office/drawing/2014/main" id="{97051B3B-0615-8E5F-FCCC-B442EC23FA56}"/>
              </a:ext>
            </a:extLst>
          </p:cNvPr>
          <p:cNvSpPr txBox="1"/>
          <p:nvPr/>
        </p:nvSpPr>
        <p:spPr>
          <a:xfrm>
            <a:off x="6527800" y="6045200"/>
            <a:ext cx="5257800" cy="276999"/>
          </a:xfrm>
          <a:prstGeom prst="rect">
            <a:avLst/>
          </a:prstGeom>
          <a:noFill/>
        </p:spPr>
        <p:txBody>
          <a:bodyPr vert="horz" wrap="square" rtlCol="0">
            <a:noAutofit/>
          </a:bodyPr>
          <a:lstStyle/>
          <a:p>
            <a:r>
              <a:rPr lang="en-US" sz="1200">
                <a:solidFill>
                  <a:srgbClr val="5A6E8C"/>
                </a:solidFill>
              </a:rPr>
              <a:t>Bi-directional: server pushes hazard alerts back to vehicles.</a:t>
            </a:r>
          </a:p>
        </p:txBody>
      </p:sp>
    </p:spTree>
    <p:extLst>
      <p:ext uri="{BB962C8B-B14F-4D97-AF65-F5344CB8AC3E}">
        <p14:creationId xmlns:p14="http://schemas.microsoft.com/office/powerpoint/2010/main" val="3896604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8245EA95-0859-04FC-50A3-E934F6E76334}"/>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DC36BCA-B90F-3B96-B904-BCEF74CD4A75}"/>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27EB7A80-6DC1-5FA7-1114-7D55C3CFEEE5}"/>
              </a:ext>
            </a:extLst>
          </p:cNvPr>
          <p:cNvSpPr txBox="1"/>
          <p:nvPr/>
        </p:nvSpPr>
        <p:spPr>
          <a:xfrm>
            <a:off x="762000" y="228600"/>
            <a:ext cx="10668000" cy="553998"/>
          </a:xfrm>
          <a:prstGeom prst="rect">
            <a:avLst/>
          </a:prstGeom>
          <a:noFill/>
        </p:spPr>
        <p:txBody>
          <a:bodyPr vert="horz" wrap="square" rtlCol="0">
            <a:noAutofit/>
          </a:bodyPr>
          <a:lstStyle/>
          <a:p>
            <a:r>
              <a:rPr lang="en-US" sz="3000" b="1">
                <a:solidFill>
                  <a:srgbClr val="FFFFFF"/>
                </a:solidFill>
              </a:rPr>
              <a:t>Hardware Design  -  Custom PCB</a:t>
            </a:r>
          </a:p>
        </p:txBody>
      </p:sp>
      <p:cxnSp>
        <p:nvCxnSpPr>
          <p:cNvPr id="5" name="Straight Connector 4">
            <a:extLst>
              <a:ext uri="{FF2B5EF4-FFF2-40B4-BE49-F238E27FC236}">
                <a16:creationId xmlns:a16="http://schemas.microsoft.com/office/drawing/2014/main" id="{4273D2CF-12CB-D9D1-94D4-7088BA6D09B0}"/>
              </a:ext>
            </a:extLst>
          </p:cNvPr>
          <p:cNvCxnSpPr/>
          <p:nvPr/>
        </p:nvCxnSpPr>
        <p:spPr>
          <a:xfrm>
            <a:off x="762000" y="889000"/>
            <a:ext cx="10668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0EA7AC8-AACA-05AC-3BFF-AE2700C65521}"/>
              </a:ext>
            </a:extLst>
          </p:cNvPr>
          <p:cNvSpPr txBox="1"/>
          <p:nvPr/>
        </p:nvSpPr>
        <p:spPr>
          <a:xfrm>
            <a:off x="698500" y="1041400"/>
            <a:ext cx="11176000" cy="3293209"/>
          </a:xfrm>
          <a:prstGeom prst="rect">
            <a:avLst/>
          </a:prstGeom>
          <a:noFill/>
        </p:spPr>
        <p:txBody>
          <a:bodyPr vert="horz" wrap="square" rtlCol="0">
            <a:noAutofit/>
          </a:bodyPr>
          <a:lstStyle/>
          <a:p>
            <a:r>
              <a:rPr lang="en-US" sz="1300">
                <a:solidFill>
                  <a:srgbClr val="D2E1F0"/>
                </a:solidFill>
              </a:rPr>
              <a:t>A custom Printed Circuit Board (PCB) was designed in Altium Designer to integrate all embedded hardware into a single compact platform.
Components Integrated:
  STM32F446RE Nucleo-64 ............. Main safety controller (ARM Cortex-M4, 180 MHz)
  ESP32-S3 DevKit C ................. V2V wireless transceiver (ESP-NOW / Wi-Fi / BT)
  5x HC-SR04 Ultrasonic Sensors ..... Front / Rear / Left / Right / Rear-Left
  MPU9250 IMU (SPI) ................. 9-DOF: accelerometer + gyroscope + magnetometer
  0.96 inch OLED Display (I2C) ...... Real-time driver warnings and system status
  Buzzer Driver (PWM) ............... Audio alerts for collision and pedestrian events
  5V and 3.3V Regulators ............ On-board power distribution under full load
  Raspberry Pi 4B ................... Connected via UART for V2I / V2P / V2N functions
Design Highlights:
  Layered firmware: MCAL &gt; HAL &gt; Application (AUTOSAR-inspired structure)
  FreeRTOS task priorities assigned for deterministic real-time behaviour
  RF and sensor circuit routing segregated to minimise EMI</a:t>
            </a:r>
          </a:p>
        </p:txBody>
      </p:sp>
    </p:spTree>
    <p:extLst>
      <p:ext uri="{BB962C8B-B14F-4D97-AF65-F5344CB8AC3E}">
        <p14:creationId xmlns:p14="http://schemas.microsoft.com/office/powerpoint/2010/main" val="2898967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6CDA4126-B006-4A5F-CA03-649D3C542C18}"/>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C6391DD5-3875-F32A-8844-FA59CC475DCC}"/>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7181CFD-4BCA-12F8-97AC-06C98E784F6D}"/>
              </a:ext>
            </a:extLst>
          </p:cNvPr>
          <p:cNvSpPr txBox="1"/>
          <p:nvPr/>
        </p:nvSpPr>
        <p:spPr>
          <a:xfrm>
            <a:off x="762000" y="228600"/>
            <a:ext cx="10668000" cy="553998"/>
          </a:xfrm>
          <a:prstGeom prst="rect">
            <a:avLst/>
          </a:prstGeom>
          <a:noFill/>
        </p:spPr>
        <p:txBody>
          <a:bodyPr vert="horz" wrap="square" rtlCol="0">
            <a:noAutofit/>
          </a:bodyPr>
          <a:lstStyle/>
          <a:p>
            <a:r>
              <a:rPr lang="en-US" sz="3000" b="1">
                <a:solidFill>
                  <a:srgbClr val="FFFFFF"/>
                </a:solidFill>
              </a:rPr>
              <a:t>Results and Testing</a:t>
            </a:r>
          </a:p>
        </p:txBody>
      </p:sp>
      <p:cxnSp>
        <p:nvCxnSpPr>
          <p:cNvPr id="5" name="Straight Connector 4">
            <a:extLst>
              <a:ext uri="{FF2B5EF4-FFF2-40B4-BE49-F238E27FC236}">
                <a16:creationId xmlns:a16="http://schemas.microsoft.com/office/drawing/2014/main" id="{907A65F4-6135-5B43-E26B-B5DB7D133E69}"/>
              </a:ext>
            </a:extLst>
          </p:cNvPr>
          <p:cNvCxnSpPr/>
          <p:nvPr/>
        </p:nvCxnSpPr>
        <p:spPr>
          <a:xfrm>
            <a:off x="762000" y="889000"/>
            <a:ext cx="10668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C1E718E6-BEEA-618D-C5C2-68BB7C1B45AD}"/>
              </a:ext>
            </a:extLst>
          </p:cNvPr>
          <p:cNvSpPr/>
          <p:nvPr/>
        </p:nvSpPr>
        <p:spPr>
          <a:xfrm>
            <a:off x="571500" y="1041400"/>
            <a:ext cx="11303000" cy="914400"/>
          </a:xfrm>
          <a:prstGeom prst="roundRect">
            <a:avLst/>
          </a:prstGeom>
          <a:solidFill>
            <a:srgbClr val="12284B"/>
          </a:solidFill>
          <a:ln>
            <a:solidFill>
              <a:srgbClr val="28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B11D34E-91A0-5B7D-E254-FA247665E346}"/>
              </a:ext>
            </a:extLst>
          </p:cNvPr>
          <p:cNvSpPr/>
          <p:nvPr/>
        </p:nvSpPr>
        <p:spPr>
          <a:xfrm>
            <a:off x="571500" y="1041400"/>
            <a:ext cx="76200" cy="914400"/>
          </a:xfrm>
          <a:prstGeom prst="rect">
            <a:avLst/>
          </a:prstGeom>
          <a:solidFill>
            <a:srgbClr val="288C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5AFC96C-1EF7-1E74-57A6-64820344DFCF}"/>
              </a:ext>
            </a:extLst>
          </p:cNvPr>
          <p:cNvSpPr txBox="1"/>
          <p:nvPr/>
        </p:nvSpPr>
        <p:spPr>
          <a:xfrm>
            <a:off x="762000" y="1295400"/>
            <a:ext cx="863600" cy="338554"/>
          </a:xfrm>
          <a:prstGeom prst="rect">
            <a:avLst/>
          </a:prstGeom>
          <a:noFill/>
        </p:spPr>
        <p:txBody>
          <a:bodyPr vert="horz" wrap="square" rtlCol="0">
            <a:noAutofit/>
          </a:bodyPr>
          <a:lstStyle/>
          <a:p>
            <a:pPr algn="ctr"/>
            <a:r>
              <a:rPr lang="en-US" sz="1600" b="1">
                <a:solidFill>
                  <a:srgbClr val="288CFF"/>
                </a:solidFill>
              </a:rPr>
              <a:t>V2V</a:t>
            </a:r>
          </a:p>
        </p:txBody>
      </p:sp>
      <p:cxnSp>
        <p:nvCxnSpPr>
          <p:cNvPr id="9" name="Straight Connector 8">
            <a:extLst>
              <a:ext uri="{FF2B5EF4-FFF2-40B4-BE49-F238E27FC236}">
                <a16:creationId xmlns:a16="http://schemas.microsoft.com/office/drawing/2014/main" id="{B668A452-9C27-B021-127D-62795F25D1CD}"/>
              </a:ext>
            </a:extLst>
          </p:cNvPr>
          <p:cNvCxnSpPr/>
          <p:nvPr/>
        </p:nvCxnSpPr>
        <p:spPr>
          <a:xfrm>
            <a:off x="1727200" y="1168400"/>
            <a:ext cx="0" cy="63500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AADFCBE7-3949-0BCA-A055-A101F407E04F}"/>
              </a:ext>
            </a:extLst>
          </p:cNvPr>
          <p:cNvSpPr txBox="1"/>
          <p:nvPr/>
        </p:nvSpPr>
        <p:spPr>
          <a:xfrm>
            <a:off x="1879600" y="1143000"/>
            <a:ext cx="9855200" cy="276999"/>
          </a:xfrm>
          <a:prstGeom prst="rect">
            <a:avLst/>
          </a:prstGeom>
          <a:noFill/>
        </p:spPr>
        <p:txBody>
          <a:bodyPr vert="horz" wrap="square" rtlCol="0">
            <a:noAutofit/>
          </a:bodyPr>
          <a:lstStyle/>
          <a:p>
            <a:r>
              <a:rPr lang="en-US" sz="1200">
                <a:solidFill>
                  <a:srgbClr val="D2E1F0"/>
                </a:solidFill>
              </a:rPr>
              <a:t>ESP-NOW latency: 1-2 ms  |  All 5 use cases (FCW, EEBL, BSW, DNPW, IMA) validated on hardware.</a:t>
            </a:r>
          </a:p>
        </p:txBody>
      </p:sp>
      <p:sp>
        <p:nvSpPr>
          <p:cNvPr id="11" name="Rectangle: Rounded Corners 10">
            <a:extLst>
              <a:ext uri="{FF2B5EF4-FFF2-40B4-BE49-F238E27FC236}">
                <a16:creationId xmlns:a16="http://schemas.microsoft.com/office/drawing/2014/main" id="{3C9243DF-39DE-1342-1029-A483408CEA1F}"/>
              </a:ext>
            </a:extLst>
          </p:cNvPr>
          <p:cNvSpPr/>
          <p:nvPr/>
        </p:nvSpPr>
        <p:spPr>
          <a:xfrm>
            <a:off x="571500" y="2082800"/>
            <a:ext cx="11303000" cy="914400"/>
          </a:xfrm>
          <a:prstGeom prst="roundRect">
            <a:avLst/>
          </a:prstGeom>
          <a:solidFill>
            <a:srgbClr val="12284B"/>
          </a:solidFill>
          <a:ln>
            <a:solidFill>
              <a:srgbClr val="00C8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12EA358-0A40-7525-A9A2-ED81B07D05E1}"/>
              </a:ext>
            </a:extLst>
          </p:cNvPr>
          <p:cNvSpPr/>
          <p:nvPr/>
        </p:nvSpPr>
        <p:spPr>
          <a:xfrm>
            <a:off x="571500" y="2082800"/>
            <a:ext cx="76200" cy="914400"/>
          </a:xfrm>
          <a:prstGeom prst="rect">
            <a:avLst/>
          </a:prstGeom>
          <a:solidFill>
            <a:srgbClr val="00C87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27197CF-8C2F-1984-E1EE-E690B1147DBF}"/>
              </a:ext>
            </a:extLst>
          </p:cNvPr>
          <p:cNvSpPr txBox="1"/>
          <p:nvPr/>
        </p:nvSpPr>
        <p:spPr>
          <a:xfrm>
            <a:off x="762000" y="2336800"/>
            <a:ext cx="863600" cy="338554"/>
          </a:xfrm>
          <a:prstGeom prst="rect">
            <a:avLst/>
          </a:prstGeom>
          <a:noFill/>
        </p:spPr>
        <p:txBody>
          <a:bodyPr vert="horz" wrap="square" rtlCol="0">
            <a:noAutofit/>
          </a:bodyPr>
          <a:lstStyle/>
          <a:p>
            <a:pPr algn="ctr"/>
            <a:r>
              <a:rPr lang="en-US" sz="1600" b="1">
                <a:solidFill>
                  <a:srgbClr val="00C878"/>
                </a:solidFill>
              </a:rPr>
              <a:t>V2I</a:t>
            </a:r>
          </a:p>
        </p:txBody>
      </p:sp>
      <p:cxnSp>
        <p:nvCxnSpPr>
          <p:cNvPr id="14" name="Straight Connector 13">
            <a:extLst>
              <a:ext uri="{FF2B5EF4-FFF2-40B4-BE49-F238E27FC236}">
                <a16:creationId xmlns:a16="http://schemas.microsoft.com/office/drawing/2014/main" id="{E8EADD91-3C40-3682-AC2B-CDC3477E2F86}"/>
              </a:ext>
            </a:extLst>
          </p:cNvPr>
          <p:cNvCxnSpPr/>
          <p:nvPr/>
        </p:nvCxnSpPr>
        <p:spPr>
          <a:xfrm>
            <a:off x="1727200" y="2209800"/>
            <a:ext cx="0" cy="63500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4BA1E781-E9AB-8F98-5C9A-26E5FA634BE8}"/>
              </a:ext>
            </a:extLst>
          </p:cNvPr>
          <p:cNvSpPr txBox="1"/>
          <p:nvPr/>
        </p:nvSpPr>
        <p:spPr>
          <a:xfrm>
            <a:off x="1879600" y="2184400"/>
            <a:ext cx="9855200" cy="276999"/>
          </a:xfrm>
          <a:prstGeom prst="rect">
            <a:avLst/>
          </a:prstGeom>
          <a:noFill/>
        </p:spPr>
        <p:txBody>
          <a:bodyPr vert="horz" wrap="square" rtlCol="0">
            <a:noAutofit/>
          </a:bodyPr>
          <a:lstStyle/>
          <a:p>
            <a:r>
              <a:rPr lang="en-US" sz="1200">
                <a:solidFill>
                  <a:srgbClr val="D2E1F0"/>
                </a:solidFill>
              </a:rPr>
              <a:t>Traffic signal SPaT received and processed in real time  |  Speed advisory shown to driver in &lt; 200 ms.</a:t>
            </a:r>
          </a:p>
        </p:txBody>
      </p:sp>
      <p:sp>
        <p:nvSpPr>
          <p:cNvPr id="16" name="Rectangle: Rounded Corners 15">
            <a:extLst>
              <a:ext uri="{FF2B5EF4-FFF2-40B4-BE49-F238E27FC236}">
                <a16:creationId xmlns:a16="http://schemas.microsoft.com/office/drawing/2014/main" id="{2D3F98F4-E440-2354-5D9C-14EA9A97BF33}"/>
              </a:ext>
            </a:extLst>
          </p:cNvPr>
          <p:cNvSpPr/>
          <p:nvPr/>
        </p:nvSpPr>
        <p:spPr>
          <a:xfrm>
            <a:off x="571500" y="3124200"/>
            <a:ext cx="11303000" cy="914400"/>
          </a:xfrm>
          <a:prstGeom prst="roundRect">
            <a:avLst/>
          </a:prstGeom>
          <a:solidFill>
            <a:srgbClr val="12284B"/>
          </a:solidFill>
          <a:ln>
            <a:solidFill>
              <a:srgbClr val="FFB4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82CCDE8-2276-C934-9CBF-8EF8C835763C}"/>
              </a:ext>
            </a:extLst>
          </p:cNvPr>
          <p:cNvSpPr/>
          <p:nvPr/>
        </p:nvSpPr>
        <p:spPr>
          <a:xfrm>
            <a:off x="571500" y="3124200"/>
            <a:ext cx="76200" cy="914400"/>
          </a:xfrm>
          <a:prstGeom prst="rect">
            <a:avLst/>
          </a:prstGeom>
          <a:solidFill>
            <a:srgbClr val="FFB4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89219493-A370-7561-29C3-D22EEA2A5AF2}"/>
              </a:ext>
            </a:extLst>
          </p:cNvPr>
          <p:cNvSpPr txBox="1"/>
          <p:nvPr/>
        </p:nvSpPr>
        <p:spPr>
          <a:xfrm>
            <a:off x="762000" y="3378200"/>
            <a:ext cx="863600" cy="338554"/>
          </a:xfrm>
          <a:prstGeom prst="rect">
            <a:avLst/>
          </a:prstGeom>
          <a:noFill/>
        </p:spPr>
        <p:txBody>
          <a:bodyPr vert="horz" wrap="square" rtlCol="0">
            <a:noAutofit/>
          </a:bodyPr>
          <a:lstStyle/>
          <a:p>
            <a:pPr algn="ctr"/>
            <a:r>
              <a:rPr lang="en-US" sz="1600" b="1">
                <a:solidFill>
                  <a:srgbClr val="FFB400"/>
                </a:solidFill>
              </a:rPr>
              <a:t>V2P</a:t>
            </a:r>
          </a:p>
        </p:txBody>
      </p:sp>
      <p:cxnSp>
        <p:nvCxnSpPr>
          <p:cNvPr id="19" name="Straight Connector 18">
            <a:extLst>
              <a:ext uri="{FF2B5EF4-FFF2-40B4-BE49-F238E27FC236}">
                <a16:creationId xmlns:a16="http://schemas.microsoft.com/office/drawing/2014/main" id="{333C0CC7-F10D-F8E6-AEBD-D4985C2DE298}"/>
              </a:ext>
            </a:extLst>
          </p:cNvPr>
          <p:cNvCxnSpPr/>
          <p:nvPr/>
        </p:nvCxnSpPr>
        <p:spPr>
          <a:xfrm>
            <a:off x="1727200" y="3251200"/>
            <a:ext cx="0" cy="63500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CA19A9C-1AC7-717F-97F1-9560955E83D1}"/>
              </a:ext>
            </a:extLst>
          </p:cNvPr>
          <p:cNvSpPr txBox="1"/>
          <p:nvPr/>
        </p:nvSpPr>
        <p:spPr>
          <a:xfrm>
            <a:off x="1879600" y="3225800"/>
            <a:ext cx="9855200" cy="276999"/>
          </a:xfrm>
          <a:prstGeom prst="rect">
            <a:avLst/>
          </a:prstGeom>
          <a:noFill/>
        </p:spPr>
        <p:txBody>
          <a:bodyPr vert="horz" wrap="square" rtlCol="0">
            <a:noAutofit/>
          </a:bodyPr>
          <a:lstStyle/>
          <a:p>
            <a:r>
              <a:rPr lang="en-US" sz="1200">
                <a:solidFill>
                  <a:srgbClr val="D2E1F0"/>
                </a:solidFill>
              </a:rPr>
              <a:t>Pedestrian detection at real-time frame rate on RPi 4B  |  Audio-visual alert latency &lt; 500 ms.</a:t>
            </a:r>
          </a:p>
        </p:txBody>
      </p:sp>
      <p:sp>
        <p:nvSpPr>
          <p:cNvPr id="21" name="Rectangle: Rounded Corners 20">
            <a:extLst>
              <a:ext uri="{FF2B5EF4-FFF2-40B4-BE49-F238E27FC236}">
                <a16:creationId xmlns:a16="http://schemas.microsoft.com/office/drawing/2014/main" id="{72A4B1DF-BF6C-4C1C-FC86-BA8FE5BD23F8}"/>
              </a:ext>
            </a:extLst>
          </p:cNvPr>
          <p:cNvSpPr/>
          <p:nvPr/>
        </p:nvSpPr>
        <p:spPr>
          <a:xfrm>
            <a:off x="571500" y="4165600"/>
            <a:ext cx="11303000" cy="914400"/>
          </a:xfrm>
          <a:prstGeom prst="roundRect">
            <a:avLst/>
          </a:prstGeom>
          <a:solidFill>
            <a:srgbClr val="12284B"/>
          </a:solidFill>
          <a:ln>
            <a:solidFill>
              <a:srgbClr val="FF46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83FD81D1-3767-E924-8276-5B1DCBF078E0}"/>
              </a:ext>
            </a:extLst>
          </p:cNvPr>
          <p:cNvSpPr/>
          <p:nvPr/>
        </p:nvSpPr>
        <p:spPr>
          <a:xfrm>
            <a:off x="571500" y="4165600"/>
            <a:ext cx="76200" cy="914400"/>
          </a:xfrm>
          <a:prstGeom prst="rect">
            <a:avLst/>
          </a:prstGeom>
          <a:solidFill>
            <a:srgbClr val="FF466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D784F2F5-23A2-E00A-9CD0-40DC05E9EC7B}"/>
              </a:ext>
            </a:extLst>
          </p:cNvPr>
          <p:cNvSpPr txBox="1"/>
          <p:nvPr/>
        </p:nvSpPr>
        <p:spPr>
          <a:xfrm>
            <a:off x="762000" y="4419600"/>
            <a:ext cx="863600" cy="338554"/>
          </a:xfrm>
          <a:prstGeom prst="rect">
            <a:avLst/>
          </a:prstGeom>
          <a:noFill/>
        </p:spPr>
        <p:txBody>
          <a:bodyPr vert="horz" wrap="square" rtlCol="0">
            <a:noAutofit/>
          </a:bodyPr>
          <a:lstStyle/>
          <a:p>
            <a:pPr algn="ctr"/>
            <a:r>
              <a:rPr lang="en-US" sz="1600" b="1">
                <a:solidFill>
                  <a:srgbClr val="FF4664"/>
                </a:solidFill>
              </a:rPr>
              <a:t>V2N</a:t>
            </a:r>
          </a:p>
        </p:txBody>
      </p:sp>
      <p:cxnSp>
        <p:nvCxnSpPr>
          <p:cNvPr id="24" name="Straight Connector 23">
            <a:extLst>
              <a:ext uri="{FF2B5EF4-FFF2-40B4-BE49-F238E27FC236}">
                <a16:creationId xmlns:a16="http://schemas.microsoft.com/office/drawing/2014/main" id="{C1D85AF3-1134-8E81-FDE7-4F16F4ADB764}"/>
              </a:ext>
            </a:extLst>
          </p:cNvPr>
          <p:cNvCxnSpPr/>
          <p:nvPr/>
        </p:nvCxnSpPr>
        <p:spPr>
          <a:xfrm>
            <a:off x="1727200" y="4292600"/>
            <a:ext cx="0" cy="63500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FC80F32-10EB-0168-66AE-225CE2E5F083}"/>
              </a:ext>
            </a:extLst>
          </p:cNvPr>
          <p:cNvSpPr txBox="1"/>
          <p:nvPr/>
        </p:nvSpPr>
        <p:spPr>
          <a:xfrm>
            <a:off x="1879600" y="4267200"/>
            <a:ext cx="9855200" cy="276999"/>
          </a:xfrm>
          <a:prstGeom prst="rect">
            <a:avLst/>
          </a:prstGeom>
          <a:noFill/>
        </p:spPr>
        <p:txBody>
          <a:bodyPr vert="horz" wrap="square" rtlCol="0">
            <a:noAutofit/>
          </a:bodyPr>
          <a:lstStyle/>
          <a:p>
            <a:r>
              <a:rPr lang="en-US" sz="1200">
                <a:solidFill>
                  <a:srgbClr val="D2E1F0"/>
                </a:solidFill>
              </a:rPr>
              <a:t>MQTT publish rate: 10 Hz  |  Live dashboard verified over Wi-Fi  |  Bi-directional alert confirmed.</a:t>
            </a:r>
          </a:p>
        </p:txBody>
      </p:sp>
      <p:sp>
        <p:nvSpPr>
          <p:cNvPr id="26" name="Rectangle: Rounded Corners 25">
            <a:extLst>
              <a:ext uri="{FF2B5EF4-FFF2-40B4-BE49-F238E27FC236}">
                <a16:creationId xmlns:a16="http://schemas.microsoft.com/office/drawing/2014/main" id="{5B3BAB74-0F55-CA08-3DDE-78628EBDE08F}"/>
              </a:ext>
            </a:extLst>
          </p:cNvPr>
          <p:cNvSpPr/>
          <p:nvPr/>
        </p:nvSpPr>
        <p:spPr>
          <a:xfrm>
            <a:off x="571500" y="5207000"/>
            <a:ext cx="11303000" cy="914400"/>
          </a:xfrm>
          <a:prstGeom prst="roundRect">
            <a:avLst/>
          </a:prstGeom>
          <a:solidFill>
            <a:srgbClr val="12284B"/>
          </a:solidFill>
          <a:ln>
            <a:solidFill>
              <a:srgbClr val="00D4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F666EB47-0094-0419-C408-1833C476A2F9}"/>
              </a:ext>
            </a:extLst>
          </p:cNvPr>
          <p:cNvSpPr/>
          <p:nvPr/>
        </p:nvSpPr>
        <p:spPr>
          <a:xfrm>
            <a:off x="571500" y="5207000"/>
            <a:ext cx="76200" cy="914400"/>
          </a:xfrm>
          <a:prstGeom prst="rect">
            <a:avLst/>
          </a:prstGeom>
          <a:solidFill>
            <a:srgbClr val="00D4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56B87BA-8FD5-B7C8-91F5-EA0146EB05EE}"/>
              </a:ext>
            </a:extLst>
          </p:cNvPr>
          <p:cNvSpPr txBox="1"/>
          <p:nvPr/>
        </p:nvSpPr>
        <p:spPr>
          <a:xfrm>
            <a:off x="762000" y="5461000"/>
            <a:ext cx="863600" cy="338554"/>
          </a:xfrm>
          <a:prstGeom prst="rect">
            <a:avLst/>
          </a:prstGeom>
          <a:noFill/>
        </p:spPr>
        <p:txBody>
          <a:bodyPr vert="horz" wrap="square" rtlCol="0">
            <a:noAutofit/>
          </a:bodyPr>
          <a:lstStyle/>
          <a:p>
            <a:pPr algn="ctr"/>
            <a:r>
              <a:rPr lang="en-US" sz="1600" b="1">
                <a:solidFill>
                  <a:srgbClr val="00D4FF"/>
                </a:solidFill>
              </a:rPr>
              <a:t>PCB</a:t>
            </a:r>
          </a:p>
        </p:txBody>
      </p:sp>
      <p:cxnSp>
        <p:nvCxnSpPr>
          <p:cNvPr id="29" name="Straight Connector 28">
            <a:extLst>
              <a:ext uri="{FF2B5EF4-FFF2-40B4-BE49-F238E27FC236}">
                <a16:creationId xmlns:a16="http://schemas.microsoft.com/office/drawing/2014/main" id="{75D45504-F187-AF9B-9099-B5BD30B6F092}"/>
              </a:ext>
            </a:extLst>
          </p:cNvPr>
          <p:cNvCxnSpPr/>
          <p:nvPr/>
        </p:nvCxnSpPr>
        <p:spPr>
          <a:xfrm>
            <a:off x="1727200" y="5334000"/>
            <a:ext cx="0" cy="63500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5BDD9FD7-82A9-6140-82D0-0F4BFB9FCA75}"/>
              </a:ext>
            </a:extLst>
          </p:cNvPr>
          <p:cNvSpPr txBox="1"/>
          <p:nvPr/>
        </p:nvSpPr>
        <p:spPr>
          <a:xfrm>
            <a:off x="1879600" y="5308600"/>
            <a:ext cx="9855200" cy="276999"/>
          </a:xfrm>
          <a:prstGeom prst="rect">
            <a:avLst/>
          </a:prstGeom>
          <a:noFill/>
        </p:spPr>
        <p:txBody>
          <a:bodyPr vert="horz" wrap="square" rtlCol="0">
            <a:noAutofit/>
          </a:bodyPr>
          <a:lstStyle/>
          <a:p>
            <a:r>
              <a:rPr lang="en-US" sz="1200">
                <a:solidFill>
                  <a:srgbClr val="D2E1F0"/>
                </a:solidFill>
              </a:rPr>
              <a:t>All subsystems operational on custom PCB  |  Power budget verified under full simultaneous load.</a:t>
            </a:r>
          </a:p>
        </p:txBody>
      </p:sp>
    </p:spTree>
    <p:extLst>
      <p:ext uri="{BB962C8B-B14F-4D97-AF65-F5344CB8AC3E}">
        <p14:creationId xmlns:p14="http://schemas.microsoft.com/office/powerpoint/2010/main" val="4175676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0FC796E8-FBD0-2E85-AFB4-00BE4735012A}"/>
              </a:ext>
            </a:extLst>
          </p:cNvPr>
          <p:cNvCxnSpPr/>
          <p:nvPr/>
        </p:nvCxnSpPr>
        <p:spPr>
          <a:xfrm>
            <a:off x="0" y="63500"/>
            <a:ext cx="12192000" cy="0"/>
          </a:xfrm>
          <a:prstGeom prst="line">
            <a:avLst/>
          </a:prstGeom>
          <a:ln w="50800">
            <a:solidFill>
              <a:srgbClr val="00D4FF"/>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913D72DD-7C81-0245-1810-61AACAB61A5F}"/>
              </a:ext>
            </a:extLst>
          </p:cNvPr>
          <p:cNvCxnSpPr/>
          <p:nvPr/>
        </p:nvCxnSpPr>
        <p:spPr>
          <a:xfrm>
            <a:off x="0" y="6794500"/>
            <a:ext cx="12192000" cy="0"/>
          </a:xfrm>
          <a:prstGeom prst="line">
            <a:avLst/>
          </a:prstGeom>
          <a:ln w="25400">
            <a:solidFill>
              <a:srgbClr val="00D4F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20E3ACF6-3F49-E3FB-C397-C00CD3ED9B04}"/>
              </a:ext>
            </a:extLst>
          </p:cNvPr>
          <p:cNvSpPr txBox="1"/>
          <p:nvPr/>
        </p:nvSpPr>
        <p:spPr>
          <a:xfrm>
            <a:off x="762000" y="228600"/>
            <a:ext cx="10668000" cy="553998"/>
          </a:xfrm>
          <a:prstGeom prst="rect">
            <a:avLst/>
          </a:prstGeom>
          <a:noFill/>
        </p:spPr>
        <p:txBody>
          <a:bodyPr vert="horz" wrap="square" rtlCol="0">
            <a:noAutofit/>
          </a:bodyPr>
          <a:lstStyle/>
          <a:p>
            <a:r>
              <a:rPr lang="en-US" sz="3000" b="1">
                <a:solidFill>
                  <a:srgbClr val="FFFFFF"/>
                </a:solidFill>
              </a:rPr>
              <a:t>Conclusion and Future Work</a:t>
            </a:r>
          </a:p>
        </p:txBody>
      </p:sp>
      <p:cxnSp>
        <p:nvCxnSpPr>
          <p:cNvPr id="5" name="Straight Connector 4">
            <a:extLst>
              <a:ext uri="{FF2B5EF4-FFF2-40B4-BE49-F238E27FC236}">
                <a16:creationId xmlns:a16="http://schemas.microsoft.com/office/drawing/2014/main" id="{17250E87-AE28-7E01-BDFE-B67272262737}"/>
              </a:ext>
            </a:extLst>
          </p:cNvPr>
          <p:cNvCxnSpPr/>
          <p:nvPr/>
        </p:nvCxnSpPr>
        <p:spPr>
          <a:xfrm>
            <a:off x="762000" y="863600"/>
            <a:ext cx="10668000" cy="0"/>
          </a:xfrm>
          <a:prstGeom prst="line">
            <a:avLst/>
          </a:prstGeom>
          <a:ln w="12700">
            <a:solidFill>
              <a:srgbClr val="5A6E8C"/>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9470C69-EC60-0F20-B7A4-CEF4B995D696}"/>
              </a:ext>
            </a:extLst>
          </p:cNvPr>
          <p:cNvSpPr txBox="1"/>
          <p:nvPr/>
        </p:nvSpPr>
        <p:spPr>
          <a:xfrm>
            <a:off x="762000" y="990600"/>
            <a:ext cx="10668000" cy="338554"/>
          </a:xfrm>
          <a:prstGeom prst="rect">
            <a:avLst/>
          </a:prstGeom>
          <a:noFill/>
        </p:spPr>
        <p:txBody>
          <a:bodyPr vert="horz" wrap="square" rtlCol="0">
            <a:noAutofit/>
          </a:bodyPr>
          <a:lstStyle/>
          <a:p>
            <a:r>
              <a:rPr lang="en-US" sz="1600" b="1">
                <a:solidFill>
                  <a:srgbClr val="00D4FF"/>
                </a:solidFill>
              </a:rPr>
              <a:t>Contributions</a:t>
            </a:r>
          </a:p>
        </p:txBody>
      </p:sp>
      <p:sp>
        <p:nvSpPr>
          <p:cNvPr id="7" name="TextBox 6">
            <a:extLst>
              <a:ext uri="{FF2B5EF4-FFF2-40B4-BE49-F238E27FC236}">
                <a16:creationId xmlns:a16="http://schemas.microsoft.com/office/drawing/2014/main" id="{4EDAB49D-9003-C289-F336-013DA6676549}"/>
              </a:ext>
            </a:extLst>
          </p:cNvPr>
          <p:cNvSpPr txBox="1"/>
          <p:nvPr/>
        </p:nvSpPr>
        <p:spPr>
          <a:xfrm>
            <a:off x="762000" y="1346200"/>
            <a:ext cx="11176000" cy="738664"/>
          </a:xfrm>
          <a:prstGeom prst="rect">
            <a:avLst/>
          </a:prstGeom>
          <a:noFill/>
        </p:spPr>
        <p:txBody>
          <a:bodyPr vert="horz" wrap="square" rtlCol="0">
            <a:noAutofit/>
          </a:bodyPr>
          <a:lstStyle/>
          <a:p>
            <a:r>
              <a:rPr lang="en-US" sz="1400">
                <a:solidFill>
                  <a:srgbClr val="D2E1F0"/>
                </a:solidFill>
              </a:rPr>
              <a:t>This project successfully delivers a real-time, multi-domain V2X Collision Avoidance System on low-cost embedded hardware. All four communication paradigms (V2V, V2I, V2P, V2N) were implemented, validated, and integrated on a custom PCB - a first-of-its-kind prototype at accessible cost.</a:t>
            </a:r>
          </a:p>
        </p:txBody>
      </p:sp>
      <p:cxnSp>
        <p:nvCxnSpPr>
          <p:cNvPr id="8" name="Straight Connector 7">
            <a:extLst>
              <a:ext uri="{FF2B5EF4-FFF2-40B4-BE49-F238E27FC236}">
                <a16:creationId xmlns:a16="http://schemas.microsoft.com/office/drawing/2014/main" id="{A75997F7-2D6D-AA8A-DA9C-5BBDBD2AA047}"/>
              </a:ext>
            </a:extLst>
          </p:cNvPr>
          <p:cNvCxnSpPr/>
          <p:nvPr/>
        </p:nvCxnSpPr>
        <p:spPr>
          <a:xfrm>
            <a:off x="762000" y="2336800"/>
            <a:ext cx="10668000" cy="0"/>
          </a:xfrm>
          <a:prstGeom prst="line">
            <a:avLst/>
          </a:prstGeom>
          <a:ln w="12700">
            <a:solidFill>
              <a:srgbClr val="008CB4"/>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12A1B0B-F21C-F410-438A-5B8D6D608EBD}"/>
              </a:ext>
            </a:extLst>
          </p:cNvPr>
          <p:cNvSpPr txBox="1"/>
          <p:nvPr/>
        </p:nvSpPr>
        <p:spPr>
          <a:xfrm>
            <a:off x="762000" y="2438400"/>
            <a:ext cx="10668000" cy="338554"/>
          </a:xfrm>
          <a:prstGeom prst="rect">
            <a:avLst/>
          </a:prstGeom>
          <a:noFill/>
        </p:spPr>
        <p:txBody>
          <a:bodyPr vert="horz" wrap="square" rtlCol="0">
            <a:noAutofit/>
          </a:bodyPr>
          <a:lstStyle/>
          <a:p>
            <a:r>
              <a:rPr lang="en-US" sz="1600" b="1">
                <a:solidFill>
                  <a:srgbClr val="00D4FF"/>
                </a:solidFill>
              </a:rPr>
              <a:t>Future Work</a:t>
            </a:r>
          </a:p>
        </p:txBody>
      </p:sp>
      <p:sp>
        <p:nvSpPr>
          <p:cNvPr id="10" name="Rectangle 9">
            <a:extLst>
              <a:ext uri="{FF2B5EF4-FFF2-40B4-BE49-F238E27FC236}">
                <a16:creationId xmlns:a16="http://schemas.microsoft.com/office/drawing/2014/main" id="{A408A117-6E7C-14FA-0E5A-2C6177E2B595}"/>
              </a:ext>
            </a:extLst>
          </p:cNvPr>
          <p:cNvSpPr/>
          <p:nvPr/>
        </p:nvSpPr>
        <p:spPr>
          <a:xfrm>
            <a:off x="762000" y="2921000"/>
            <a:ext cx="50800" cy="228600"/>
          </a:xfrm>
          <a:prstGeom prst="rect">
            <a:avLst/>
          </a:prstGeom>
          <a:solidFill>
            <a:srgbClr val="008CB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AD57EE0-70B0-DD3E-B44A-A6B62031E666}"/>
              </a:ext>
            </a:extLst>
          </p:cNvPr>
          <p:cNvSpPr txBox="1"/>
          <p:nvPr/>
        </p:nvSpPr>
        <p:spPr>
          <a:xfrm>
            <a:off x="965200" y="2844800"/>
            <a:ext cx="10922000" cy="292388"/>
          </a:xfrm>
          <a:prstGeom prst="rect">
            <a:avLst/>
          </a:prstGeom>
          <a:noFill/>
        </p:spPr>
        <p:txBody>
          <a:bodyPr vert="horz" wrap="square" rtlCol="0">
            <a:noAutofit/>
          </a:bodyPr>
          <a:lstStyle/>
          <a:p>
            <a:r>
              <a:rPr lang="en-US" sz="1300">
                <a:solidFill>
                  <a:srgbClr val="D2E1F0"/>
                </a:solidFill>
              </a:rPr>
              <a:t>Upgrade to DSRC-compliant hardware (IEEE 802.11p) for certified V2X deployment</a:t>
            </a:r>
          </a:p>
        </p:txBody>
      </p:sp>
      <p:sp>
        <p:nvSpPr>
          <p:cNvPr id="12" name="Rectangle 11">
            <a:extLst>
              <a:ext uri="{FF2B5EF4-FFF2-40B4-BE49-F238E27FC236}">
                <a16:creationId xmlns:a16="http://schemas.microsoft.com/office/drawing/2014/main" id="{1C8BC772-0F0C-EF5A-7828-C291A406CD51}"/>
              </a:ext>
            </a:extLst>
          </p:cNvPr>
          <p:cNvSpPr/>
          <p:nvPr/>
        </p:nvSpPr>
        <p:spPr>
          <a:xfrm>
            <a:off x="762000" y="3352800"/>
            <a:ext cx="50800" cy="228600"/>
          </a:xfrm>
          <a:prstGeom prst="rect">
            <a:avLst/>
          </a:prstGeom>
          <a:solidFill>
            <a:srgbClr val="008CB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380FE5A4-0123-F13F-6226-C999E2042C01}"/>
              </a:ext>
            </a:extLst>
          </p:cNvPr>
          <p:cNvSpPr txBox="1"/>
          <p:nvPr/>
        </p:nvSpPr>
        <p:spPr>
          <a:xfrm>
            <a:off x="965200" y="3276600"/>
            <a:ext cx="10922000" cy="292388"/>
          </a:xfrm>
          <a:prstGeom prst="rect">
            <a:avLst/>
          </a:prstGeom>
          <a:noFill/>
        </p:spPr>
        <p:txBody>
          <a:bodyPr vert="horz" wrap="square" rtlCol="0">
            <a:noAutofit/>
          </a:bodyPr>
          <a:lstStyle/>
          <a:p>
            <a:r>
              <a:rPr lang="en-US" sz="1300">
                <a:solidFill>
                  <a:srgbClr val="D2E1F0"/>
                </a:solidFill>
              </a:rPr>
              <a:t>Integrate GPS / GNSS for accurate positioning and map-based hazard correlation</a:t>
            </a:r>
          </a:p>
        </p:txBody>
      </p:sp>
      <p:sp>
        <p:nvSpPr>
          <p:cNvPr id="14" name="Rectangle 13">
            <a:extLst>
              <a:ext uri="{FF2B5EF4-FFF2-40B4-BE49-F238E27FC236}">
                <a16:creationId xmlns:a16="http://schemas.microsoft.com/office/drawing/2014/main" id="{D0FD2ABA-3616-6EE3-8944-0706FD7942C4}"/>
              </a:ext>
            </a:extLst>
          </p:cNvPr>
          <p:cNvSpPr/>
          <p:nvPr/>
        </p:nvSpPr>
        <p:spPr>
          <a:xfrm>
            <a:off x="762000" y="3784600"/>
            <a:ext cx="50800" cy="228600"/>
          </a:xfrm>
          <a:prstGeom prst="rect">
            <a:avLst/>
          </a:prstGeom>
          <a:solidFill>
            <a:srgbClr val="008CB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96D08B6F-4A03-71B4-EB02-9B3E955C8FCC}"/>
              </a:ext>
            </a:extLst>
          </p:cNvPr>
          <p:cNvSpPr txBox="1"/>
          <p:nvPr/>
        </p:nvSpPr>
        <p:spPr>
          <a:xfrm>
            <a:off x="965200" y="3708400"/>
            <a:ext cx="10922000" cy="292388"/>
          </a:xfrm>
          <a:prstGeom prst="rect">
            <a:avLst/>
          </a:prstGeom>
          <a:noFill/>
        </p:spPr>
        <p:txBody>
          <a:bodyPr vert="horz" wrap="square" rtlCol="0">
            <a:noAutofit/>
          </a:bodyPr>
          <a:lstStyle/>
          <a:p>
            <a:r>
              <a:rPr lang="en-US" sz="1300">
                <a:solidFill>
                  <a:srgbClr val="D2E1F0"/>
                </a:solidFill>
              </a:rPr>
              <a:t>Deploy machine learning on STM32 for adaptive, self-calibrating collision thresholds</a:t>
            </a:r>
          </a:p>
        </p:txBody>
      </p:sp>
      <p:sp>
        <p:nvSpPr>
          <p:cNvPr id="16" name="Rectangle 15">
            <a:extLst>
              <a:ext uri="{FF2B5EF4-FFF2-40B4-BE49-F238E27FC236}">
                <a16:creationId xmlns:a16="http://schemas.microsoft.com/office/drawing/2014/main" id="{230D3A22-3483-9E7F-FA42-3CD18C29D21F}"/>
              </a:ext>
            </a:extLst>
          </p:cNvPr>
          <p:cNvSpPr/>
          <p:nvPr/>
        </p:nvSpPr>
        <p:spPr>
          <a:xfrm>
            <a:off x="762000" y="4216400"/>
            <a:ext cx="50800" cy="228600"/>
          </a:xfrm>
          <a:prstGeom prst="rect">
            <a:avLst/>
          </a:prstGeom>
          <a:solidFill>
            <a:srgbClr val="008CB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F8AA2225-E131-0424-4541-71B970A8BD33}"/>
              </a:ext>
            </a:extLst>
          </p:cNvPr>
          <p:cNvSpPr txBox="1"/>
          <p:nvPr/>
        </p:nvSpPr>
        <p:spPr>
          <a:xfrm>
            <a:off x="965200" y="4140200"/>
            <a:ext cx="10922000" cy="292388"/>
          </a:xfrm>
          <a:prstGeom prst="rect">
            <a:avLst/>
          </a:prstGeom>
          <a:noFill/>
        </p:spPr>
        <p:txBody>
          <a:bodyPr vert="horz" wrap="square" rtlCol="0">
            <a:noAutofit/>
          </a:bodyPr>
          <a:lstStyle/>
          <a:p>
            <a:r>
              <a:rPr lang="en-US" sz="1300">
                <a:solidFill>
                  <a:srgbClr val="D2E1F0"/>
                </a:solidFill>
              </a:rPr>
              <a:t>Scale V2N dashboard to support a vehicle fleet with convoy coordination mode</a:t>
            </a:r>
          </a:p>
        </p:txBody>
      </p:sp>
      <p:sp>
        <p:nvSpPr>
          <p:cNvPr id="18" name="Rectangle 17">
            <a:extLst>
              <a:ext uri="{FF2B5EF4-FFF2-40B4-BE49-F238E27FC236}">
                <a16:creationId xmlns:a16="http://schemas.microsoft.com/office/drawing/2014/main" id="{70EBA738-2670-09ED-0FFE-75901C267E75}"/>
              </a:ext>
            </a:extLst>
          </p:cNvPr>
          <p:cNvSpPr/>
          <p:nvPr/>
        </p:nvSpPr>
        <p:spPr>
          <a:xfrm>
            <a:off x="762000" y="4648200"/>
            <a:ext cx="50800" cy="228600"/>
          </a:xfrm>
          <a:prstGeom prst="rect">
            <a:avLst/>
          </a:prstGeom>
          <a:solidFill>
            <a:srgbClr val="008CB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4F92D45-4507-492F-C9C5-933191705778}"/>
              </a:ext>
            </a:extLst>
          </p:cNvPr>
          <p:cNvSpPr txBox="1"/>
          <p:nvPr/>
        </p:nvSpPr>
        <p:spPr>
          <a:xfrm>
            <a:off x="965200" y="4572000"/>
            <a:ext cx="10922000" cy="292388"/>
          </a:xfrm>
          <a:prstGeom prst="rect">
            <a:avLst/>
          </a:prstGeom>
          <a:noFill/>
        </p:spPr>
        <p:txBody>
          <a:bodyPr vert="horz" wrap="square" rtlCol="0">
            <a:noAutofit/>
          </a:bodyPr>
          <a:lstStyle/>
          <a:p>
            <a:r>
              <a:rPr lang="en-US" sz="1300">
                <a:solidFill>
                  <a:srgbClr val="D2E1F0"/>
                </a:solidFill>
              </a:rPr>
              <a:t>Partner with traffic authorities to test V2I at real signalised intersections in Egypt</a:t>
            </a:r>
          </a:p>
        </p:txBody>
      </p:sp>
      <p:sp>
        <p:nvSpPr>
          <p:cNvPr id="20" name="Rectangle: Rounded Corners 19">
            <a:extLst>
              <a:ext uri="{FF2B5EF4-FFF2-40B4-BE49-F238E27FC236}">
                <a16:creationId xmlns:a16="http://schemas.microsoft.com/office/drawing/2014/main" id="{CF07CBF0-4EB4-A4CE-A475-1E1B3FB1AA73}"/>
              </a:ext>
            </a:extLst>
          </p:cNvPr>
          <p:cNvSpPr/>
          <p:nvPr/>
        </p:nvSpPr>
        <p:spPr>
          <a:xfrm>
            <a:off x="3683000" y="5867400"/>
            <a:ext cx="4826000" cy="660400"/>
          </a:xfrm>
          <a:prstGeom prst="roundRect">
            <a:avLst/>
          </a:prstGeom>
          <a:solidFill>
            <a:srgbClr val="12284B"/>
          </a:solidFill>
          <a:ln w="25400">
            <a:solidFill>
              <a:srgbClr val="00D4FF"/>
            </a:solidFill>
          </a:ln>
          <a:effectLst>
            <a:glow rad="152400">
              <a:srgbClr val="00D4FF">
                <a:alpha val="5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3BAEF9B3-715A-6C74-847B-830930CD4588}"/>
              </a:ext>
            </a:extLst>
          </p:cNvPr>
          <p:cNvSpPr txBox="1"/>
          <p:nvPr/>
        </p:nvSpPr>
        <p:spPr>
          <a:xfrm>
            <a:off x="3708400" y="5892800"/>
            <a:ext cx="4800600" cy="523220"/>
          </a:xfrm>
          <a:prstGeom prst="rect">
            <a:avLst/>
          </a:prstGeom>
          <a:noFill/>
        </p:spPr>
        <p:txBody>
          <a:bodyPr vert="horz" wrap="square" rtlCol="0">
            <a:noAutofit/>
          </a:bodyPr>
          <a:lstStyle/>
          <a:p>
            <a:pPr algn="ctr"/>
            <a:r>
              <a:rPr lang="en-US" sz="2800" b="1">
                <a:solidFill>
                  <a:srgbClr val="FFFFFF"/>
                </a:solidFill>
              </a:rPr>
              <a:t>Thank You</a:t>
            </a:r>
          </a:p>
        </p:txBody>
      </p:sp>
    </p:spTree>
    <p:extLst>
      <p:ext uri="{BB962C8B-B14F-4D97-AF65-F5344CB8AC3E}">
        <p14:creationId xmlns:p14="http://schemas.microsoft.com/office/powerpoint/2010/main" val="3710579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1746</Words>
  <Application>Microsoft Office PowerPoint</Application>
  <PresentationFormat>Custom</PresentationFormat>
  <Paragraphs>143</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AHMED GAMAL</dc:creator>
  <cp:lastModifiedBy>AHMED GAMAL</cp:lastModifiedBy>
  <cp:revision>1</cp:revision>
  <dcterms:created xsi:type="dcterms:W3CDTF">2026-06-30T00:19:34Z</dcterms:created>
  <dcterms:modified xsi:type="dcterms:W3CDTF">2026-06-30T00:19:34Z</dcterms:modified>
</cp:coreProperties>
</file>