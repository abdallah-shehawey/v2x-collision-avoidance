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5" r:id="rId11"/>
    <p:sldId id="264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A89DAC-0EF3-4F51-BCDF-90EC1C4B08E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6987F92-A870-47EC-9DDD-D5AEC59B1AFE}">
      <dgm:prSet/>
      <dgm:spPr/>
      <dgm:t>
        <a:bodyPr/>
        <a:lstStyle/>
        <a:p>
          <a:r>
            <a:rPr lang="en-US" dirty="0"/>
            <a:t>Direct wireless communication between nearby vehicles, without relying on infrastructure </a:t>
          </a:r>
        </a:p>
      </dgm:t>
    </dgm:pt>
    <dgm:pt modelId="{8A8B490B-42E0-47FE-9DEC-5A730A34220D}" type="parTrans" cxnId="{91867311-76C4-4F8D-A03F-1484AE6C94D4}">
      <dgm:prSet/>
      <dgm:spPr/>
      <dgm:t>
        <a:bodyPr/>
        <a:lstStyle/>
        <a:p>
          <a:endParaRPr lang="en-US"/>
        </a:p>
      </dgm:t>
    </dgm:pt>
    <dgm:pt modelId="{B25D47D5-B832-4612-8369-679BC0674735}" type="sibTrans" cxnId="{91867311-76C4-4F8D-A03F-1484AE6C94D4}">
      <dgm:prSet/>
      <dgm:spPr/>
      <dgm:t>
        <a:bodyPr/>
        <a:lstStyle/>
        <a:p>
          <a:endParaRPr lang="en-US"/>
        </a:p>
      </dgm:t>
    </dgm:pt>
    <dgm:pt modelId="{E3DB5A0D-BF74-4825-A4C4-1881A181CF9B}">
      <dgm:prSet/>
      <dgm:spPr/>
      <dgm:t>
        <a:bodyPr/>
        <a:lstStyle/>
        <a:p>
          <a:r>
            <a:rPr lang="en-US"/>
            <a:t>Each vehicle continuously shares its speed, position, and status with vehicles around it </a:t>
          </a:r>
        </a:p>
      </dgm:t>
    </dgm:pt>
    <dgm:pt modelId="{7763B593-262C-42C7-BC3B-C74383858A2A}" type="parTrans" cxnId="{2BB4CEF7-9BF2-4D54-B736-E6270844A58F}">
      <dgm:prSet/>
      <dgm:spPr/>
      <dgm:t>
        <a:bodyPr/>
        <a:lstStyle/>
        <a:p>
          <a:endParaRPr lang="en-US"/>
        </a:p>
      </dgm:t>
    </dgm:pt>
    <dgm:pt modelId="{9D63A2E3-842C-40DF-83C4-462B9F9F587D}" type="sibTrans" cxnId="{2BB4CEF7-9BF2-4D54-B736-E6270844A58F}">
      <dgm:prSet/>
      <dgm:spPr/>
      <dgm:t>
        <a:bodyPr/>
        <a:lstStyle/>
        <a:p>
          <a:endParaRPr lang="en-US"/>
        </a:p>
      </dgm:t>
    </dgm:pt>
    <dgm:pt modelId="{23727E72-3EB5-4DC4-8F47-86646C06A888}">
      <dgm:prSet/>
      <dgm:spPr/>
      <dgm:t>
        <a:bodyPr/>
        <a:lstStyle/>
        <a:p>
          <a:r>
            <a:rPr lang="en-US"/>
            <a:t>Built on </a:t>
          </a:r>
          <a:r>
            <a:rPr lang="en-US" b="1"/>
            <a:t>STM32</a:t>
          </a:r>
          <a:r>
            <a:rPr lang="en-US"/>
            <a:t>, handling real-time collision-warning logic </a:t>
          </a:r>
        </a:p>
      </dgm:t>
    </dgm:pt>
    <dgm:pt modelId="{C330D900-6D6D-49BF-9A94-2BF42B3D4F96}" type="parTrans" cxnId="{21FBDABE-AEF6-468A-B516-243AD30D20F0}">
      <dgm:prSet/>
      <dgm:spPr/>
      <dgm:t>
        <a:bodyPr/>
        <a:lstStyle/>
        <a:p>
          <a:endParaRPr lang="en-US"/>
        </a:p>
      </dgm:t>
    </dgm:pt>
    <dgm:pt modelId="{58B9AC8E-F3CC-45FD-91EA-ED894FFD23B9}" type="sibTrans" cxnId="{21FBDABE-AEF6-468A-B516-243AD30D20F0}">
      <dgm:prSet/>
      <dgm:spPr/>
      <dgm:t>
        <a:bodyPr/>
        <a:lstStyle/>
        <a:p>
          <a:endParaRPr lang="en-US"/>
        </a:p>
      </dgm:t>
    </dgm:pt>
    <dgm:pt modelId="{5AB4E0D3-B95D-4E7C-A9BB-392162596158}">
      <dgm:prSet/>
      <dgm:spPr/>
      <dgm:t>
        <a:bodyPr/>
        <a:lstStyle/>
        <a:p>
          <a:r>
            <a:rPr lang="en-US"/>
            <a:t>Powers core safety features: EEBL, BSW, IMA, DNPW, FCW</a:t>
          </a:r>
        </a:p>
      </dgm:t>
    </dgm:pt>
    <dgm:pt modelId="{3B27141D-4744-4FF5-B330-174DAAA08846}" type="parTrans" cxnId="{5D4536D7-6D99-45D7-A41A-8BD2BCB10FEC}">
      <dgm:prSet/>
      <dgm:spPr/>
      <dgm:t>
        <a:bodyPr/>
        <a:lstStyle/>
        <a:p>
          <a:endParaRPr lang="en-US"/>
        </a:p>
      </dgm:t>
    </dgm:pt>
    <dgm:pt modelId="{5E046E24-F677-4F81-8797-07EEABA83B0C}" type="sibTrans" cxnId="{5D4536D7-6D99-45D7-A41A-8BD2BCB10FEC}">
      <dgm:prSet/>
      <dgm:spPr/>
      <dgm:t>
        <a:bodyPr/>
        <a:lstStyle/>
        <a:p>
          <a:endParaRPr lang="en-US"/>
        </a:p>
      </dgm:t>
    </dgm:pt>
    <dgm:pt modelId="{DBEACBC8-44F7-46AF-BFC4-C561C85ACC56}" type="pres">
      <dgm:prSet presAssocID="{7BA89DAC-0EF3-4F51-BCDF-90EC1C4B08ED}" presName="linear" presStyleCnt="0">
        <dgm:presLayoutVars>
          <dgm:animLvl val="lvl"/>
          <dgm:resizeHandles val="exact"/>
        </dgm:presLayoutVars>
      </dgm:prSet>
      <dgm:spPr/>
    </dgm:pt>
    <dgm:pt modelId="{925D4658-DFB7-46FD-BE66-0B836250A4D9}" type="pres">
      <dgm:prSet presAssocID="{46987F92-A870-47EC-9DDD-D5AEC59B1AF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C662D3C-486B-4F42-8F45-009B8B4C14E3}" type="pres">
      <dgm:prSet presAssocID="{B25D47D5-B832-4612-8369-679BC0674735}" presName="spacer" presStyleCnt="0"/>
      <dgm:spPr/>
    </dgm:pt>
    <dgm:pt modelId="{68FE0C96-C94C-42AE-95DE-98C39DF9FB33}" type="pres">
      <dgm:prSet presAssocID="{E3DB5A0D-BF74-4825-A4C4-1881A181CF9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18C4461-4168-4635-A23B-67433A0C272C}" type="pres">
      <dgm:prSet presAssocID="{9D63A2E3-842C-40DF-83C4-462B9F9F587D}" presName="spacer" presStyleCnt="0"/>
      <dgm:spPr/>
    </dgm:pt>
    <dgm:pt modelId="{883B3E8D-F7C7-4CC0-8B99-D8D540F77E46}" type="pres">
      <dgm:prSet presAssocID="{23727E72-3EB5-4DC4-8F47-86646C06A88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1F28A11-95A0-475C-AB0C-93DF2BB2E6A7}" type="pres">
      <dgm:prSet presAssocID="{58B9AC8E-F3CC-45FD-91EA-ED894FFD23B9}" presName="spacer" presStyleCnt="0"/>
      <dgm:spPr/>
    </dgm:pt>
    <dgm:pt modelId="{BC17DB86-7E05-43ED-BA44-522C1994D920}" type="pres">
      <dgm:prSet presAssocID="{5AB4E0D3-B95D-4E7C-A9BB-39216259615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1867311-76C4-4F8D-A03F-1484AE6C94D4}" srcId="{7BA89DAC-0EF3-4F51-BCDF-90EC1C4B08ED}" destId="{46987F92-A870-47EC-9DDD-D5AEC59B1AFE}" srcOrd="0" destOrd="0" parTransId="{8A8B490B-42E0-47FE-9DEC-5A730A34220D}" sibTransId="{B25D47D5-B832-4612-8369-679BC0674735}"/>
    <dgm:cxn modelId="{725DAB18-EB75-4DF1-9E69-7CAF0783727E}" type="presOf" srcId="{E3DB5A0D-BF74-4825-A4C4-1881A181CF9B}" destId="{68FE0C96-C94C-42AE-95DE-98C39DF9FB33}" srcOrd="0" destOrd="0" presId="urn:microsoft.com/office/officeart/2005/8/layout/vList2"/>
    <dgm:cxn modelId="{1D0CBA4C-B583-4D11-84C8-2257DC92236D}" type="presOf" srcId="{5AB4E0D3-B95D-4E7C-A9BB-392162596158}" destId="{BC17DB86-7E05-43ED-BA44-522C1994D920}" srcOrd="0" destOrd="0" presId="urn:microsoft.com/office/officeart/2005/8/layout/vList2"/>
    <dgm:cxn modelId="{B3FE1A9B-2CF3-4A16-B5EF-191F49EAA924}" type="presOf" srcId="{7BA89DAC-0EF3-4F51-BCDF-90EC1C4B08ED}" destId="{DBEACBC8-44F7-46AF-BFC4-C561C85ACC56}" srcOrd="0" destOrd="0" presId="urn:microsoft.com/office/officeart/2005/8/layout/vList2"/>
    <dgm:cxn modelId="{2A066E9C-38C5-4DD2-ADEF-A5BE2C75FB89}" type="presOf" srcId="{23727E72-3EB5-4DC4-8F47-86646C06A888}" destId="{883B3E8D-F7C7-4CC0-8B99-D8D540F77E46}" srcOrd="0" destOrd="0" presId="urn:microsoft.com/office/officeart/2005/8/layout/vList2"/>
    <dgm:cxn modelId="{21FBDABE-AEF6-468A-B516-243AD30D20F0}" srcId="{7BA89DAC-0EF3-4F51-BCDF-90EC1C4B08ED}" destId="{23727E72-3EB5-4DC4-8F47-86646C06A888}" srcOrd="2" destOrd="0" parTransId="{C330D900-6D6D-49BF-9A94-2BF42B3D4F96}" sibTransId="{58B9AC8E-F3CC-45FD-91EA-ED894FFD23B9}"/>
    <dgm:cxn modelId="{F2E209C5-44F8-4C31-BDCA-4A62769A691E}" type="presOf" srcId="{46987F92-A870-47EC-9DDD-D5AEC59B1AFE}" destId="{925D4658-DFB7-46FD-BE66-0B836250A4D9}" srcOrd="0" destOrd="0" presId="urn:microsoft.com/office/officeart/2005/8/layout/vList2"/>
    <dgm:cxn modelId="{5D4536D7-6D99-45D7-A41A-8BD2BCB10FEC}" srcId="{7BA89DAC-0EF3-4F51-BCDF-90EC1C4B08ED}" destId="{5AB4E0D3-B95D-4E7C-A9BB-392162596158}" srcOrd="3" destOrd="0" parTransId="{3B27141D-4744-4FF5-B330-174DAAA08846}" sibTransId="{5E046E24-F677-4F81-8797-07EEABA83B0C}"/>
    <dgm:cxn modelId="{2BB4CEF7-9BF2-4D54-B736-E6270844A58F}" srcId="{7BA89DAC-0EF3-4F51-BCDF-90EC1C4B08ED}" destId="{E3DB5A0D-BF74-4825-A4C4-1881A181CF9B}" srcOrd="1" destOrd="0" parTransId="{7763B593-262C-42C7-BC3B-C74383858A2A}" sibTransId="{9D63A2E3-842C-40DF-83C4-462B9F9F587D}"/>
    <dgm:cxn modelId="{8CF554F0-E54B-4C15-A6D7-3C0E9B4BCFEA}" type="presParOf" srcId="{DBEACBC8-44F7-46AF-BFC4-C561C85ACC56}" destId="{925D4658-DFB7-46FD-BE66-0B836250A4D9}" srcOrd="0" destOrd="0" presId="urn:microsoft.com/office/officeart/2005/8/layout/vList2"/>
    <dgm:cxn modelId="{894180D0-ECA4-4784-8189-26D9E05D39EF}" type="presParOf" srcId="{DBEACBC8-44F7-46AF-BFC4-C561C85ACC56}" destId="{3C662D3C-486B-4F42-8F45-009B8B4C14E3}" srcOrd="1" destOrd="0" presId="urn:microsoft.com/office/officeart/2005/8/layout/vList2"/>
    <dgm:cxn modelId="{233073BC-F8F7-42DA-86F1-8FEE932B3914}" type="presParOf" srcId="{DBEACBC8-44F7-46AF-BFC4-C561C85ACC56}" destId="{68FE0C96-C94C-42AE-95DE-98C39DF9FB33}" srcOrd="2" destOrd="0" presId="urn:microsoft.com/office/officeart/2005/8/layout/vList2"/>
    <dgm:cxn modelId="{E331005B-85F4-4C92-8320-CBCFC152A853}" type="presParOf" srcId="{DBEACBC8-44F7-46AF-BFC4-C561C85ACC56}" destId="{318C4461-4168-4635-A23B-67433A0C272C}" srcOrd="3" destOrd="0" presId="urn:microsoft.com/office/officeart/2005/8/layout/vList2"/>
    <dgm:cxn modelId="{6A375488-428C-4E28-BCB6-53DE5A26C33C}" type="presParOf" srcId="{DBEACBC8-44F7-46AF-BFC4-C561C85ACC56}" destId="{883B3E8D-F7C7-4CC0-8B99-D8D540F77E46}" srcOrd="4" destOrd="0" presId="urn:microsoft.com/office/officeart/2005/8/layout/vList2"/>
    <dgm:cxn modelId="{068368CE-8659-4502-899A-EB151F5D00B5}" type="presParOf" srcId="{DBEACBC8-44F7-46AF-BFC4-C561C85ACC56}" destId="{31F28A11-95A0-475C-AB0C-93DF2BB2E6A7}" srcOrd="5" destOrd="0" presId="urn:microsoft.com/office/officeart/2005/8/layout/vList2"/>
    <dgm:cxn modelId="{54FC9BB2-11F6-4DFF-B849-391C4271D5BD}" type="presParOf" srcId="{DBEACBC8-44F7-46AF-BFC4-C561C85ACC56}" destId="{BC17DB86-7E05-43ED-BA44-522C1994D92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5D4658-DFB7-46FD-BE66-0B836250A4D9}">
      <dsp:nvSpPr>
        <dsp:cNvPr id="0" name=""/>
        <dsp:cNvSpPr/>
      </dsp:nvSpPr>
      <dsp:spPr>
        <a:xfrm>
          <a:off x="0" y="418660"/>
          <a:ext cx="5458837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Direct wireless communication between nearby vehicles, without relying on infrastructure </a:t>
          </a:r>
        </a:p>
      </dsp:txBody>
      <dsp:txXfrm>
        <a:off x="38838" y="457498"/>
        <a:ext cx="5381161" cy="717924"/>
      </dsp:txXfrm>
    </dsp:sp>
    <dsp:sp modelId="{68FE0C96-C94C-42AE-95DE-98C39DF9FB33}">
      <dsp:nvSpPr>
        <dsp:cNvPr id="0" name=""/>
        <dsp:cNvSpPr/>
      </dsp:nvSpPr>
      <dsp:spPr>
        <a:xfrm>
          <a:off x="0" y="1271860"/>
          <a:ext cx="5458837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Each vehicle continuously shares its speed, position, and status with vehicles around it </a:t>
          </a:r>
        </a:p>
      </dsp:txBody>
      <dsp:txXfrm>
        <a:off x="38838" y="1310698"/>
        <a:ext cx="5381161" cy="717924"/>
      </dsp:txXfrm>
    </dsp:sp>
    <dsp:sp modelId="{883B3E8D-F7C7-4CC0-8B99-D8D540F77E46}">
      <dsp:nvSpPr>
        <dsp:cNvPr id="0" name=""/>
        <dsp:cNvSpPr/>
      </dsp:nvSpPr>
      <dsp:spPr>
        <a:xfrm>
          <a:off x="0" y="2125060"/>
          <a:ext cx="5458837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Built on </a:t>
          </a:r>
          <a:r>
            <a:rPr lang="en-US" sz="2000" b="1" kern="1200"/>
            <a:t>STM32</a:t>
          </a:r>
          <a:r>
            <a:rPr lang="en-US" sz="2000" kern="1200"/>
            <a:t>, handling real-time collision-warning logic </a:t>
          </a:r>
        </a:p>
      </dsp:txBody>
      <dsp:txXfrm>
        <a:off x="38838" y="2163898"/>
        <a:ext cx="5381161" cy="717924"/>
      </dsp:txXfrm>
    </dsp:sp>
    <dsp:sp modelId="{BC17DB86-7E05-43ED-BA44-522C1994D920}">
      <dsp:nvSpPr>
        <dsp:cNvPr id="0" name=""/>
        <dsp:cNvSpPr/>
      </dsp:nvSpPr>
      <dsp:spPr>
        <a:xfrm>
          <a:off x="0" y="2978260"/>
          <a:ext cx="5458837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Powers core safety features: EEBL, BSW, IMA, DNPW, FCW</a:t>
          </a:r>
        </a:p>
      </dsp:txBody>
      <dsp:txXfrm>
        <a:off x="38838" y="3017098"/>
        <a:ext cx="5381161" cy="7179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4FCF66-E6C2-4DB3-9DFB-FCAFE3F6CF0A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93C61-FF4E-4C15-8262-71309CF8C2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52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93C61-FF4E-4C15-8262-71309CF8C2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53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93C61-FF4E-4C15-8262-71309CF8C2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04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8992-8BBA-4FE4-AFF0-7908D39AF81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37D2-85AD-404D-8826-93D18BD1D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902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8992-8BBA-4FE4-AFF0-7908D39AF81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37D2-85AD-404D-8826-93D18BD1D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6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8992-8BBA-4FE4-AFF0-7908D39AF81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37D2-85AD-404D-8826-93D18BD1D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61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8992-8BBA-4FE4-AFF0-7908D39AF81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37D2-85AD-404D-8826-93D18BD1D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7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8992-8BBA-4FE4-AFF0-7908D39AF81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37D2-85AD-404D-8826-93D18BD1D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60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8992-8BBA-4FE4-AFF0-7908D39AF81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37D2-85AD-404D-8826-93D18BD1D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18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8992-8BBA-4FE4-AFF0-7908D39AF81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37D2-85AD-404D-8826-93D18BD1D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07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8992-8BBA-4FE4-AFF0-7908D39AF81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37D2-85AD-404D-8826-93D18BD1D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83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8992-8BBA-4FE4-AFF0-7908D39AF81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37D2-85AD-404D-8826-93D18BD1D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68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8992-8BBA-4FE4-AFF0-7908D39AF81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37D2-85AD-404D-8826-93D18BD1D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56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E8992-8BBA-4FE4-AFF0-7908D39AF81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A37D2-85AD-404D-8826-93D18BD1D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7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28E8992-8BBA-4FE4-AFF0-7908D39AF81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5CA37D2-85AD-404D-8826-93D18BD1D7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581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345009C-10F8-76B4-5ABF-3C47A5165F34}"/>
              </a:ext>
            </a:extLst>
          </p:cNvPr>
          <p:cNvSpPr/>
          <p:nvPr/>
        </p:nvSpPr>
        <p:spPr>
          <a:xfrm>
            <a:off x="1" y="6122859"/>
            <a:ext cx="3763600" cy="74708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3E3945-2A60-2C68-B7B0-09D097F7AC5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8" r="10945" b="9091"/>
          <a:stretch>
            <a:fillRect/>
          </a:stretch>
        </p:blipFill>
        <p:spPr>
          <a:xfrm>
            <a:off x="3925301" y="10"/>
            <a:ext cx="8231137" cy="6857990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F70B729-96DA-1F3A-99E4-46387EAD10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62" y="2916887"/>
            <a:ext cx="3520439" cy="910731"/>
          </a:xfrm>
        </p:spPr>
        <p:txBody>
          <a:bodyPr>
            <a:normAutofit fontScale="25000" lnSpcReduction="20000"/>
          </a:bodyPr>
          <a:lstStyle/>
          <a:p>
            <a:r>
              <a:rPr lang="en-US" sz="7200" dirty="0">
                <a:latin typeface="NSimSun" panose="02010609030101010101" pitchFamily="49" charset="-122"/>
                <a:ea typeface="NSimSun" panose="02010609030101010101" pitchFamily="49" charset="-122"/>
              </a:rPr>
              <a:t>SUPERVISED BY:</a:t>
            </a:r>
          </a:p>
          <a:p>
            <a:br>
              <a:rPr lang="en-US" sz="7200" dirty="0">
                <a:latin typeface="NSimSun" panose="02010609030101010101" pitchFamily="49" charset="-122"/>
                <a:ea typeface="NSimSun" panose="02010609030101010101" pitchFamily="49" charset="-122"/>
              </a:rPr>
            </a:br>
            <a:r>
              <a:rPr lang="en-US" sz="7200" b="1" dirty="0">
                <a:latin typeface="NSimSun" panose="02010609030101010101" pitchFamily="49" charset="-122"/>
                <a:ea typeface="NSimSun" panose="02010609030101010101" pitchFamily="49" charset="-122"/>
              </a:rPr>
              <a:t>Dr: Abdallah Mohamed Hassan</a:t>
            </a:r>
            <a:endParaRPr lang="en-US" sz="7200" dirty="0">
              <a:latin typeface="NSimSun" panose="02010609030101010101" pitchFamily="49" charset="-122"/>
              <a:ea typeface="NSimSun" panose="02010609030101010101" pitchFamily="49" charset="-12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1A258A-74D0-626F-C3F6-3549498C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324" y="30036"/>
            <a:ext cx="835676" cy="797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F435FD-E9CF-A472-C4BC-CAF0ED59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402" y="30037"/>
            <a:ext cx="835676" cy="7972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D58BF1-D7EF-31D2-BBA1-CF8C1D7B70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7" y="6215413"/>
            <a:ext cx="1120622" cy="4317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1BD837-4C31-68EA-AEBF-7B5762C78E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242" y="6041034"/>
            <a:ext cx="1366097" cy="91073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601F84D-B96E-8DD4-4861-C71C5908FD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757" y="6122860"/>
            <a:ext cx="1120622" cy="7470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A3F2C29-8F79-8524-9C97-C4EF274A88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236" y="6299600"/>
            <a:ext cx="896588" cy="39359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77C8AFF-CD5F-56F1-5D61-5533C488A2D0}"/>
              </a:ext>
            </a:extLst>
          </p:cNvPr>
          <p:cNvSpPr txBox="1"/>
          <p:nvPr/>
        </p:nvSpPr>
        <p:spPr>
          <a:xfrm>
            <a:off x="972145" y="5657232"/>
            <a:ext cx="1819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NSimSun" panose="02010609030101010101" pitchFamily="49" charset="-122"/>
                <a:ea typeface="NSimSun" panose="02010609030101010101" pitchFamily="49" charset="-122"/>
              </a:rPr>
              <a:t>SUPPORTED BY:</a:t>
            </a:r>
          </a:p>
        </p:txBody>
      </p:sp>
    </p:spTree>
    <p:extLst>
      <p:ext uri="{BB962C8B-B14F-4D97-AF65-F5344CB8AC3E}">
        <p14:creationId xmlns:p14="http://schemas.microsoft.com/office/powerpoint/2010/main" val="962540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394AA-FFD8-556E-C33A-2C8029B7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arlow Solid Italic" panose="04030604020F02020D02" pitchFamily="82" charset="0"/>
              </a:rPr>
              <a:t>Presented By:​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71503D3-1747-6BDA-11D7-49E72DE5E9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3462180"/>
              </p:ext>
            </p:extLst>
          </p:nvPr>
        </p:nvGraphicFramePr>
        <p:xfrm>
          <a:off x="838200" y="2100928"/>
          <a:ext cx="10515600" cy="33375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424401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515809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244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</a:rPr>
                        <a:t>Abdallah </a:t>
                      </a:r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</a:rPr>
                        <a:t>AbdelMomen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</a:rPr>
                        <a:t> Abdallah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104513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105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</a:rPr>
                        <a:t>Ahmad Gamal Ali Mansour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104502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568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</a:rPr>
                        <a:t>Abdallah Saleh Mohamed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104512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032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Amira Atef Roshdy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826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Alaa Hassan Wanas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933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Aya Gamal Taha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517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Gamila Adel Mohamed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624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Asmaa Saad Fouda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681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425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C46EFA2-BBF9-D363-D10E-57146FCD1526}"/>
              </a:ext>
            </a:extLst>
          </p:cNvPr>
          <p:cNvGrpSpPr/>
          <p:nvPr/>
        </p:nvGrpSpPr>
        <p:grpSpPr>
          <a:xfrm>
            <a:off x="606583" y="2151000"/>
            <a:ext cx="2556000" cy="2556000"/>
            <a:chOff x="1578843" y="1293750"/>
            <a:chExt cx="2556000" cy="2556000"/>
          </a:xfrm>
        </p:grpSpPr>
        <p:sp>
          <p:nvSpPr>
            <p:cNvPr id="58" name="شكل بيضاوي 1">
              <a:extLst>
                <a:ext uri="{FF2B5EF4-FFF2-40B4-BE49-F238E27FC236}">
                  <a16:creationId xmlns:a16="http://schemas.microsoft.com/office/drawing/2014/main" id="{66467CC5-6103-F79D-A679-4A05E849D26F}"/>
                </a:ext>
              </a:extLst>
            </p:cNvPr>
            <p:cNvSpPr/>
            <p:nvPr/>
          </p:nvSpPr>
          <p:spPr>
            <a:xfrm flipV="1">
              <a:off x="1578843" y="1293750"/>
              <a:ext cx="2556000" cy="2556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9" name="مربع نص 139">
              <a:extLst>
                <a:ext uri="{FF2B5EF4-FFF2-40B4-BE49-F238E27FC236}">
                  <a16:creationId xmlns:a16="http://schemas.microsoft.com/office/drawing/2014/main" id="{A7173396-EBC4-8DB4-8172-B9B2C76756C9}"/>
                </a:ext>
              </a:extLst>
            </p:cNvPr>
            <p:cNvSpPr txBox="1"/>
            <p:nvPr/>
          </p:nvSpPr>
          <p:spPr>
            <a:xfrm>
              <a:off x="1578843" y="2178405"/>
              <a:ext cx="24891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4000" b="1" dirty="0"/>
                <a:t>content</a:t>
              </a:r>
            </a:p>
          </p:txBody>
        </p:sp>
      </p:grpSp>
      <p:sp>
        <p:nvSpPr>
          <p:cNvPr id="6" name="قوس ممتلئ 54">
            <a:extLst>
              <a:ext uri="{FF2B5EF4-FFF2-40B4-BE49-F238E27FC236}">
                <a16:creationId xmlns:a16="http://schemas.microsoft.com/office/drawing/2014/main" id="{D14E275C-62B1-DF3E-3757-8CC560789C77}"/>
              </a:ext>
            </a:extLst>
          </p:cNvPr>
          <p:cNvSpPr/>
          <p:nvPr/>
        </p:nvSpPr>
        <p:spPr>
          <a:xfrm>
            <a:off x="534583" y="2079000"/>
            <a:ext cx="2700000" cy="2700000"/>
          </a:xfrm>
          <a:prstGeom prst="blockArc">
            <a:avLst>
              <a:gd name="adj1" fmla="val 15174240"/>
              <a:gd name="adj2" fmla="val 17152231"/>
              <a:gd name="adj3" fmla="val 2044"/>
            </a:avLst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قوس ممتلئ 55">
            <a:extLst>
              <a:ext uri="{FF2B5EF4-FFF2-40B4-BE49-F238E27FC236}">
                <a16:creationId xmlns:a16="http://schemas.microsoft.com/office/drawing/2014/main" id="{1240AD33-15F7-3006-1FE3-1799D5EEB4A5}"/>
              </a:ext>
            </a:extLst>
          </p:cNvPr>
          <p:cNvSpPr/>
          <p:nvPr/>
        </p:nvSpPr>
        <p:spPr>
          <a:xfrm rot="2147477">
            <a:off x="534583" y="2079000"/>
            <a:ext cx="2700000" cy="2700000"/>
          </a:xfrm>
          <a:prstGeom prst="blockArc">
            <a:avLst>
              <a:gd name="adj1" fmla="val 15009094"/>
              <a:gd name="adj2" fmla="val 16791133"/>
              <a:gd name="adj3" fmla="val 1858"/>
            </a:avLst>
          </a:prstGeom>
          <a:solidFill>
            <a:srgbClr val="00B0F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قوس ممتلئ 56">
            <a:extLst>
              <a:ext uri="{FF2B5EF4-FFF2-40B4-BE49-F238E27FC236}">
                <a16:creationId xmlns:a16="http://schemas.microsoft.com/office/drawing/2014/main" id="{751719BA-9BBE-E765-4B3A-E21B46135EC8}"/>
              </a:ext>
            </a:extLst>
          </p:cNvPr>
          <p:cNvSpPr/>
          <p:nvPr/>
        </p:nvSpPr>
        <p:spPr>
          <a:xfrm rot="4596867">
            <a:off x="534583" y="2079000"/>
            <a:ext cx="2700000" cy="2700000"/>
          </a:xfrm>
          <a:prstGeom prst="blockArc">
            <a:avLst>
              <a:gd name="adj1" fmla="val 14346087"/>
              <a:gd name="adj2" fmla="val 16246391"/>
              <a:gd name="adj3" fmla="val 1795"/>
            </a:avLst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قوس ممتلئ 57">
            <a:extLst>
              <a:ext uri="{FF2B5EF4-FFF2-40B4-BE49-F238E27FC236}">
                <a16:creationId xmlns:a16="http://schemas.microsoft.com/office/drawing/2014/main" id="{7AE0BC64-422C-82EF-1970-46A412A6BCF5}"/>
              </a:ext>
            </a:extLst>
          </p:cNvPr>
          <p:cNvSpPr/>
          <p:nvPr/>
        </p:nvSpPr>
        <p:spPr>
          <a:xfrm rot="7092124">
            <a:off x="534583" y="2079000"/>
            <a:ext cx="2700000" cy="2700000"/>
          </a:xfrm>
          <a:prstGeom prst="blockArc">
            <a:avLst>
              <a:gd name="adj1" fmla="val 13756494"/>
              <a:gd name="adj2" fmla="val 15711122"/>
              <a:gd name="adj3" fmla="val 1665"/>
            </a:avLst>
          </a:prstGeom>
          <a:solidFill>
            <a:srgbClr val="CC66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قوس ممتلئ 58">
            <a:extLst>
              <a:ext uri="{FF2B5EF4-FFF2-40B4-BE49-F238E27FC236}">
                <a16:creationId xmlns:a16="http://schemas.microsoft.com/office/drawing/2014/main" id="{9A498AB1-EC1B-3F1B-DEDA-9546D34D9A97}"/>
              </a:ext>
            </a:extLst>
          </p:cNvPr>
          <p:cNvSpPr/>
          <p:nvPr/>
        </p:nvSpPr>
        <p:spPr>
          <a:xfrm rot="9642189">
            <a:off x="534583" y="2079000"/>
            <a:ext cx="2700000" cy="2700000"/>
          </a:xfrm>
          <a:prstGeom prst="blockArc">
            <a:avLst>
              <a:gd name="adj1" fmla="val 13139138"/>
              <a:gd name="adj2" fmla="val 14967096"/>
              <a:gd name="adj3" fmla="val 1678"/>
            </a:avLst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قوس ممتلئ 59">
            <a:extLst>
              <a:ext uri="{FF2B5EF4-FFF2-40B4-BE49-F238E27FC236}">
                <a16:creationId xmlns:a16="http://schemas.microsoft.com/office/drawing/2014/main" id="{73484357-8B1D-859D-5EA8-FE8F697AA8AB}"/>
              </a:ext>
            </a:extLst>
          </p:cNvPr>
          <p:cNvSpPr/>
          <p:nvPr/>
        </p:nvSpPr>
        <p:spPr>
          <a:xfrm rot="12065816">
            <a:off x="534583" y="2079000"/>
            <a:ext cx="2700000" cy="2700000"/>
          </a:xfrm>
          <a:prstGeom prst="blockArc">
            <a:avLst>
              <a:gd name="adj1" fmla="val 12556239"/>
              <a:gd name="adj2" fmla="val 14279495"/>
              <a:gd name="adj3" fmla="val 1640"/>
            </a:avLst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قوس ممتلئ 60">
            <a:extLst>
              <a:ext uri="{FF2B5EF4-FFF2-40B4-BE49-F238E27FC236}">
                <a16:creationId xmlns:a16="http://schemas.microsoft.com/office/drawing/2014/main" id="{A5419636-0000-262B-5C51-A856BDDC9C6A}"/>
              </a:ext>
            </a:extLst>
          </p:cNvPr>
          <p:cNvSpPr/>
          <p:nvPr/>
        </p:nvSpPr>
        <p:spPr>
          <a:xfrm rot="14361363">
            <a:off x="534582" y="2079001"/>
            <a:ext cx="2700000" cy="2700000"/>
          </a:xfrm>
          <a:prstGeom prst="blockArc">
            <a:avLst>
              <a:gd name="adj1" fmla="val 11988106"/>
              <a:gd name="adj2" fmla="val 13808681"/>
              <a:gd name="adj3" fmla="val 1505"/>
            </a:avLst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قوس 61">
            <a:extLst>
              <a:ext uri="{FF2B5EF4-FFF2-40B4-BE49-F238E27FC236}">
                <a16:creationId xmlns:a16="http://schemas.microsoft.com/office/drawing/2014/main" id="{B7A84F4E-CDA4-D93F-B2A1-36470FCEB0C5}"/>
              </a:ext>
            </a:extLst>
          </p:cNvPr>
          <p:cNvSpPr/>
          <p:nvPr/>
        </p:nvSpPr>
        <p:spPr>
          <a:xfrm>
            <a:off x="56859" y="1579427"/>
            <a:ext cx="3655448" cy="3699146"/>
          </a:xfrm>
          <a:prstGeom prst="arc">
            <a:avLst>
              <a:gd name="adj1" fmla="val 15265844"/>
              <a:gd name="adj2" fmla="val 6522957"/>
            </a:avLst>
          </a:prstGeom>
          <a:noFill/>
          <a:ln w="1270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14" name="مستطيل 108">
            <a:extLst>
              <a:ext uri="{FF2B5EF4-FFF2-40B4-BE49-F238E27FC236}">
                <a16:creationId xmlns:a16="http://schemas.microsoft.com/office/drawing/2014/main" id="{4463827D-76A4-AE25-33C3-1B4329A25A0F}"/>
              </a:ext>
            </a:extLst>
          </p:cNvPr>
          <p:cNvSpPr/>
          <p:nvPr/>
        </p:nvSpPr>
        <p:spPr>
          <a:xfrm>
            <a:off x="3887772" y="857250"/>
            <a:ext cx="1950128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Introduction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88447EE-DB6B-B9B7-1132-0EB931BC87C5}"/>
              </a:ext>
            </a:extLst>
          </p:cNvPr>
          <p:cNvGrpSpPr/>
          <p:nvPr/>
        </p:nvGrpSpPr>
        <p:grpSpPr>
          <a:xfrm>
            <a:off x="3979077" y="1533145"/>
            <a:ext cx="3054839" cy="551272"/>
            <a:chOff x="4951337" y="675895"/>
            <a:chExt cx="3054839" cy="551272"/>
          </a:xfrm>
        </p:grpSpPr>
        <p:sp>
          <p:nvSpPr>
            <p:cNvPr id="56" name="مستطيل مستدير الزوايا 90">
              <a:extLst>
                <a:ext uri="{FF2B5EF4-FFF2-40B4-BE49-F238E27FC236}">
                  <a16:creationId xmlns:a16="http://schemas.microsoft.com/office/drawing/2014/main" id="{66ACF3E5-14A2-487A-F4FE-D23684E12721}"/>
                </a:ext>
              </a:extLst>
            </p:cNvPr>
            <p:cNvSpPr/>
            <p:nvPr/>
          </p:nvSpPr>
          <p:spPr>
            <a:xfrm>
              <a:off x="4951337" y="675895"/>
              <a:ext cx="2880000" cy="540000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endParaRPr lang="en-US" dirty="0"/>
            </a:p>
          </p:txBody>
        </p:sp>
        <p:sp>
          <p:nvSpPr>
            <p:cNvPr id="57" name="مستطيل 109">
              <a:extLst>
                <a:ext uri="{FF2B5EF4-FFF2-40B4-BE49-F238E27FC236}">
                  <a16:creationId xmlns:a16="http://schemas.microsoft.com/office/drawing/2014/main" id="{49909DE6-6C65-CA21-FC89-01DF59E90FA9}"/>
                </a:ext>
              </a:extLst>
            </p:cNvPr>
            <p:cNvSpPr/>
            <p:nvPr/>
          </p:nvSpPr>
          <p:spPr>
            <a:xfrm>
              <a:off x="5491337" y="687167"/>
              <a:ext cx="2514839" cy="5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V2V System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B6C0C36-501C-A95F-32F7-A6EECA147B2B}"/>
              </a:ext>
            </a:extLst>
          </p:cNvPr>
          <p:cNvGrpSpPr/>
          <p:nvPr/>
        </p:nvGrpSpPr>
        <p:grpSpPr>
          <a:xfrm>
            <a:off x="4618852" y="3159000"/>
            <a:ext cx="2880000" cy="540000"/>
            <a:chOff x="5591112" y="2301750"/>
            <a:chExt cx="2880000" cy="540000"/>
          </a:xfrm>
        </p:grpSpPr>
        <p:sp>
          <p:nvSpPr>
            <p:cNvPr id="54" name="مستطيل مستدير الزوايا 92">
              <a:extLst>
                <a:ext uri="{FF2B5EF4-FFF2-40B4-BE49-F238E27FC236}">
                  <a16:creationId xmlns:a16="http://schemas.microsoft.com/office/drawing/2014/main" id="{6195BE29-67FC-D749-B948-BDC007D42CA9}"/>
                </a:ext>
              </a:extLst>
            </p:cNvPr>
            <p:cNvSpPr/>
            <p:nvPr/>
          </p:nvSpPr>
          <p:spPr>
            <a:xfrm>
              <a:off x="5591112" y="2301750"/>
              <a:ext cx="2880000" cy="540000"/>
            </a:xfrm>
            <a:prstGeom prst="roundRect">
              <a:avLst>
                <a:gd name="adj" fmla="val 50000"/>
              </a:avLst>
            </a:prstGeom>
            <a:solidFill>
              <a:srgbClr val="CC66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endParaRPr lang="en-US"/>
            </a:p>
          </p:txBody>
        </p:sp>
        <p:sp>
          <p:nvSpPr>
            <p:cNvPr id="55" name="مستطيل 111">
              <a:extLst>
                <a:ext uri="{FF2B5EF4-FFF2-40B4-BE49-F238E27FC236}">
                  <a16:creationId xmlns:a16="http://schemas.microsoft.com/office/drawing/2014/main" id="{952220F7-1330-2987-A717-3FEFD7E85F73}"/>
                </a:ext>
              </a:extLst>
            </p:cNvPr>
            <p:cNvSpPr/>
            <p:nvPr/>
          </p:nvSpPr>
          <p:spPr>
            <a:xfrm>
              <a:off x="6228184" y="2301750"/>
              <a:ext cx="1950128" cy="5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V2N System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AA78910-A9A6-64EA-BF72-C3BF391A39F1}"/>
              </a:ext>
            </a:extLst>
          </p:cNvPr>
          <p:cNvGrpSpPr/>
          <p:nvPr/>
        </p:nvGrpSpPr>
        <p:grpSpPr>
          <a:xfrm>
            <a:off x="4441500" y="3992526"/>
            <a:ext cx="2880000" cy="540000"/>
            <a:chOff x="5413760" y="3135276"/>
            <a:chExt cx="2880000" cy="540000"/>
          </a:xfrm>
        </p:grpSpPr>
        <p:sp>
          <p:nvSpPr>
            <p:cNvPr id="52" name="مستطيل مستدير الزوايا 94">
              <a:extLst>
                <a:ext uri="{FF2B5EF4-FFF2-40B4-BE49-F238E27FC236}">
                  <a16:creationId xmlns:a16="http://schemas.microsoft.com/office/drawing/2014/main" id="{8F4C0419-A06F-98A0-7A26-69297B2F4E9E}"/>
                </a:ext>
              </a:extLst>
            </p:cNvPr>
            <p:cNvSpPr/>
            <p:nvPr/>
          </p:nvSpPr>
          <p:spPr>
            <a:xfrm>
              <a:off x="5413760" y="3135276"/>
              <a:ext cx="2880000" cy="540000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endParaRPr lang="en-US"/>
            </a:p>
          </p:txBody>
        </p:sp>
        <p:sp>
          <p:nvSpPr>
            <p:cNvPr id="53" name="مستطيل 112">
              <a:extLst>
                <a:ext uri="{FF2B5EF4-FFF2-40B4-BE49-F238E27FC236}">
                  <a16:creationId xmlns:a16="http://schemas.microsoft.com/office/drawing/2014/main" id="{9EA17A26-2E06-95A9-EBE0-80067D7D6E35}"/>
                </a:ext>
              </a:extLst>
            </p:cNvPr>
            <p:cNvSpPr/>
            <p:nvPr/>
          </p:nvSpPr>
          <p:spPr>
            <a:xfrm>
              <a:off x="6056048" y="3135276"/>
              <a:ext cx="1950128" cy="5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noProof="1"/>
                <a:t>V2P System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2F6610A-0B88-6A76-0BCD-F1F7B05A53FB}"/>
              </a:ext>
            </a:extLst>
          </p:cNvPr>
          <p:cNvGrpSpPr/>
          <p:nvPr/>
        </p:nvGrpSpPr>
        <p:grpSpPr>
          <a:xfrm>
            <a:off x="3979077" y="4647534"/>
            <a:ext cx="3002128" cy="599466"/>
            <a:chOff x="5004048" y="3790284"/>
            <a:chExt cx="3002128" cy="599466"/>
          </a:xfrm>
        </p:grpSpPr>
        <p:sp>
          <p:nvSpPr>
            <p:cNvPr id="50" name="مستطيل مستدير الزوايا 95">
              <a:extLst>
                <a:ext uri="{FF2B5EF4-FFF2-40B4-BE49-F238E27FC236}">
                  <a16:creationId xmlns:a16="http://schemas.microsoft.com/office/drawing/2014/main" id="{C98BF7D0-49F0-4AF4-477D-73CDCA669845}"/>
                </a:ext>
              </a:extLst>
            </p:cNvPr>
            <p:cNvSpPr/>
            <p:nvPr/>
          </p:nvSpPr>
          <p:spPr>
            <a:xfrm>
              <a:off x="5004048" y="3790284"/>
              <a:ext cx="2880000" cy="54000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endParaRPr lang="en-US" dirty="0"/>
            </a:p>
          </p:txBody>
        </p:sp>
        <p:sp>
          <p:nvSpPr>
            <p:cNvPr id="51" name="مستطيل 113">
              <a:extLst>
                <a:ext uri="{FF2B5EF4-FFF2-40B4-BE49-F238E27FC236}">
                  <a16:creationId xmlns:a16="http://schemas.microsoft.com/office/drawing/2014/main" id="{C985415C-0B83-BD9C-BBC3-5BD04FBC7CAE}"/>
                </a:ext>
              </a:extLst>
            </p:cNvPr>
            <p:cNvSpPr/>
            <p:nvPr/>
          </p:nvSpPr>
          <p:spPr>
            <a:xfrm>
              <a:off x="5221337" y="3849750"/>
              <a:ext cx="2784839" cy="5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B95FE35-A65A-F0C4-A25D-D2F7D42A3EBC}"/>
              </a:ext>
            </a:extLst>
          </p:cNvPr>
          <p:cNvGrpSpPr/>
          <p:nvPr/>
        </p:nvGrpSpPr>
        <p:grpSpPr>
          <a:xfrm>
            <a:off x="3409725" y="5445480"/>
            <a:ext cx="2880000" cy="540000"/>
            <a:chOff x="4381985" y="4588230"/>
            <a:chExt cx="2880000" cy="540000"/>
          </a:xfrm>
        </p:grpSpPr>
        <p:sp>
          <p:nvSpPr>
            <p:cNvPr id="48" name="مستطيل مستدير الزوايا 96">
              <a:extLst>
                <a:ext uri="{FF2B5EF4-FFF2-40B4-BE49-F238E27FC236}">
                  <a16:creationId xmlns:a16="http://schemas.microsoft.com/office/drawing/2014/main" id="{58EB9A32-3016-9FFA-F24A-F9BC2B5A2E22}"/>
                </a:ext>
              </a:extLst>
            </p:cNvPr>
            <p:cNvSpPr/>
            <p:nvPr/>
          </p:nvSpPr>
          <p:spPr>
            <a:xfrm>
              <a:off x="4381985" y="4588230"/>
              <a:ext cx="2880000" cy="540000"/>
            </a:xfrm>
            <a:prstGeom prst="roundRect">
              <a:avLst>
                <a:gd name="adj" fmla="val 50000"/>
              </a:avLst>
            </a:prstGeom>
            <a:solidFill>
              <a:srgbClr val="00206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endParaRPr lang="en-US"/>
            </a:p>
          </p:txBody>
        </p:sp>
        <p:sp>
          <p:nvSpPr>
            <p:cNvPr id="49" name="مستطيل 114">
              <a:extLst>
                <a:ext uri="{FF2B5EF4-FFF2-40B4-BE49-F238E27FC236}">
                  <a16:creationId xmlns:a16="http://schemas.microsoft.com/office/drawing/2014/main" id="{B7632648-87C2-6CAD-74E0-365CCCF74199}"/>
                </a:ext>
              </a:extLst>
            </p:cNvPr>
            <p:cNvSpPr/>
            <p:nvPr/>
          </p:nvSpPr>
          <p:spPr>
            <a:xfrm>
              <a:off x="5012432" y="4588230"/>
              <a:ext cx="1950128" cy="5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EAA4B84-CCE1-F7C8-693E-E544F78241BA}"/>
              </a:ext>
            </a:extLst>
          </p:cNvPr>
          <p:cNvGrpSpPr/>
          <p:nvPr/>
        </p:nvGrpSpPr>
        <p:grpSpPr>
          <a:xfrm>
            <a:off x="4397900" y="2284712"/>
            <a:ext cx="2880000" cy="540000"/>
            <a:chOff x="5370160" y="1427462"/>
            <a:chExt cx="2880000" cy="540000"/>
          </a:xfrm>
        </p:grpSpPr>
        <p:sp>
          <p:nvSpPr>
            <p:cNvPr id="46" name="مستطيل مستدير الزوايا 91">
              <a:extLst>
                <a:ext uri="{FF2B5EF4-FFF2-40B4-BE49-F238E27FC236}">
                  <a16:creationId xmlns:a16="http://schemas.microsoft.com/office/drawing/2014/main" id="{86B4B8D1-9139-542E-B3D9-A5B3CEB96542}"/>
                </a:ext>
              </a:extLst>
            </p:cNvPr>
            <p:cNvSpPr/>
            <p:nvPr/>
          </p:nvSpPr>
          <p:spPr>
            <a:xfrm>
              <a:off x="5370160" y="1427462"/>
              <a:ext cx="2880000" cy="540000"/>
            </a:xfrm>
            <a:prstGeom prst="roundRect">
              <a:avLst>
                <a:gd name="adj" fmla="val 50000"/>
              </a:avLst>
            </a:prstGeom>
            <a:solidFill>
              <a:srgbClr val="00B05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endParaRPr lang="en-US"/>
            </a:p>
          </p:txBody>
        </p:sp>
        <p:sp>
          <p:nvSpPr>
            <p:cNvPr id="47" name="مستطيل 116">
              <a:extLst>
                <a:ext uri="{FF2B5EF4-FFF2-40B4-BE49-F238E27FC236}">
                  <a16:creationId xmlns:a16="http://schemas.microsoft.com/office/drawing/2014/main" id="{B03E2E89-B56C-00F7-4546-D3508033FBD3}"/>
                </a:ext>
              </a:extLst>
            </p:cNvPr>
            <p:cNvSpPr/>
            <p:nvPr/>
          </p:nvSpPr>
          <p:spPr>
            <a:xfrm>
              <a:off x="6042937" y="1427462"/>
              <a:ext cx="1950128" cy="5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V2I System</a:t>
              </a:r>
            </a:p>
          </p:txBody>
        </p:sp>
      </p:grpSp>
      <p:sp>
        <p:nvSpPr>
          <p:cNvPr id="21" name="شكل حر 120">
            <a:extLst>
              <a:ext uri="{FF2B5EF4-FFF2-40B4-BE49-F238E27FC236}">
                <a16:creationId xmlns:a16="http://schemas.microsoft.com/office/drawing/2014/main" id="{EC3022E9-2847-6BF8-F9BF-9A24A387DCAD}"/>
              </a:ext>
            </a:extLst>
          </p:cNvPr>
          <p:cNvSpPr/>
          <p:nvPr/>
        </p:nvSpPr>
        <p:spPr>
          <a:xfrm flipV="1">
            <a:off x="2859598" y="1840229"/>
            <a:ext cx="1105902" cy="48093"/>
          </a:xfrm>
          <a:custGeom>
            <a:avLst/>
            <a:gdLst>
              <a:gd name="connsiteX0" fmla="*/ 1051560 w 1051560"/>
              <a:gd name="connsiteY0" fmla="*/ 0 h 0"/>
              <a:gd name="connsiteX1" fmla="*/ 0 w 105156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1560">
                <a:moveTo>
                  <a:pt x="1051560" y="0"/>
                </a:moveTo>
                <a:lnTo>
                  <a:pt x="0" y="0"/>
                </a:lnTo>
              </a:path>
            </a:pathLst>
          </a:cu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3" name="شكل حر 131">
            <a:extLst>
              <a:ext uri="{FF2B5EF4-FFF2-40B4-BE49-F238E27FC236}">
                <a16:creationId xmlns:a16="http://schemas.microsoft.com/office/drawing/2014/main" id="{3AF342B1-C92E-7203-8093-C53F3995C9E5}"/>
              </a:ext>
            </a:extLst>
          </p:cNvPr>
          <p:cNvSpPr/>
          <p:nvPr/>
        </p:nvSpPr>
        <p:spPr>
          <a:xfrm>
            <a:off x="1884583" y="1196751"/>
            <a:ext cx="1341777" cy="382675"/>
          </a:xfrm>
          <a:custGeom>
            <a:avLst/>
            <a:gdLst>
              <a:gd name="connsiteX0" fmla="*/ 1287780 w 1287780"/>
              <a:gd name="connsiteY0" fmla="*/ 0 h 289560"/>
              <a:gd name="connsiteX1" fmla="*/ 289560 w 1287780"/>
              <a:gd name="connsiteY1" fmla="*/ 0 h 289560"/>
              <a:gd name="connsiteX2" fmla="*/ 0 w 1287780"/>
              <a:gd name="connsiteY2" fmla="*/ 289560 h 289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7780" h="289560">
                <a:moveTo>
                  <a:pt x="1287780" y="0"/>
                </a:moveTo>
                <a:lnTo>
                  <a:pt x="289560" y="0"/>
                </a:lnTo>
                <a:lnTo>
                  <a:pt x="0" y="289560"/>
                </a:lnTo>
              </a:path>
            </a:pathLst>
          </a:cu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4" name="شكل حر 132">
            <a:extLst>
              <a:ext uri="{FF2B5EF4-FFF2-40B4-BE49-F238E27FC236}">
                <a16:creationId xmlns:a16="http://schemas.microsoft.com/office/drawing/2014/main" id="{5D6F460B-83BD-D4E1-72B3-8206A07E2C8C}"/>
              </a:ext>
            </a:extLst>
          </p:cNvPr>
          <p:cNvSpPr/>
          <p:nvPr/>
        </p:nvSpPr>
        <p:spPr>
          <a:xfrm>
            <a:off x="2753920" y="4987290"/>
            <a:ext cx="1226820" cy="129540"/>
          </a:xfrm>
          <a:custGeom>
            <a:avLst/>
            <a:gdLst>
              <a:gd name="connsiteX0" fmla="*/ 1226820 w 1226820"/>
              <a:gd name="connsiteY0" fmla="*/ 0 h 129540"/>
              <a:gd name="connsiteX1" fmla="*/ 205740 w 1226820"/>
              <a:gd name="connsiteY1" fmla="*/ 0 h 129540"/>
              <a:gd name="connsiteX2" fmla="*/ 0 w 1226820"/>
              <a:gd name="connsiteY2" fmla="*/ 129540 h 12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26820" h="129540">
                <a:moveTo>
                  <a:pt x="1226820" y="0"/>
                </a:moveTo>
                <a:lnTo>
                  <a:pt x="205740" y="0"/>
                </a:lnTo>
                <a:lnTo>
                  <a:pt x="0" y="129540"/>
                </a:lnTo>
              </a:path>
            </a:pathLst>
          </a:cu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5" name="شكل حر 133">
            <a:extLst>
              <a:ext uri="{FF2B5EF4-FFF2-40B4-BE49-F238E27FC236}">
                <a16:creationId xmlns:a16="http://schemas.microsoft.com/office/drawing/2014/main" id="{E6A45232-F806-98B6-2DB2-C596983291C3}"/>
              </a:ext>
            </a:extLst>
          </p:cNvPr>
          <p:cNvSpPr/>
          <p:nvPr/>
        </p:nvSpPr>
        <p:spPr>
          <a:xfrm>
            <a:off x="3477820" y="4271010"/>
            <a:ext cx="952500" cy="160020"/>
          </a:xfrm>
          <a:custGeom>
            <a:avLst/>
            <a:gdLst>
              <a:gd name="connsiteX0" fmla="*/ 952500 w 952500"/>
              <a:gd name="connsiteY0" fmla="*/ 0 h 160020"/>
              <a:gd name="connsiteX1" fmla="*/ 99060 w 952500"/>
              <a:gd name="connsiteY1" fmla="*/ 0 h 160020"/>
              <a:gd name="connsiteX2" fmla="*/ 0 w 952500"/>
              <a:gd name="connsiteY2" fmla="*/ 160020 h 160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2500" h="160020">
                <a:moveTo>
                  <a:pt x="952500" y="0"/>
                </a:moveTo>
                <a:lnTo>
                  <a:pt x="99060" y="0"/>
                </a:lnTo>
                <a:lnTo>
                  <a:pt x="0" y="160020"/>
                </a:lnTo>
              </a:path>
            </a:pathLst>
          </a:cu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6" name="شكل حر 136">
            <a:extLst>
              <a:ext uri="{FF2B5EF4-FFF2-40B4-BE49-F238E27FC236}">
                <a16:creationId xmlns:a16="http://schemas.microsoft.com/office/drawing/2014/main" id="{85C8581E-0065-E840-9E4D-8FB8416DC2E3}"/>
              </a:ext>
            </a:extLst>
          </p:cNvPr>
          <p:cNvSpPr/>
          <p:nvPr/>
        </p:nvSpPr>
        <p:spPr>
          <a:xfrm>
            <a:off x="3604864" y="2541270"/>
            <a:ext cx="787356" cy="81812"/>
          </a:xfrm>
          <a:custGeom>
            <a:avLst/>
            <a:gdLst>
              <a:gd name="connsiteX0" fmla="*/ 784860 w 784860"/>
              <a:gd name="connsiteY0" fmla="*/ 0 h 38100"/>
              <a:gd name="connsiteX1" fmla="*/ 15240 w 784860"/>
              <a:gd name="connsiteY1" fmla="*/ 0 h 38100"/>
              <a:gd name="connsiteX2" fmla="*/ 0 w 784860"/>
              <a:gd name="connsiteY2" fmla="*/ 3810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4860" h="38100">
                <a:moveTo>
                  <a:pt x="784860" y="0"/>
                </a:moveTo>
                <a:lnTo>
                  <a:pt x="15240" y="0"/>
                </a:lnTo>
                <a:lnTo>
                  <a:pt x="0" y="38100"/>
                </a:lnTo>
              </a:path>
            </a:pathLst>
          </a:cu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7" name="شكل حر 138">
            <a:extLst>
              <a:ext uri="{FF2B5EF4-FFF2-40B4-BE49-F238E27FC236}">
                <a16:creationId xmlns:a16="http://schemas.microsoft.com/office/drawing/2014/main" id="{BDA8F2EA-F9AA-6CE0-F9C4-63418E7FA15E}"/>
              </a:ext>
            </a:extLst>
          </p:cNvPr>
          <p:cNvSpPr/>
          <p:nvPr/>
        </p:nvSpPr>
        <p:spPr>
          <a:xfrm>
            <a:off x="3734154" y="3432809"/>
            <a:ext cx="886666" cy="187621"/>
          </a:xfrm>
          <a:custGeom>
            <a:avLst/>
            <a:gdLst>
              <a:gd name="connsiteX0" fmla="*/ 830580 w 830580"/>
              <a:gd name="connsiteY0" fmla="*/ 0 h 121920"/>
              <a:gd name="connsiteX1" fmla="*/ 38100 w 830580"/>
              <a:gd name="connsiteY1" fmla="*/ 0 h 121920"/>
              <a:gd name="connsiteX2" fmla="*/ 0 w 830580"/>
              <a:gd name="connsiteY2" fmla="*/ 121920 h 12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0580" h="121920">
                <a:moveTo>
                  <a:pt x="830580" y="0"/>
                </a:moveTo>
                <a:lnTo>
                  <a:pt x="38100" y="0"/>
                </a:lnTo>
                <a:lnTo>
                  <a:pt x="0" y="121920"/>
                </a:ln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8" name="شكل بيضاوي 62">
            <a:extLst>
              <a:ext uri="{FF2B5EF4-FFF2-40B4-BE49-F238E27FC236}">
                <a16:creationId xmlns:a16="http://schemas.microsoft.com/office/drawing/2014/main" id="{8B5E3A75-F96C-3342-8BF8-65FDFD26DE03}"/>
              </a:ext>
            </a:extLst>
          </p:cNvPr>
          <p:cNvSpPr/>
          <p:nvPr/>
        </p:nvSpPr>
        <p:spPr>
          <a:xfrm>
            <a:off x="1794583" y="1489429"/>
            <a:ext cx="180000" cy="180000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635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شكل بيضاوي 63">
            <a:extLst>
              <a:ext uri="{FF2B5EF4-FFF2-40B4-BE49-F238E27FC236}">
                <a16:creationId xmlns:a16="http://schemas.microsoft.com/office/drawing/2014/main" id="{04A7B593-6DDF-3547-6E01-9147C3E81896}"/>
              </a:ext>
            </a:extLst>
          </p:cNvPr>
          <p:cNvSpPr/>
          <p:nvPr/>
        </p:nvSpPr>
        <p:spPr>
          <a:xfrm>
            <a:off x="2769598" y="1798323"/>
            <a:ext cx="180000" cy="180000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635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0" name="شكل بيضاوي 64">
            <a:extLst>
              <a:ext uri="{FF2B5EF4-FFF2-40B4-BE49-F238E27FC236}">
                <a16:creationId xmlns:a16="http://schemas.microsoft.com/office/drawing/2014/main" id="{3F387FE1-F3E8-103E-4B18-AE5ADE5AEEA4}"/>
              </a:ext>
            </a:extLst>
          </p:cNvPr>
          <p:cNvSpPr/>
          <p:nvPr/>
        </p:nvSpPr>
        <p:spPr>
          <a:xfrm>
            <a:off x="3435297" y="2533082"/>
            <a:ext cx="180000" cy="180000"/>
          </a:xfrm>
          <a:prstGeom prst="ellipse">
            <a:avLst/>
          </a:prstGeom>
          <a:solidFill>
            <a:srgbClr val="00B05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/>
          </a:p>
        </p:txBody>
      </p:sp>
      <p:sp>
        <p:nvSpPr>
          <p:cNvPr id="31" name="شكل بيضاوي 65">
            <a:extLst>
              <a:ext uri="{FF2B5EF4-FFF2-40B4-BE49-F238E27FC236}">
                <a16:creationId xmlns:a16="http://schemas.microsoft.com/office/drawing/2014/main" id="{004115B9-F296-9BD2-6D12-9CB4C1C13ABD}"/>
              </a:ext>
            </a:extLst>
          </p:cNvPr>
          <p:cNvSpPr/>
          <p:nvPr/>
        </p:nvSpPr>
        <p:spPr>
          <a:xfrm>
            <a:off x="3613517" y="3530431"/>
            <a:ext cx="180000" cy="180000"/>
          </a:xfrm>
          <a:prstGeom prst="ellipse">
            <a:avLst/>
          </a:prstGeom>
          <a:solidFill>
            <a:srgbClr val="CC66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/>
          </a:p>
        </p:txBody>
      </p:sp>
      <p:sp>
        <p:nvSpPr>
          <p:cNvPr id="32" name="شكل بيضاوي 66">
            <a:extLst>
              <a:ext uri="{FF2B5EF4-FFF2-40B4-BE49-F238E27FC236}">
                <a16:creationId xmlns:a16="http://schemas.microsoft.com/office/drawing/2014/main" id="{062F2E2D-6237-A781-23C9-8803CC9BB430}"/>
              </a:ext>
            </a:extLst>
          </p:cNvPr>
          <p:cNvSpPr/>
          <p:nvPr/>
        </p:nvSpPr>
        <p:spPr>
          <a:xfrm>
            <a:off x="3310989" y="4388178"/>
            <a:ext cx="180000" cy="180000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635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/>
          </a:p>
        </p:txBody>
      </p:sp>
      <p:sp>
        <p:nvSpPr>
          <p:cNvPr id="33" name="شكل بيضاوي 67">
            <a:extLst>
              <a:ext uri="{FF2B5EF4-FFF2-40B4-BE49-F238E27FC236}">
                <a16:creationId xmlns:a16="http://schemas.microsoft.com/office/drawing/2014/main" id="{194FFBC5-10A0-CABD-319A-C45FBBD737F6}"/>
              </a:ext>
            </a:extLst>
          </p:cNvPr>
          <p:cNvSpPr/>
          <p:nvPr/>
        </p:nvSpPr>
        <p:spPr>
          <a:xfrm>
            <a:off x="2589598" y="5008336"/>
            <a:ext cx="180000" cy="1800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635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4" name="شكل بيضاوي 68">
            <a:extLst>
              <a:ext uri="{FF2B5EF4-FFF2-40B4-BE49-F238E27FC236}">
                <a16:creationId xmlns:a16="http://schemas.microsoft.com/office/drawing/2014/main" id="{78AC4C8E-F8D7-4530-A8E3-5AA3D9C00D9C}"/>
              </a:ext>
            </a:extLst>
          </p:cNvPr>
          <p:cNvSpPr/>
          <p:nvPr/>
        </p:nvSpPr>
        <p:spPr>
          <a:xfrm>
            <a:off x="1694983" y="5166724"/>
            <a:ext cx="180000" cy="18000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635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01939E4-E7CD-32C6-9F19-486A7374347B}"/>
              </a:ext>
            </a:extLst>
          </p:cNvPr>
          <p:cNvGrpSpPr/>
          <p:nvPr/>
        </p:nvGrpSpPr>
        <p:grpSpPr>
          <a:xfrm>
            <a:off x="3194154" y="857250"/>
            <a:ext cx="2880000" cy="540000"/>
            <a:chOff x="4206843" y="0"/>
            <a:chExt cx="2880000" cy="540000"/>
          </a:xfrm>
        </p:grpSpPr>
        <p:sp>
          <p:nvSpPr>
            <p:cNvPr id="44" name="مستطيل مستدير الزوايا 77">
              <a:extLst>
                <a:ext uri="{FF2B5EF4-FFF2-40B4-BE49-F238E27FC236}">
                  <a16:creationId xmlns:a16="http://schemas.microsoft.com/office/drawing/2014/main" id="{36FD9A7F-E60F-2B3C-A614-D3598C7935A1}"/>
                </a:ext>
              </a:extLst>
            </p:cNvPr>
            <p:cNvSpPr/>
            <p:nvPr/>
          </p:nvSpPr>
          <p:spPr>
            <a:xfrm>
              <a:off x="4206843" y="0"/>
              <a:ext cx="2880000" cy="540000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endParaRPr lang="en-US"/>
            </a:p>
          </p:txBody>
        </p:sp>
        <p:sp>
          <p:nvSpPr>
            <p:cNvPr id="45" name="مستطيل 115">
              <a:extLst>
                <a:ext uri="{FF2B5EF4-FFF2-40B4-BE49-F238E27FC236}">
                  <a16:creationId xmlns:a16="http://schemas.microsoft.com/office/drawing/2014/main" id="{844FFB21-4FC8-EE86-FFED-6D9431C4DE66}"/>
                </a:ext>
              </a:extLst>
            </p:cNvPr>
            <p:cNvSpPr/>
            <p:nvPr/>
          </p:nvSpPr>
          <p:spPr>
            <a:xfrm>
              <a:off x="4846921" y="0"/>
              <a:ext cx="1950128" cy="5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Introduction</a:t>
              </a:r>
            </a:p>
          </p:txBody>
        </p:sp>
      </p:grpSp>
      <p:sp>
        <p:nvSpPr>
          <p:cNvPr id="37" name="شكل بيضاوي 100">
            <a:extLst>
              <a:ext uri="{FF2B5EF4-FFF2-40B4-BE49-F238E27FC236}">
                <a16:creationId xmlns:a16="http://schemas.microsoft.com/office/drawing/2014/main" id="{B8135AF3-3438-AFEE-64A6-4A2872C94488}"/>
              </a:ext>
            </a:extLst>
          </p:cNvPr>
          <p:cNvSpPr/>
          <p:nvPr/>
        </p:nvSpPr>
        <p:spPr>
          <a:xfrm>
            <a:off x="3172307" y="855753"/>
            <a:ext cx="540000" cy="54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</a:rPr>
              <a:t>01</a:t>
            </a:r>
            <a:endParaRPr lang="en-US" sz="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شكل بيضاوي 101">
            <a:extLst>
              <a:ext uri="{FF2B5EF4-FFF2-40B4-BE49-F238E27FC236}">
                <a16:creationId xmlns:a16="http://schemas.microsoft.com/office/drawing/2014/main" id="{CC49F6DE-15BB-468B-FDD2-188FE0E69783}"/>
              </a:ext>
            </a:extLst>
          </p:cNvPr>
          <p:cNvSpPr/>
          <p:nvPr/>
        </p:nvSpPr>
        <p:spPr>
          <a:xfrm>
            <a:off x="3979077" y="1534642"/>
            <a:ext cx="540000" cy="54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</a:rPr>
              <a:t>02</a:t>
            </a:r>
          </a:p>
        </p:txBody>
      </p:sp>
      <p:sp>
        <p:nvSpPr>
          <p:cNvPr id="39" name="شكل بيضاوي 102">
            <a:extLst>
              <a:ext uri="{FF2B5EF4-FFF2-40B4-BE49-F238E27FC236}">
                <a16:creationId xmlns:a16="http://schemas.microsoft.com/office/drawing/2014/main" id="{16D9C0B6-75C3-1921-26BF-618DEAAF667B}"/>
              </a:ext>
            </a:extLst>
          </p:cNvPr>
          <p:cNvSpPr/>
          <p:nvPr/>
        </p:nvSpPr>
        <p:spPr>
          <a:xfrm>
            <a:off x="4397900" y="2284712"/>
            <a:ext cx="540000" cy="54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</a:rPr>
              <a:t>03</a:t>
            </a:r>
          </a:p>
        </p:txBody>
      </p:sp>
      <p:sp>
        <p:nvSpPr>
          <p:cNvPr id="40" name="شكل بيضاوي 103">
            <a:extLst>
              <a:ext uri="{FF2B5EF4-FFF2-40B4-BE49-F238E27FC236}">
                <a16:creationId xmlns:a16="http://schemas.microsoft.com/office/drawing/2014/main" id="{F4E2559C-E41C-3F47-43C1-10C0353F9147}"/>
              </a:ext>
            </a:extLst>
          </p:cNvPr>
          <p:cNvSpPr/>
          <p:nvPr/>
        </p:nvSpPr>
        <p:spPr>
          <a:xfrm>
            <a:off x="4618852" y="3159000"/>
            <a:ext cx="540000" cy="54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</a:rPr>
              <a:t>04</a:t>
            </a:r>
          </a:p>
        </p:txBody>
      </p:sp>
      <p:sp>
        <p:nvSpPr>
          <p:cNvPr id="41" name="شكل بيضاوي 104">
            <a:extLst>
              <a:ext uri="{FF2B5EF4-FFF2-40B4-BE49-F238E27FC236}">
                <a16:creationId xmlns:a16="http://schemas.microsoft.com/office/drawing/2014/main" id="{6122F812-7A85-176D-FF25-8C936450B0C1}"/>
              </a:ext>
            </a:extLst>
          </p:cNvPr>
          <p:cNvSpPr/>
          <p:nvPr/>
        </p:nvSpPr>
        <p:spPr>
          <a:xfrm>
            <a:off x="4441500" y="3992526"/>
            <a:ext cx="540000" cy="54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</a:rPr>
              <a:t>05</a:t>
            </a:r>
          </a:p>
        </p:txBody>
      </p:sp>
      <p:sp>
        <p:nvSpPr>
          <p:cNvPr id="42" name="شكل بيضاوي 105">
            <a:extLst>
              <a:ext uri="{FF2B5EF4-FFF2-40B4-BE49-F238E27FC236}">
                <a16:creationId xmlns:a16="http://schemas.microsoft.com/office/drawing/2014/main" id="{DE091769-89FF-A3D1-4095-E3E157906361}"/>
              </a:ext>
            </a:extLst>
          </p:cNvPr>
          <p:cNvSpPr/>
          <p:nvPr/>
        </p:nvSpPr>
        <p:spPr>
          <a:xfrm>
            <a:off x="3960646" y="4647534"/>
            <a:ext cx="540000" cy="54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</a:rPr>
              <a:t>06</a:t>
            </a:r>
          </a:p>
        </p:txBody>
      </p:sp>
      <p:sp>
        <p:nvSpPr>
          <p:cNvPr id="43" name="شكل بيضاوي 106">
            <a:extLst>
              <a:ext uri="{FF2B5EF4-FFF2-40B4-BE49-F238E27FC236}">
                <a16:creationId xmlns:a16="http://schemas.microsoft.com/office/drawing/2014/main" id="{4A96DDA5-86E0-EA91-29F6-FEE99D634F2A}"/>
              </a:ext>
            </a:extLst>
          </p:cNvPr>
          <p:cNvSpPr/>
          <p:nvPr/>
        </p:nvSpPr>
        <p:spPr>
          <a:xfrm>
            <a:off x="3409725" y="5445480"/>
            <a:ext cx="540000" cy="54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</a:rPr>
              <a:t>07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3839BD3-EB66-63F0-773A-585F45ED5FE8}"/>
              </a:ext>
            </a:extLst>
          </p:cNvPr>
          <p:cNvGrpSpPr/>
          <p:nvPr/>
        </p:nvGrpSpPr>
        <p:grpSpPr>
          <a:xfrm>
            <a:off x="9002097" y="254720"/>
            <a:ext cx="2880000" cy="549338"/>
            <a:chOff x="4987792" y="616266"/>
            <a:chExt cx="2880000" cy="549338"/>
          </a:xfrm>
        </p:grpSpPr>
        <p:sp>
          <p:nvSpPr>
            <p:cNvPr id="61" name="مستطيل مستدير الزوايا 90">
              <a:extLst>
                <a:ext uri="{FF2B5EF4-FFF2-40B4-BE49-F238E27FC236}">
                  <a16:creationId xmlns:a16="http://schemas.microsoft.com/office/drawing/2014/main" id="{901CFF2C-E347-91AB-C02A-2237304689A8}"/>
                </a:ext>
              </a:extLst>
            </p:cNvPr>
            <p:cNvSpPr/>
            <p:nvPr/>
          </p:nvSpPr>
          <p:spPr>
            <a:xfrm>
              <a:off x="4987792" y="616266"/>
              <a:ext cx="2880000" cy="540000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endParaRPr lang="en-US" dirty="0"/>
            </a:p>
          </p:txBody>
        </p:sp>
        <p:sp>
          <p:nvSpPr>
            <p:cNvPr id="62" name="مستطيل 109">
              <a:extLst>
                <a:ext uri="{FF2B5EF4-FFF2-40B4-BE49-F238E27FC236}">
                  <a16:creationId xmlns:a16="http://schemas.microsoft.com/office/drawing/2014/main" id="{EBCEFA54-4DD6-C376-98F9-1FEF58673F2A}"/>
                </a:ext>
              </a:extLst>
            </p:cNvPr>
            <p:cNvSpPr/>
            <p:nvPr/>
          </p:nvSpPr>
          <p:spPr>
            <a:xfrm>
              <a:off x="5218932" y="625604"/>
              <a:ext cx="2514839" cy="5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FCW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29E0C35-1B33-D419-C0A2-34FC41426C83}"/>
              </a:ext>
            </a:extLst>
          </p:cNvPr>
          <p:cNvGrpSpPr/>
          <p:nvPr/>
        </p:nvGrpSpPr>
        <p:grpSpPr>
          <a:xfrm>
            <a:off x="8965642" y="1145330"/>
            <a:ext cx="3072996" cy="532469"/>
            <a:chOff x="4933181" y="694697"/>
            <a:chExt cx="3072996" cy="532469"/>
          </a:xfrm>
        </p:grpSpPr>
        <p:sp>
          <p:nvSpPr>
            <p:cNvPr id="64" name="مستطيل مستدير الزوايا 90">
              <a:extLst>
                <a:ext uri="{FF2B5EF4-FFF2-40B4-BE49-F238E27FC236}">
                  <a16:creationId xmlns:a16="http://schemas.microsoft.com/office/drawing/2014/main" id="{9EB9C734-E13E-E01D-A1AB-67CEB4E97546}"/>
                </a:ext>
              </a:extLst>
            </p:cNvPr>
            <p:cNvSpPr/>
            <p:nvPr/>
          </p:nvSpPr>
          <p:spPr>
            <a:xfrm>
              <a:off x="4999896" y="694697"/>
              <a:ext cx="2831441" cy="495174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endParaRPr lang="en-US" dirty="0"/>
            </a:p>
          </p:txBody>
        </p:sp>
        <p:sp>
          <p:nvSpPr>
            <p:cNvPr id="65" name="مستطيل 109">
              <a:extLst>
                <a:ext uri="{FF2B5EF4-FFF2-40B4-BE49-F238E27FC236}">
                  <a16:creationId xmlns:a16="http://schemas.microsoft.com/office/drawing/2014/main" id="{AE693A1D-047C-90FF-EFB4-F74529712E6B}"/>
                </a:ext>
              </a:extLst>
            </p:cNvPr>
            <p:cNvSpPr/>
            <p:nvPr/>
          </p:nvSpPr>
          <p:spPr>
            <a:xfrm>
              <a:off x="4933181" y="696145"/>
              <a:ext cx="3072996" cy="5310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DNPW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42E6BC4-F061-84FA-1A5D-C304EF88960B}"/>
              </a:ext>
            </a:extLst>
          </p:cNvPr>
          <p:cNvGrpSpPr/>
          <p:nvPr/>
        </p:nvGrpSpPr>
        <p:grpSpPr>
          <a:xfrm>
            <a:off x="8974751" y="1897276"/>
            <a:ext cx="3072996" cy="551272"/>
            <a:chOff x="4933181" y="675895"/>
            <a:chExt cx="3072996" cy="551272"/>
          </a:xfrm>
        </p:grpSpPr>
        <p:sp>
          <p:nvSpPr>
            <p:cNvPr id="67" name="مستطيل مستدير الزوايا 90">
              <a:extLst>
                <a:ext uri="{FF2B5EF4-FFF2-40B4-BE49-F238E27FC236}">
                  <a16:creationId xmlns:a16="http://schemas.microsoft.com/office/drawing/2014/main" id="{7B45C698-ECF7-9B75-A48E-44794A957ED9}"/>
                </a:ext>
              </a:extLst>
            </p:cNvPr>
            <p:cNvSpPr/>
            <p:nvPr/>
          </p:nvSpPr>
          <p:spPr>
            <a:xfrm>
              <a:off x="4951337" y="675895"/>
              <a:ext cx="2880000" cy="540000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endParaRPr lang="en-US" dirty="0"/>
            </a:p>
          </p:txBody>
        </p:sp>
        <p:sp>
          <p:nvSpPr>
            <p:cNvPr id="68" name="مستطيل 109">
              <a:extLst>
                <a:ext uri="{FF2B5EF4-FFF2-40B4-BE49-F238E27FC236}">
                  <a16:creationId xmlns:a16="http://schemas.microsoft.com/office/drawing/2014/main" id="{D675DD71-16B1-157A-9AD6-8A99308BEAD9}"/>
                </a:ext>
              </a:extLst>
            </p:cNvPr>
            <p:cNvSpPr/>
            <p:nvPr/>
          </p:nvSpPr>
          <p:spPr>
            <a:xfrm>
              <a:off x="4933181" y="687167"/>
              <a:ext cx="3072996" cy="5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EEBL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0858E34-2548-2B88-26FB-DE78D58533E4}"/>
              </a:ext>
            </a:extLst>
          </p:cNvPr>
          <p:cNvGrpSpPr/>
          <p:nvPr/>
        </p:nvGrpSpPr>
        <p:grpSpPr>
          <a:xfrm>
            <a:off x="8947486" y="2734302"/>
            <a:ext cx="3072996" cy="551272"/>
            <a:chOff x="4933181" y="675895"/>
            <a:chExt cx="3072996" cy="551272"/>
          </a:xfrm>
        </p:grpSpPr>
        <p:sp>
          <p:nvSpPr>
            <p:cNvPr id="70" name="مستطيل مستدير الزوايا 90">
              <a:extLst>
                <a:ext uri="{FF2B5EF4-FFF2-40B4-BE49-F238E27FC236}">
                  <a16:creationId xmlns:a16="http://schemas.microsoft.com/office/drawing/2014/main" id="{564753F6-E561-8414-9A84-C6E5A8FA3F4B}"/>
                </a:ext>
              </a:extLst>
            </p:cNvPr>
            <p:cNvSpPr/>
            <p:nvPr/>
          </p:nvSpPr>
          <p:spPr>
            <a:xfrm>
              <a:off x="4951337" y="675895"/>
              <a:ext cx="2880000" cy="540000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endParaRPr lang="en-US" dirty="0"/>
            </a:p>
          </p:txBody>
        </p:sp>
        <p:sp>
          <p:nvSpPr>
            <p:cNvPr id="71" name="مستطيل 109">
              <a:extLst>
                <a:ext uri="{FF2B5EF4-FFF2-40B4-BE49-F238E27FC236}">
                  <a16:creationId xmlns:a16="http://schemas.microsoft.com/office/drawing/2014/main" id="{F01CC5A4-72FB-5806-7B0A-F52386983C76}"/>
                </a:ext>
              </a:extLst>
            </p:cNvPr>
            <p:cNvSpPr/>
            <p:nvPr/>
          </p:nvSpPr>
          <p:spPr>
            <a:xfrm>
              <a:off x="4933181" y="687167"/>
              <a:ext cx="3072996" cy="5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BSW</a:t>
              </a:r>
            </a:p>
          </p:txBody>
        </p:sp>
      </p:grpSp>
      <p:sp>
        <p:nvSpPr>
          <p:cNvPr id="74" name="مستطيل 109">
            <a:extLst>
              <a:ext uri="{FF2B5EF4-FFF2-40B4-BE49-F238E27FC236}">
                <a16:creationId xmlns:a16="http://schemas.microsoft.com/office/drawing/2014/main" id="{FED6A6C1-7C58-6EC7-6675-EA4DF7FAE75F}"/>
              </a:ext>
            </a:extLst>
          </p:cNvPr>
          <p:cNvSpPr/>
          <p:nvPr/>
        </p:nvSpPr>
        <p:spPr>
          <a:xfrm>
            <a:off x="4671477" y="1568750"/>
            <a:ext cx="2514839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BCFDB98-0422-6C95-DC56-E75F2E664A8C}"/>
              </a:ext>
            </a:extLst>
          </p:cNvPr>
          <p:cNvGrpSpPr/>
          <p:nvPr/>
        </p:nvGrpSpPr>
        <p:grpSpPr>
          <a:xfrm>
            <a:off x="8947487" y="3476276"/>
            <a:ext cx="3080212" cy="551272"/>
            <a:chOff x="4925965" y="675895"/>
            <a:chExt cx="3080212" cy="551272"/>
          </a:xfrm>
        </p:grpSpPr>
        <p:sp>
          <p:nvSpPr>
            <p:cNvPr id="76" name="مستطيل مستدير الزوايا 90">
              <a:extLst>
                <a:ext uri="{FF2B5EF4-FFF2-40B4-BE49-F238E27FC236}">
                  <a16:creationId xmlns:a16="http://schemas.microsoft.com/office/drawing/2014/main" id="{75D4D16B-A578-449E-1216-692996E8F3B0}"/>
                </a:ext>
              </a:extLst>
            </p:cNvPr>
            <p:cNvSpPr/>
            <p:nvPr/>
          </p:nvSpPr>
          <p:spPr>
            <a:xfrm>
              <a:off x="4951337" y="675895"/>
              <a:ext cx="2880000" cy="540000"/>
            </a:xfrm>
            <a:prstGeom prst="roundRect">
              <a:avLst>
                <a:gd name="adj" fmla="val 50000"/>
              </a:avLst>
            </a:prstGeom>
            <a:solidFill>
              <a:srgbClr val="00B0F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endParaRPr lang="en-US" dirty="0"/>
            </a:p>
          </p:txBody>
        </p:sp>
        <p:sp>
          <p:nvSpPr>
            <p:cNvPr id="77" name="مستطيل 109">
              <a:extLst>
                <a:ext uri="{FF2B5EF4-FFF2-40B4-BE49-F238E27FC236}">
                  <a16:creationId xmlns:a16="http://schemas.microsoft.com/office/drawing/2014/main" id="{34EDD690-1E5C-3038-EC78-ED53C71F2D98}"/>
                </a:ext>
              </a:extLst>
            </p:cNvPr>
            <p:cNvSpPr/>
            <p:nvPr/>
          </p:nvSpPr>
          <p:spPr>
            <a:xfrm>
              <a:off x="4925965" y="687167"/>
              <a:ext cx="3080212" cy="54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/>
                <a:t>IMA</a:t>
              </a:r>
            </a:p>
          </p:txBody>
        </p:sp>
      </p:grpSp>
      <p:sp>
        <p:nvSpPr>
          <p:cNvPr id="79" name="شكل حر 131">
            <a:extLst>
              <a:ext uri="{FF2B5EF4-FFF2-40B4-BE49-F238E27FC236}">
                <a16:creationId xmlns:a16="http://schemas.microsoft.com/office/drawing/2014/main" id="{0D758E6B-1426-6BF1-F401-378F2F9FD94F}"/>
              </a:ext>
            </a:extLst>
          </p:cNvPr>
          <p:cNvSpPr/>
          <p:nvPr/>
        </p:nvSpPr>
        <p:spPr>
          <a:xfrm>
            <a:off x="6650610" y="529389"/>
            <a:ext cx="2315031" cy="994092"/>
          </a:xfrm>
          <a:custGeom>
            <a:avLst/>
            <a:gdLst>
              <a:gd name="connsiteX0" fmla="*/ 1287780 w 1287780"/>
              <a:gd name="connsiteY0" fmla="*/ 0 h 289560"/>
              <a:gd name="connsiteX1" fmla="*/ 289560 w 1287780"/>
              <a:gd name="connsiteY1" fmla="*/ 0 h 289560"/>
              <a:gd name="connsiteX2" fmla="*/ 0 w 1287780"/>
              <a:gd name="connsiteY2" fmla="*/ 289560 h 289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7780" h="289560">
                <a:moveTo>
                  <a:pt x="1287780" y="0"/>
                </a:moveTo>
                <a:lnTo>
                  <a:pt x="289560" y="0"/>
                </a:lnTo>
                <a:lnTo>
                  <a:pt x="0" y="289560"/>
                </a:lnTo>
              </a:path>
            </a:pathLst>
          </a:cu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81" name="شكل حر 131">
            <a:extLst>
              <a:ext uri="{FF2B5EF4-FFF2-40B4-BE49-F238E27FC236}">
                <a16:creationId xmlns:a16="http://schemas.microsoft.com/office/drawing/2014/main" id="{61ED0393-AF5C-F388-DD73-2862190C3D6C}"/>
              </a:ext>
            </a:extLst>
          </p:cNvPr>
          <p:cNvSpPr/>
          <p:nvPr/>
        </p:nvSpPr>
        <p:spPr>
          <a:xfrm>
            <a:off x="6717326" y="1411684"/>
            <a:ext cx="2315031" cy="179030"/>
          </a:xfrm>
          <a:custGeom>
            <a:avLst/>
            <a:gdLst>
              <a:gd name="connsiteX0" fmla="*/ 1287780 w 1287780"/>
              <a:gd name="connsiteY0" fmla="*/ 0 h 289560"/>
              <a:gd name="connsiteX1" fmla="*/ 289560 w 1287780"/>
              <a:gd name="connsiteY1" fmla="*/ 0 h 289560"/>
              <a:gd name="connsiteX2" fmla="*/ 0 w 1287780"/>
              <a:gd name="connsiteY2" fmla="*/ 289560 h 289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7780" h="289560">
                <a:moveTo>
                  <a:pt x="1287780" y="0"/>
                </a:moveTo>
                <a:lnTo>
                  <a:pt x="289560" y="0"/>
                </a:lnTo>
                <a:lnTo>
                  <a:pt x="0" y="289560"/>
                </a:lnTo>
              </a:path>
            </a:pathLst>
          </a:cu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85" name="شكل بيضاوي 100">
            <a:extLst>
              <a:ext uri="{FF2B5EF4-FFF2-40B4-BE49-F238E27FC236}">
                <a16:creationId xmlns:a16="http://schemas.microsoft.com/office/drawing/2014/main" id="{E70237D2-886E-E54D-1101-1E08D491782A}"/>
              </a:ext>
            </a:extLst>
          </p:cNvPr>
          <p:cNvSpPr/>
          <p:nvPr/>
        </p:nvSpPr>
        <p:spPr>
          <a:xfrm>
            <a:off x="8926781" y="251423"/>
            <a:ext cx="540000" cy="54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</a:rPr>
              <a:t>01</a:t>
            </a:r>
            <a:endParaRPr lang="en-US" sz="800" b="1" dirty="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43C38BE-4E72-7DB2-1D29-09F04C202044}"/>
              </a:ext>
            </a:extLst>
          </p:cNvPr>
          <p:cNvCxnSpPr>
            <a:cxnSpLocks/>
          </p:cNvCxnSpPr>
          <p:nvPr/>
        </p:nvCxnSpPr>
        <p:spPr>
          <a:xfrm>
            <a:off x="6808499" y="1674522"/>
            <a:ext cx="2164360" cy="3469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9921A7F-B429-E01B-0F2E-0F75686C5DD2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6859077" y="1803145"/>
            <a:ext cx="2179993" cy="9983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شكل حر 130">
            <a:extLst>
              <a:ext uri="{FF2B5EF4-FFF2-40B4-BE49-F238E27FC236}">
                <a16:creationId xmlns:a16="http://schemas.microsoft.com/office/drawing/2014/main" id="{237809BF-C9BC-8476-37E9-F4A5752F5CA1}"/>
              </a:ext>
            </a:extLst>
          </p:cNvPr>
          <p:cNvSpPr/>
          <p:nvPr/>
        </p:nvSpPr>
        <p:spPr>
          <a:xfrm>
            <a:off x="2099383" y="5583373"/>
            <a:ext cx="1599417" cy="440237"/>
          </a:xfrm>
          <a:custGeom>
            <a:avLst/>
            <a:gdLst>
              <a:gd name="connsiteX0" fmla="*/ 1539240 w 1539240"/>
              <a:gd name="connsiteY0" fmla="*/ 350520 h 350520"/>
              <a:gd name="connsiteX1" fmla="*/ 205740 w 1539240"/>
              <a:gd name="connsiteY1" fmla="*/ 350520 h 350520"/>
              <a:gd name="connsiteX2" fmla="*/ 0 w 1539240"/>
              <a:gd name="connsiteY2" fmla="*/ 0 h 350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39240" h="350520">
                <a:moveTo>
                  <a:pt x="1539240" y="350520"/>
                </a:moveTo>
                <a:lnTo>
                  <a:pt x="205740" y="350520"/>
                </a:lnTo>
                <a:lnTo>
                  <a:pt x="0" y="0"/>
                </a:lnTo>
              </a:path>
            </a:pathLst>
          </a:cu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n>
                <a:solidFill>
                  <a:schemeClr val="tx1"/>
                </a:solidFill>
              </a:ln>
            </a:endParaRP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54AFE05A-F086-2250-B2EA-04E92B140AE5}"/>
              </a:ext>
            </a:extLst>
          </p:cNvPr>
          <p:cNvCxnSpPr>
            <a:cxnSpLocks/>
          </p:cNvCxnSpPr>
          <p:nvPr/>
        </p:nvCxnSpPr>
        <p:spPr>
          <a:xfrm>
            <a:off x="6813285" y="1975247"/>
            <a:ext cx="2276363" cy="15458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شكل بيضاوي 101">
            <a:extLst>
              <a:ext uri="{FF2B5EF4-FFF2-40B4-BE49-F238E27FC236}">
                <a16:creationId xmlns:a16="http://schemas.microsoft.com/office/drawing/2014/main" id="{8BA8DEDE-0117-6F4E-110B-EE60D80E28FE}"/>
              </a:ext>
            </a:extLst>
          </p:cNvPr>
          <p:cNvSpPr/>
          <p:nvPr/>
        </p:nvSpPr>
        <p:spPr>
          <a:xfrm>
            <a:off x="8988762" y="1135621"/>
            <a:ext cx="540000" cy="54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</a:rPr>
              <a:t>02</a:t>
            </a:r>
          </a:p>
        </p:txBody>
      </p:sp>
      <p:sp>
        <p:nvSpPr>
          <p:cNvPr id="115" name="شكل بيضاوي 102">
            <a:extLst>
              <a:ext uri="{FF2B5EF4-FFF2-40B4-BE49-F238E27FC236}">
                <a16:creationId xmlns:a16="http://schemas.microsoft.com/office/drawing/2014/main" id="{0F8163D4-41CD-764D-A591-666BCF1D4106}"/>
              </a:ext>
            </a:extLst>
          </p:cNvPr>
          <p:cNvSpPr/>
          <p:nvPr/>
        </p:nvSpPr>
        <p:spPr>
          <a:xfrm>
            <a:off x="8972859" y="1896111"/>
            <a:ext cx="540000" cy="54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</a:rPr>
              <a:t>03</a:t>
            </a:r>
          </a:p>
        </p:txBody>
      </p:sp>
      <p:sp>
        <p:nvSpPr>
          <p:cNvPr id="117" name="شكل بيضاوي 103">
            <a:extLst>
              <a:ext uri="{FF2B5EF4-FFF2-40B4-BE49-F238E27FC236}">
                <a16:creationId xmlns:a16="http://schemas.microsoft.com/office/drawing/2014/main" id="{58F9112A-70A4-D342-59E8-93853D5D3D3E}"/>
              </a:ext>
            </a:extLst>
          </p:cNvPr>
          <p:cNvSpPr/>
          <p:nvPr/>
        </p:nvSpPr>
        <p:spPr>
          <a:xfrm>
            <a:off x="8959776" y="2730522"/>
            <a:ext cx="540000" cy="54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</a:rPr>
              <a:t>04</a:t>
            </a:r>
          </a:p>
        </p:txBody>
      </p:sp>
      <p:sp>
        <p:nvSpPr>
          <p:cNvPr id="119" name="شكل بيضاوي 104">
            <a:extLst>
              <a:ext uri="{FF2B5EF4-FFF2-40B4-BE49-F238E27FC236}">
                <a16:creationId xmlns:a16="http://schemas.microsoft.com/office/drawing/2014/main" id="{8CA05A64-A450-7100-46E2-DDE2F2A4504F}"/>
              </a:ext>
            </a:extLst>
          </p:cNvPr>
          <p:cNvSpPr/>
          <p:nvPr/>
        </p:nvSpPr>
        <p:spPr>
          <a:xfrm>
            <a:off x="8971460" y="3476131"/>
            <a:ext cx="540000" cy="54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tx1"/>
                </a:solidFill>
                <a:latin typeface="+mj-l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9913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4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8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6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9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74" grpId="0"/>
      <p:bldP spid="79" grpId="0" animBg="1"/>
      <p:bldP spid="81" grpId="0" animBg="1"/>
      <p:bldP spid="85" grpId="0" animBg="1"/>
      <p:bldP spid="113" grpId="0" animBg="1"/>
      <p:bldP spid="115" grpId="0" animBg="1"/>
      <p:bldP spid="117" grpId="0" animBg="1"/>
      <p:bldP spid="1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FE2D22C-409B-48AF-B24F-7988A8F7F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10214-BC63-EC54-FBCB-BC37E49E6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4783" y="349664"/>
            <a:ext cx="5845571" cy="863993"/>
          </a:xfrm>
        </p:spPr>
        <p:txBody>
          <a:bodyPr anchor="b">
            <a:normAutofit/>
          </a:bodyPr>
          <a:lstStyle/>
          <a:p>
            <a:r>
              <a:rPr lang="en-US" sz="4800" dirty="0"/>
              <a:t>Introduction: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6441" y="6131892"/>
            <a:ext cx="524256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998176" y="277912"/>
            <a:ext cx="524256" cy="118633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9185" y="399675"/>
            <a:ext cx="4647368" cy="5809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92F567-9EAE-B535-976D-5188E67B40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50" r="35238"/>
          <a:stretch>
            <a:fillRect/>
          </a:stretch>
        </p:blipFill>
        <p:spPr>
          <a:xfrm>
            <a:off x="535110" y="627954"/>
            <a:ext cx="4235516" cy="5353373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172CD0C-C28F-70E2-2207-31DF43652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8441" y="1213658"/>
            <a:ext cx="5845571" cy="4430686"/>
          </a:xfrm>
        </p:spPr>
        <p:txBody>
          <a:bodyPr anchor="ctr">
            <a:normAutofit/>
          </a:bodyPr>
          <a:lstStyle/>
          <a:p>
            <a:r>
              <a:rPr lang="en-US" sz="1400" dirty="0"/>
              <a:t>Modern transportation systems face a critical safety challenge: vehicles, no matter how advanced their onboard sensors are, can only "see" what is directly in front of them. Cameras, radar, and ultrasonic sensors are limited by line-of-sight — they cannot detect a vehicle hidden around a blind corner, a pedestrian stepping out from behind a parked car, or a hazard reported by a traffic system a few hundred meters ahead.</a:t>
            </a:r>
            <a:endParaRPr lang="ar-EG" sz="1400" dirty="0"/>
          </a:p>
          <a:p>
            <a:r>
              <a:rPr lang="en-US" sz="1400" b="1" dirty="0"/>
              <a:t>V2X (Vehicle-to-Everything)</a:t>
            </a:r>
            <a:r>
              <a:rPr lang="en-US" sz="1400" dirty="0"/>
              <a:t> communication solves this by giving vehicles a way to "talk" — not just sense. It extends a vehicle's awareness beyond what its sensors can physically detect, by exchanging real-time data with everything around it:</a:t>
            </a:r>
          </a:p>
          <a:p>
            <a:r>
              <a:rPr lang="en-US" sz="1400" b="1" dirty="0"/>
              <a:t>V2V (Vehicle-to-Vehicle):</a:t>
            </a:r>
            <a:r>
              <a:rPr lang="en-US" sz="1400" dirty="0"/>
              <a:t> communicating directly with nearby vehicles</a:t>
            </a:r>
          </a:p>
          <a:p>
            <a:r>
              <a:rPr lang="en-US" sz="1400" b="1" dirty="0"/>
              <a:t>V2I (Vehicle-to-Infrastructure):</a:t>
            </a:r>
            <a:r>
              <a:rPr lang="en-US" sz="1400" dirty="0"/>
              <a:t> communicating with traffic lights, road signs, and roadside units</a:t>
            </a:r>
          </a:p>
          <a:p>
            <a:r>
              <a:rPr lang="en-US" sz="1400" b="1" dirty="0"/>
              <a:t>V2P (Vehicle-to-Pedestrian):</a:t>
            </a:r>
            <a:r>
              <a:rPr lang="en-US" sz="1400" dirty="0"/>
              <a:t> detecting and warning about nearby pedestrians</a:t>
            </a:r>
          </a:p>
          <a:p>
            <a:r>
              <a:rPr lang="en-US" sz="1400" b="1" dirty="0"/>
              <a:t>V2N (Vehicle-to-Network):</a:t>
            </a:r>
            <a:r>
              <a:rPr lang="en-US" sz="1400" dirty="0"/>
              <a:t> connecting to the cloud for data, analytics, and updates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73235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DE1898-3A96-D4CB-C304-BF18D896D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4600" b="1" dirty="0"/>
              <a:t>Why This Project? (Motivation)</a:t>
            </a:r>
            <a:br>
              <a:rPr lang="en-US" sz="4600" b="1" dirty="0"/>
            </a:br>
            <a:endParaRPr lang="en-US" sz="4600" dirty="0"/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1EEB1-6C8B-D00B-48DE-65EED475F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1700" b="1" dirty="0"/>
              <a:t>Road accidents are still a major problem</a:t>
            </a:r>
            <a:r>
              <a:rPr lang="en-US" sz="1700" dirty="0"/>
              <a:t>, especially in dense, mixed-traffic environments like Egypt's roads — where traffic discipline is inconsistent and smart infrastructure is still limited. </a:t>
            </a:r>
            <a:endParaRPr lang="ar-EG" sz="1700" dirty="0"/>
          </a:p>
          <a:p>
            <a:r>
              <a:rPr lang="en-US" sz="1700" b="1" dirty="0"/>
              <a:t>Traditional vehicles are "blind" beyond their sensors.</a:t>
            </a:r>
            <a:r>
              <a:rPr lang="en-US" sz="1700" dirty="0"/>
              <a:t> A driver braking hard, a pedestrian crossing unexpectedly, or a vehicle approaching an intersection from a blind angle — none of these are visible to a normal car until it's almost too late. </a:t>
            </a:r>
            <a:endParaRPr lang="ar-EG" sz="1700" dirty="0"/>
          </a:p>
          <a:p>
            <a:r>
              <a:rPr lang="en-US" sz="1700" b="1" dirty="0"/>
              <a:t>The world is moving toward connected &amp; autonomous vehicles</a:t>
            </a:r>
            <a:r>
              <a:rPr lang="en-US" sz="1700" dirty="0"/>
              <a:t>, and V2X is the communication backbone that makes that possible. Building this project prepares us — and contributes a working foundation — for that future. </a:t>
            </a:r>
            <a:endParaRPr lang="ar-EG" sz="1700" dirty="0"/>
          </a:p>
          <a:p>
            <a:r>
              <a:rPr lang="en-US" sz="1700" b="1" dirty="0"/>
              <a:t>Most existing solutions are either purely simulation-based, or focus on only one V2X domain.</a:t>
            </a:r>
            <a:r>
              <a:rPr lang="en-US" sz="1700" dirty="0"/>
              <a:t> We wanted to build something that integrates all four (V2V, V2I, V2P, V2N) into a single, real, working system — not just a theoretical model.</a:t>
            </a:r>
          </a:p>
          <a:p>
            <a:endParaRPr lang="en-US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97F54-C3DB-B7AB-DD3F-A02249EA2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06" r="18278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75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73C628-E4AB-486B-1C37-9177960BB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Problems We Faced &amp; How We Solved Them</a:t>
            </a:r>
            <a:b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CCA2B92-DE31-1EC5-3BC4-59A5583333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2561164"/>
              </p:ext>
            </p:extLst>
          </p:nvPr>
        </p:nvGraphicFramePr>
        <p:xfrm>
          <a:off x="320040" y="2702356"/>
          <a:ext cx="11548872" cy="344859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774436">
                  <a:extLst>
                    <a:ext uri="{9D8B030D-6E8A-4147-A177-3AD203B41FA5}">
                      <a16:colId xmlns:a16="http://schemas.microsoft.com/office/drawing/2014/main" val="3074071520"/>
                    </a:ext>
                  </a:extLst>
                </a:gridCol>
                <a:gridCol w="5774436">
                  <a:extLst>
                    <a:ext uri="{9D8B030D-6E8A-4147-A177-3AD203B41FA5}">
                      <a16:colId xmlns:a16="http://schemas.microsoft.com/office/drawing/2014/main" val="1507177248"/>
                    </a:ext>
                  </a:extLst>
                </a:gridCol>
              </a:tblGrid>
              <a:tr h="383177">
                <a:tc>
                  <a:txBody>
                    <a:bodyPr/>
                    <a:lstStyle/>
                    <a:p>
                      <a:r>
                        <a:rPr lang="en-US" sz="1700" dirty="0"/>
                        <a:t>Problem</a:t>
                      </a:r>
                    </a:p>
                  </a:txBody>
                  <a:tcPr marL="87085" marR="87085" marT="43543" marB="43543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Why it happened</a:t>
                      </a:r>
                    </a:p>
                  </a:txBody>
                  <a:tcPr marL="87085" marR="87085" marT="43543" marB="43543"/>
                </a:tc>
                <a:extLst>
                  <a:ext uri="{0D108BD9-81ED-4DB2-BD59-A6C34878D82A}">
                    <a16:rowId xmlns:a16="http://schemas.microsoft.com/office/drawing/2014/main" val="2520006888"/>
                  </a:ext>
                </a:extLst>
              </a:tr>
              <a:tr h="383177">
                <a:tc>
                  <a:txBody>
                    <a:bodyPr/>
                    <a:lstStyle/>
                    <a:p>
                      <a:r>
                        <a:rPr lang="en-US" sz="1700"/>
                        <a:t>Sudden braking → rear-end crash</a:t>
                      </a:r>
                    </a:p>
                  </a:txBody>
                  <a:tcPr marL="87085" marR="87085" marT="43543" marB="43543"/>
                </a:tc>
                <a:tc>
                  <a:txBody>
                    <a:bodyPr/>
                    <a:lstStyle/>
                    <a:p>
                      <a:r>
                        <a:rPr lang="en-US" sz="1700" b="1"/>
                        <a:t>EEBL</a:t>
                      </a:r>
                      <a:r>
                        <a:rPr lang="en-US" sz="1700"/>
                        <a:t> instantly warns following cars</a:t>
                      </a:r>
                    </a:p>
                  </a:txBody>
                  <a:tcPr marL="87085" marR="87085" marT="43543" marB="43543"/>
                </a:tc>
                <a:extLst>
                  <a:ext uri="{0D108BD9-81ED-4DB2-BD59-A6C34878D82A}">
                    <a16:rowId xmlns:a16="http://schemas.microsoft.com/office/drawing/2014/main" val="1529517954"/>
                  </a:ext>
                </a:extLst>
              </a:tr>
              <a:tr h="383177">
                <a:tc>
                  <a:txBody>
                    <a:bodyPr/>
                    <a:lstStyle/>
                    <a:p>
                      <a:r>
                        <a:rPr lang="en-US" sz="1700"/>
                        <a:t>Blind spot lane change → collision</a:t>
                      </a:r>
                    </a:p>
                  </a:txBody>
                  <a:tcPr marL="87085" marR="87085" marT="43543" marB="43543"/>
                </a:tc>
                <a:tc>
                  <a:txBody>
                    <a:bodyPr/>
                    <a:lstStyle/>
                    <a:p>
                      <a:r>
                        <a:rPr lang="en-US" sz="1700" b="1"/>
                        <a:t>BSW</a:t>
                      </a:r>
                      <a:r>
                        <a:rPr lang="en-US" sz="1700"/>
                        <a:t> detects hidden vehicles</a:t>
                      </a:r>
                    </a:p>
                  </a:txBody>
                  <a:tcPr marL="87085" marR="87085" marT="43543" marB="43543"/>
                </a:tc>
                <a:extLst>
                  <a:ext uri="{0D108BD9-81ED-4DB2-BD59-A6C34878D82A}">
                    <a16:rowId xmlns:a16="http://schemas.microsoft.com/office/drawing/2014/main" val="2775744065"/>
                  </a:ext>
                </a:extLst>
              </a:tr>
              <a:tr h="383177">
                <a:tc>
                  <a:txBody>
                    <a:bodyPr/>
                    <a:lstStyle/>
                    <a:p>
                      <a:r>
                        <a:rPr lang="en-US" sz="1700"/>
                        <a:t>Blocked view at intersections → crash</a:t>
                      </a:r>
                    </a:p>
                  </a:txBody>
                  <a:tcPr marL="87085" marR="87085" marT="43543" marB="43543"/>
                </a:tc>
                <a:tc>
                  <a:txBody>
                    <a:bodyPr/>
                    <a:lstStyle/>
                    <a:p>
                      <a:r>
                        <a:rPr lang="en-US" sz="1700" b="1"/>
                        <a:t>IMA</a:t>
                      </a:r>
                      <a:r>
                        <a:rPr lang="en-US" sz="1700"/>
                        <a:t> warns both drivers in advance</a:t>
                      </a:r>
                    </a:p>
                  </a:txBody>
                  <a:tcPr marL="87085" marR="87085" marT="43543" marB="43543"/>
                </a:tc>
                <a:extLst>
                  <a:ext uri="{0D108BD9-81ED-4DB2-BD59-A6C34878D82A}">
                    <a16:rowId xmlns:a16="http://schemas.microsoft.com/office/drawing/2014/main" val="489395955"/>
                  </a:ext>
                </a:extLst>
              </a:tr>
              <a:tr h="383177">
                <a:tc>
                  <a:txBody>
                    <a:bodyPr/>
                    <a:lstStyle/>
                    <a:p>
                      <a:r>
                        <a:rPr lang="en-US" sz="1700"/>
                        <a:t>Unsafe overtaking → head-on collision</a:t>
                      </a:r>
                    </a:p>
                  </a:txBody>
                  <a:tcPr marL="87085" marR="87085" marT="43543" marB="43543"/>
                </a:tc>
                <a:tc>
                  <a:txBody>
                    <a:bodyPr/>
                    <a:lstStyle/>
                    <a:p>
                      <a:r>
                        <a:rPr lang="en-US" sz="1700" b="1"/>
                        <a:t>DNPW</a:t>
                      </a:r>
                      <a:r>
                        <a:rPr lang="en-US" sz="1700"/>
                        <a:t> warns before passing</a:t>
                      </a:r>
                    </a:p>
                  </a:txBody>
                  <a:tcPr marL="87085" marR="87085" marT="43543" marB="43543"/>
                </a:tc>
                <a:extLst>
                  <a:ext uri="{0D108BD9-81ED-4DB2-BD59-A6C34878D82A}">
                    <a16:rowId xmlns:a16="http://schemas.microsoft.com/office/drawing/2014/main" val="2616775833"/>
                  </a:ext>
                </a:extLst>
              </a:tr>
              <a:tr h="383177">
                <a:tc>
                  <a:txBody>
                    <a:bodyPr/>
                    <a:lstStyle/>
                    <a:p>
                      <a:r>
                        <a:rPr lang="en-US" sz="1700"/>
                        <a:t>Following too close → rear-end crash</a:t>
                      </a:r>
                    </a:p>
                  </a:txBody>
                  <a:tcPr marL="87085" marR="87085" marT="43543" marB="43543"/>
                </a:tc>
                <a:tc>
                  <a:txBody>
                    <a:bodyPr/>
                    <a:lstStyle/>
                    <a:p>
                      <a:r>
                        <a:rPr lang="en-US" sz="1700" b="1"/>
                        <a:t>FCW + SDW</a:t>
                      </a:r>
                      <a:r>
                        <a:rPr lang="en-US" sz="1700"/>
                        <a:t> keep a safe distance</a:t>
                      </a:r>
                    </a:p>
                  </a:txBody>
                  <a:tcPr marL="87085" marR="87085" marT="43543" marB="43543"/>
                </a:tc>
                <a:extLst>
                  <a:ext uri="{0D108BD9-81ED-4DB2-BD59-A6C34878D82A}">
                    <a16:rowId xmlns:a16="http://schemas.microsoft.com/office/drawing/2014/main" val="2553383211"/>
                  </a:ext>
                </a:extLst>
              </a:tr>
              <a:tr h="383177">
                <a:tc>
                  <a:txBody>
                    <a:bodyPr/>
                    <a:lstStyle/>
                    <a:p>
                      <a:r>
                        <a:rPr lang="en-US" sz="1700"/>
                        <a:t>Pedestrian crosses unexpectedly</a:t>
                      </a:r>
                    </a:p>
                  </a:txBody>
                  <a:tcPr marL="87085" marR="87085" marT="43543" marB="43543"/>
                </a:tc>
                <a:tc>
                  <a:txBody>
                    <a:bodyPr/>
                    <a:lstStyle/>
                    <a:p>
                      <a:r>
                        <a:rPr lang="en-US" sz="1700" b="1"/>
                        <a:t>V2P</a:t>
                      </a:r>
                      <a:r>
                        <a:rPr lang="en-US" sz="1700"/>
                        <a:t> (Camera + AI) detects &amp; alerts, no device needed</a:t>
                      </a:r>
                    </a:p>
                  </a:txBody>
                  <a:tcPr marL="87085" marR="87085" marT="43543" marB="43543"/>
                </a:tc>
                <a:extLst>
                  <a:ext uri="{0D108BD9-81ED-4DB2-BD59-A6C34878D82A}">
                    <a16:rowId xmlns:a16="http://schemas.microsoft.com/office/drawing/2014/main" val="3749172580"/>
                  </a:ext>
                </a:extLst>
              </a:tr>
              <a:tr h="383177">
                <a:tc>
                  <a:txBody>
                    <a:bodyPr/>
                    <a:lstStyle/>
                    <a:p>
                      <a:r>
                        <a:rPr lang="en-US" sz="1700"/>
                        <a:t>Unknown hazards/traffic ahead</a:t>
                      </a:r>
                    </a:p>
                  </a:txBody>
                  <a:tcPr marL="87085" marR="87085" marT="43543" marB="43543"/>
                </a:tc>
                <a:tc>
                  <a:txBody>
                    <a:bodyPr/>
                    <a:lstStyle/>
                    <a:p>
                      <a:r>
                        <a:rPr lang="en-US" sz="1700" b="1"/>
                        <a:t>V2I + V2N</a:t>
                      </a:r>
                      <a:r>
                        <a:rPr lang="en-US" sz="1700"/>
                        <a:t> deliver early warnings from road &amp; cloud</a:t>
                      </a:r>
                    </a:p>
                  </a:txBody>
                  <a:tcPr marL="87085" marR="87085" marT="43543" marB="43543"/>
                </a:tc>
                <a:extLst>
                  <a:ext uri="{0D108BD9-81ED-4DB2-BD59-A6C34878D82A}">
                    <a16:rowId xmlns:a16="http://schemas.microsoft.com/office/drawing/2014/main" val="4131958413"/>
                  </a:ext>
                </a:extLst>
              </a:tr>
              <a:tr h="383177">
                <a:tc>
                  <a:txBody>
                    <a:bodyPr/>
                    <a:lstStyle/>
                    <a:p>
                      <a:r>
                        <a:rPr lang="en-US" sz="1700"/>
                        <a:t>Human reaction is too slow (~1–2 sec)</a:t>
                      </a:r>
                    </a:p>
                  </a:txBody>
                  <a:tcPr marL="87085" marR="87085" marT="43543" marB="43543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System reacts electronically in </a:t>
                      </a:r>
                      <a:r>
                        <a:rPr lang="en-US" sz="1700" b="1" dirty="0"/>
                        <a:t>milliseconds</a:t>
                      </a:r>
                      <a:endParaRPr lang="en-US" sz="1700" dirty="0"/>
                    </a:p>
                  </a:txBody>
                  <a:tcPr marL="87085" marR="87085" marT="43543" marB="43543"/>
                </a:tc>
                <a:extLst>
                  <a:ext uri="{0D108BD9-81ED-4DB2-BD59-A6C34878D82A}">
                    <a16:rowId xmlns:a16="http://schemas.microsoft.com/office/drawing/2014/main" val="1391954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86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D3C149-70CE-CEF9-712C-74B3BDC5B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 Components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EE359B-61D2-186F-25E0-A541B80524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2927325"/>
              </p:ext>
            </p:extLst>
          </p:nvPr>
        </p:nvGraphicFramePr>
        <p:xfrm>
          <a:off x="1680555" y="2354239"/>
          <a:ext cx="8830890" cy="3948091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2787903">
                  <a:extLst>
                    <a:ext uri="{9D8B030D-6E8A-4147-A177-3AD203B41FA5}">
                      <a16:colId xmlns:a16="http://schemas.microsoft.com/office/drawing/2014/main" val="3766369880"/>
                    </a:ext>
                  </a:extLst>
                </a:gridCol>
                <a:gridCol w="6042987">
                  <a:extLst>
                    <a:ext uri="{9D8B030D-6E8A-4147-A177-3AD203B41FA5}">
                      <a16:colId xmlns:a16="http://schemas.microsoft.com/office/drawing/2014/main" val="1534250153"/>
                    </a:ext>
                  </a:extLst>
                </a:gridCol>
              </a:tblGrid>
              <a:tr h="500955">
                <a:tc>
                  <a:txBody>
                    <a:bodyPr/>
                    <a:lstStyle/>
                    <a:p>
                      <a:r>
                        <a:rPr lang="en-US" sz="1800" b="1" cap="none" spc="0" dirty="0">
                          <a:solidFill>
                            <a:schemeClr val="tx1"/>
                          </a:solidFill>
                        </a:rPr>
                        <a:t>Component</a:t>
                      </a:r>
                    </a:p>
                  </a:txBody>
                  <a:tcPr marL="73567" marR="105095" marT="21019" marB="15764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cap="none" spc="0" dirty="0">
                          <a:solidFill>
                            <a:schemeClr val="tx1"/>
                          </a:solidFill>
                        </a:rPr>
                        <a:t>Role</a:t>
                      </a:r>
                    </a:p>
                  </a:txBody>
                  <a:tcPr marL="73567" marR="105095" marT="21019" marB="15764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934488"/>
                  </a:ext>
                </a:extLst>
              </a:tr>
              <a:tr h="430892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STM32</a:t>
                      </a:r>
                    </a:p>
                  </a:txBody>
                  <a:tcPr marL="73567" marR="105095" marT="21019" marB="157643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Core controller for V2V logic (EEBL, BSW, IMA, DNPW, FCW, SDW)</a:t>
                      </a:r>
                    </a:p>
                  </a:txBody>
                  <a:tcPr marL="73567" marR="105095" marT="21019" marB="1576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03063"/>
                  </a:ext>
                </a:extLst>
              </a:tr>
              <a:tr h="430892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ESP32</a:t>
                      </a:r>
                    </a:p>
                  </a:txBody>
                  <a:tcPr marL="73567" marR="105095" marT="21019" marB="157643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Wireless communication link between vehicle modules</a:t>
                      </a:r>
                    </a:p>
                  </a:txBody>
                  <a:tcPr marL="73567" marR="105095" marT="21019" marB="1576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031899"/>
                  </a:ext>
                </a:extLst>
              </a:tr>
              <a:tr h="430892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Raspberry Pi</a:t>
                      </a:r>
                    </a:p>
                  </a:txBody>
                  <a:tcPr marL="73567" marR="105095" marT="21019" marB="157643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Runs V2I, V2P (AI/Camera), and V2N logic</a:t>
                      </a:r>
                    </a:p>
                  </a:txBody>
                  <a:tcPr marL="73567" marR="105095" marT="21019" marB="1576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790544"/>
                  </a:ext>
                </a:extLst>
              </a:tr>
              <a:tr h="430892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Camera Module</a:t>
                      </a:r>
                    </a:p>
                  </a:txBody>
                  <a:tcPr marL="73567" marR="105095" marT="21019" marB="157643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Captures live video for pedestrian detection (YOLO)</a:t>
                      </a:r>
                    </a:p>
                  </a:txBody>
                  <a:tcPr marL="73567" marR="105095" marT="21019" marB="1576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775054"/>
                  </a:ext>
                </a:extLst>
              </a:tr>
              <a:tr h="430892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MPU9050</a:t>
                      </a:r>
                    </a:p>
                  </a:txBody>
                  <a:tcPr marL="73567" marR="105095" marT="21019" marB="157643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Measures vehicle orientation &amp; motion</a:t>
                      </a:r>
                    </a:p>
                  </a:txBody>
                  <a:tcPr marL="73567" marR="105095" marT="21019" marB="1576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931058"/>
                  </a:ext>
                </a:extLst>
              </a:tr>
              <a:tr h="430892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Ultrasonic Sensors</a:t>
                      </a:r>
                    </a:p>
                  </a:txBody>
                  <a:tcPr marL="73567" marR="105095" marT="21019" marB="157643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Measures distance to nearby obstacles/vehicles</a:t>
                      </a:r>
                    </a:p>
                  </a:txBody>
                  <a:tcPr marL="73567" marR="105095" marT="21019" marB="1576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184996"/>
                  </a:ext>
                </a:extLst>
              </a:tr>
              <a:tr h="430892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Motor</a:t>
                      </a:r>
                    </a:p>
                  </a:txBody>
                  <a:tcPr marL="73567" marR="105095" marT="21019" marB="157643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Drives vehicle movement</a:t>
                      </a:r>
                    </a:p>
                  </a:txBody>
                  <a:tcPr marL="73567" marR="105095" marT="21019" marB="1576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54653"/>
                  </a:ext>
                </a:extLst>
              </a:tr>
              <a:tr h="430892"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Dashboard Board</a:t>
                      </a:r>
                    </a:p>
                  </a:txBody>
                  <a:tcPr marL="73567" marR="105095" marT="21019" marB="157643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Displays alerts/warnings to the driver</a:t>
                      </a:r>
                    </a:p>
                  </a:txBody>
                  <a:tcPr marL="73567" marR="105095" marT="21019" marB="15764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6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57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E9D42-0D32-2EFE-903C-C140D597E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Diagram: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F8E2E6C-DC04-7C16-DAF3-50405A3B28F9}"/>
              </a:ext>
            </a:extLst>
          </p:cNvPr>
          <p:cNvSpPr/>
          <p:nvPr/>
        </p:nvSpPr>
        <p:spPr>
          <a:xfrm>
            <a:off x="2358189" y="2422358"/>
            <a:ext cx="1892969" cy="32725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9C915A-0817-B186-D572-9F09089910F5}"/>
              </a:ext>
            </a:extLst>
          </p:cNvPr>
          <p:cNvSpPr/>
          <p:nvPr/>
        </p:nvSpPr>
        <p:spPr>
          <a:xfrm>
            <a:off x="5089357" y="2422356"/>
            <a:ext cx="1892969" cy="32725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2610DFB-5172-340E-AA92-36E14BB2EC10}"/>
              </a:ext>
            </a:extLst>
          </p:cNvPr>
          <p:cNvSpPr/>
          <p:nvPr/>
        </p:nvSpPr>
        <p:spPr>
          <a:xfrm>
            <a:off x="7820526" y="2422357"/>
            <a:ext cx="1892969" cy="32725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B86AAE3-330C-9BC4-EF8A-8833D3D87211}"/>
              </a:ext>
            </a:extLst>
          </p:cNvPr>
          <p:cNvCxnSpPr>
            <a:cxnSpLocks/>
          </p:cNvCxnSpPr>
          <p:nvPr/>
        </p:nvCxnSpPr>
        <p:spPr>
          <a:xfrm flipV="1">
            <a:off x="4251158" y="4058651"/>
            <a:ext cx="83819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077984C-31B4-F4DD-87F3-A3610F2E1E07}"/>
              </a:ext>
            </a:extLst>
          </p:cNvPr>
          <p:cNvCxnSpPr>
            <a:cxnSpLocks/>
          </p:cNvCxnSpPr>
          <p:nvPr/>
        </p:nvCxnSpPr>
        <p:spPr>
          <a:xfrm flipH="1">
            <a:off x="4251158" y="4227871"/>
            <a:ext cx="8381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463FD22-38AD-8B32-AE32-15EAD3E60BD6}"/>
              </a:ext>
            </a:extLst>
          </p:cNvPr>
          <p:cNvCxnSpPr>
            <a:stCxn id="11" idx="2"/>
          </p:cNvCxnSpPr>
          <p:nvPr/>
        </p:nvCxnSpPr>
        <p:spPr>
          <a:xfrm flipH="1">
            <a:off x="3303639" y="5694947"/>
            <a:ext cx="1035" cy="5976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CC536D-C174-6E0B-2254-D92E16A4FCCD}"/>
              </a:ext>
            </a:extLst>
          </p:cNvPr>
          <p:cNvCxnSpPr/>
          <p:nvPr/>
        </p:nvCxnSpPr>
        <p:spPr>
          <a:xfrm>
            <a:off x="3303639" y="6292645"/>
            <a:ext cx="51324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8DC7878-863A-6792-9D5C-8EA71132768C}"/>
              </a:ext>
            </a:extLst>
          </p:cNvPr>
          <p:cNvCxnSpPr/>
          <p:nvPr/>
        </p:nvCxnSpPr>
        <p:spPr>
          <a:xfrm flipV="1">
            <a:off x="8426245" y="5694945"/>
            <a:ext cx="0" cy="597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31E29F4-BC77-5771-0597-EFC0379E8437}"/>
              </a:ext>
            </a:extLst>
          </p:cNvPr>
          <p:cNvCxnSpPr/>
          <p:nvPr/>
        </p:nvCxnSpPr>
        <p:spPr>
          <a:xfrm flipV="1">
            <a:off x="3057833" y="5694945"/>
            <a:ext cx="0" cy="755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6607594-542E-9EA7-F5BA-A20FD8D215BD}"/>
              </a:ext>
            </a:extLst>
          </p:cNvPr>
          <p:cNvCxnSpPr>
            <a:cxnSpLocks/>
          </p:cNvCxnSpPr>
          <p:nvPr/>
        </p:nvCxnSpPr>
        <p:spPr>
          <a:xfrm flipV="1">
            <a:off x="3057833" y="6449960"/>
            <a:ext cx="5709178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EC05D78-E109-901B-AD32-5870A639EC84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8767011" y="5694946"/>
            <a:ext cx="0" cy="755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0AB1C61-8CBA-E03E-575D-5D2502528524}"/>
              </a:ext>
            </a:extLst>
          </p:cNvPr>
          <p:cNvSpPr txBox="1"/>
          <p:nvPr/>
        </p:nvSpPr>
        <p:spPr>
          <a:xfrm>
            <a:off x="2851874" y="2463605"/>
            <a:ext cx="1081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STM32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A2CDDA-E3E8-B378-ECEF-DF8D81CBB7E9}"/>
              </a:ext>
            </a:extLst>
          </p:cNvPr>
          <p:cNvSpPr txBox="1"/>
          <p:nvPr/>
        </p:nvSpPr>
        <p:spPr>
          <a:xfrm>
            <a:off x="5776451" y="2463605"/>
            <a:ext cx="639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6C0226-D935-9DA3-3D14-94793FB9F825}"/>
              </a:ext>
            </a:extLst>
          </p:cNvPr>
          <p:cNvSpPr txBox="1"/>
          <p:nvPr/>
        </p:nvSpPr>
        <p:spPr>
          <a:xfrm>
            <a:off x="8481875" y="2463605"/>
            <a:ext cx="570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RPI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53EBF0D-4700-3033-3547-D0D84238FF86}"/>
              </a:ext>
            </a:extLst>
          </p:cNvPr>
          <p:cNvSpPr/>
          <p:nvPr/>
        </p:nvSpPr>
        <p:spPr>
          <a:xfrm>
            <a:off x="2771597" y="3103915"/>
            <a:ext cx="1039761" cy="58010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V2V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7E005F9-E468-9EF8-7C75-F209CC8CC10A}"/>
              </a:ext>
            </a:extLst>
          </p:cNvPr>
          <p:cNvSpPr/>
          <p:nvPr/>
        </p:nvSpPr>
        <p:spPr>
          <a:xfrm>
            <a:off x="2771596" y="4016242"/>
            <a:ext cx="1039761" cy="58010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RTOS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0C3D5F0-07E3-52B7-AF09-11FEB0E82E03}"/>
              </a:ext>
            </a:extLst>
          </p:cNvPr>
          <p:cNvSpPr/>
          <p:nvPr/>
        </p:nvSpPr>
        <p:spPr>
          <a:xfrm>
            <a:off x="5195183" y="3765293"/>
            <a:ext cx="1681317" cy="66468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ESP-NOW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6514B49-9A5D-D495-ACBD-88109B5B75E0}"/>
              </a:ext>
            </a:extLst>
          </p:cNvPr>
          <p:cNvSpPr/>
          <p:nvPr/>
        </p:nvSpPr>
        <p:spPr>
          <a:xfrm>
            <a:off x="8247129" y="3007847"/>
            <a:ext cx="1039761" cy="58010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V2I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E64492E9-6AA4-C7F5-7CC5-B944EE0FEA8C}"/>
              </a:ext>
            </a:extLst>
          </p:cNvPr>
          <p:cNvSpPr/>
          <p:nvPr/>
        </p:nvSpPr>
        <p:spPr>
          <a:xfrm>
            <a:off x="8247128" y="3717372"/>
            <a:ext cx="1039761" cy="58010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V2N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3858F9A-8100-F28F-B7FF-F9C89BDE6172}"/>
              </a:ext>
            </a:extLst>
          </p:cNvPr>
          <p:cNvSpPr/>
          <p:nvPr/>
        </p:nvSpPr>
        <p:spPr>
          <a:xfrm>
            <a:off x="8247129" y="4426897"/>
            <a:ext cx="1039761" cy="58010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V2P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6470095-8E94-0CB3-4FDE-03C58D0141AE}"/>
              </a:ext>
            </a:extLst>
          </p:cNvPr>
          <p:cNvSpPr/>
          <p:nvPr/>
        </p:nvSpPr>
        <p:spPr>
          <a:xfrm>
            <a:off x="801815" y="2884758"/>
            <a:ext cx="758183" cy="5442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C6F7ACA2-75B0-D718-05E2-C1EC95EAEA78}"/>
              </a:ext>
            </a:extLst>
          </p:cNvPr>
          <p:cNvSpPr/>
          <p:nvPr/>
        </p:nvSpPr>
        <p:spPr>
          <a:xfrm>
            <a:off x="801815" y="4297475"/>
            <a:ext cx="758183" cy="5442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MPU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7102FC4-E3A3-2477-5DBD-62A69C5BF680}"/>
              </a:ext>
            </a:extLst>
          </p:cNvPr>
          <p:cNvCxnSpPr>
            <a:stCxn id="58" idx="3"/>
          </p:cNvCxnSpPr>
          <p:nvPr/>
        </p:nvCxnSpPr>
        <p:spPr>
          <a:xfrm>
            <a:off x="1559998" y="3156879"/>
            <a:ext cx="7981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002C2A6-6A87-87D8-BA40-5F17F5569591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1559998" y="4569596"/>
            <a:ext cx="7981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B4DE669-1F58-98C1-76C5-44E2C73DE080}"/>
              </a:ext>
            </a:extLst>
          </p:cNvPr>
          <p:cNvSpPr/>
          <p:nvPr/>
        </p:nvSpPr>
        <p:spPr>
          <a:xfrm>
            <a:off x="10342887" y="2516827"/>
            <a:ext cx="1168227" cy="5442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MOTORS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DDB13A5D-761B-DB81-2C7A-E4D369CB0BF6}"/>
              </a:ext>
            </a:extLst>
          </p:cNvPr>
          <p:cNvSpPr/>
          <p:nvPr/>
        </p:nvSpPr>
        <p:spPr>
          <a:xfrm>
            <a:off x="10342887" y="3654275"/>
            <a:ext cx="1168227" cy="5442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CAMERA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6F8670A1-A398-FB00-023B-920026224EDF}"/>
              </a:ext>
            </a:extLst>
          </p:cNvPr>
          <p:cNvSpPr/>
          <p:nvPr/>
        </p:nvSpPr>
        <p:spPr>
          <a:xfrm>
            <a:off x="10342887" y="4791724"/>
            <a:ext cx="1573810" cy="4305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DASHBOARD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8579445-EC94-6BFF-05BC-8A73463C82F3}"/>
              </a:ext>
            </a:extLst>
          </p:cNvPr>
          <p:cNvCxnSpPr>
            <a:cxnSpLocks/>
            <a:endCxn id="67" idx="1"/>
          </p:cNvCxnSpPr>
          <p:nvPr/>
        </p:nvCxnSpPr>
        <p:spPr>
          <a:xfrm>
            <a:off x="9713495" y="2788948"/>
            <a:ext cx="6293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F2587FC-0FCF-94F1-25A7-67D9FE72653D}"/>
              </a:ext>
            </a:extLst>
          </p:cNvPr>
          <p:cNvCxnSpPr>
            <a:cxnSpLocks/>
            <a:stCxn id="69" idx="1"/>
          </p:cNvCxnSpPr>
          <p:nvPr/>
        </p:nvCxnSpPr>
        <p:spPr>
          <a:xfrm flipH="1">
            <a:off x="9713495" y="3926396"/>
            <a:ext cx="6293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F781796-154F-927E-C6FA-BDD8133A171E}"/>
              </a:ext>
            </a:extLst>
          </p:cNvPr>
          <p:cNvCxnSpPr>
            <a:endCxn id="73" idx="1"/>
          </p:cNvCxnSpPr>
          <p:nvPr/>
        </p:nvCxnSpPr>
        <p:spPr>
          <a:xfrm>
            <a:off x="9713495" y="5007000"/>
            <a:ext cx="6293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26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6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1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4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9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2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7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0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8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4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41" grpId="0"/>
      <p:bldP spid="43" grpId="0"/>
      <p:bldP spid="45" grpId="0"/>
      <p:bldP spid="47" grpId="0" animBg="1"/>
      <p:bldP spid="49" grpId="0" animBg="1"/>
      <p:bldP spid="51" grpId="0" animBg="1"/>
      <p:bldP spid="53" grpId="0" animBg="1"/>
      <p:bldP spid="55" grpId="0" animBg="1"/>
      <p:bldP spid="57" grpId="0" animBg="1"/>
      <p:bldP spid="58" grpId="0" animBg="1"/>
      <p:bldP spid="60" grpId="0" animBg="1"/>
      <p:bldP spid="67" grpId="0" animBg="1"/>
      <p:bldP spid="69" grpId="0" animBg="1"/>
      <p:bldP spid="7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C2403-8E25-B32F-87D2-D44505C99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49013"/>
            <a:ext cx="592328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V2V (Vehicle-to-Vehicle):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8EDC0-0D0D-F7A5-E5DF-BAE6C283FC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0" r="19257" b="-1"/>
          <a:stretch>
            <a:fillRect/>
          </a:stretch>
        </p:blipFill>
        <p:spPr>
          <a:xfrm>
            <a:off x="703182" y="962656"/>
            <a:ext cx="4777381" cy="4762943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24E49E88-8EAD-09CA-681F-1E782CEEA18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94962" y="1984443"/>
          <a:ext cx="5458838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99023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9C227F-8CEA-6634-18D1-93DAC1FF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443"/>
          </a:xfrm>
        </p:spPr>
        <p:txBody>
          <a:bodyPr>
            <a:normAutofit/>
          </a:bodyPr>
          <a:lstStyle/>
          <a:p>
            <a:r>
              <a:rPr lang="en-US" sz="4000" b="1"/>
              <a:t>FCW – Forward Collision Warning: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06256-59FB-1099-EEF4-8D05D23ED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5300" cy="4303464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Detects a vehicle directly ahead in the </a:t>
            </a:r>
            <a:r>
              <a:rPr lang="en-US" sz="1800" b="1" dirty="0"/>
              <a:t>same lane</a:t>
            </a:r>
            <a:r>
              <a:rPr lang="en-US" sz="1800" dirty="0"/>
              <a:t>, using the front ultrasonic sensor </a:t>
            </a:r>
          </a:p>
          <a:p>
            <a:r>
              <a:rPr lang="en-US" sz="1800" dirty="0"/>
              <a:t>Triggers when the front distance drops below a </a:t>
            </a:r>
            <a:r>
              <a:rPr lang="en-US" sz="1800" b="1" dirty="0"/>
              <a:t>speed-dependent safe gap</a:t>
            </a:r>
            <a:r>
              <a:rPr lang="en-US" sz="1800" dirty="0"/>
              <a:t> (closer object + higher speed → earlier warning) </a:t>
            </a:r>
          </a:p>
          <a:p>
            <a:r>
              <a:rPr lang="en-US" sz="1800" dirty="0"/>
              <a:t>Severity graded in real time: </a:t>
            </a:r>
            <a:r>
              <a:rPr lang="en-US" sz="1800" b="1" dirty="0"/>
              <a:t>Safe → Warning → Critical</a:t>
            </a:r>
            <a:r>
              <a:rPr lang="en-US" sz="1800" dirty="0"/>
              <a:t> </a:t>
            </a:r>
          </a:p>
          <a:p>
            <a:r>
              <a:rPr lang="en-US" sz="1800" b="1" dirty="0"/>
              <a:t>Cooperative mode:</a:t>
            </a:r>
            <a:r>
              <a:rPr lang="en-US" sz="1800" dirty="0"/>
              <a:t> if the vehicle ahead is confirmed by an </a:t>
            </a:r>
            <a:r>
              <a:rPr lang="en-US" sz="1800" b="1" dirty="0"/>
              <a:t>oncoming vehicle's own broadcasted signal</a:t>
            </a:r>
            <a:r>
              <a:rPr lang="en-US" sz="1800" dirty="0"/>
              <a:t>, FCW escalates to a confirmed </a:t>
            </a:r>
            <a:r>
              <a:rPr lang="en-US" sz="1800" b="1" dirty="0"/>
              <a:t>head-on collision alert</a:t>
            </a:r>
            <a:r>
              <a:rPr lang="en-US" sz="1800" dirty="0"/>
              <a:t> — validated by both cars' data, not just one car's sensor </a:t>
            </a:r>
          </a:p>
          <a:p>
            <a:r>
              <a:rPr lang="en-US" sz="1800" dirty="0"/>
              <a:t>Alert delivered instantly through the </a:t>
            </a:r>
            <a:r>
              <a:rPr lang="en-US" sz="1800" b="1" dirty="0"/>
              <a:t>Dashboard Board</a:t>
            </a:r>
            <a:endParaRPr lang="en-US" sz="1800" dirty="0"/>
          </a:p>
          <a:p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A6B5B-BFA0-58AC-74A7-DA0276AEF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11" b="-2"/>
          <a:stretch>
            <a:fillRect/>
          </a:stretch>
        </p:blipFill>
        <p:spPr>
          <a:xfrm>
            <a:off x="5183500" y="1904282"/>
            <a:ext cx="6170299" cy="422480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0A8B4A-C8FF-B757-F3C8-D09953E7A305}"/>
              </a:ext>
            </a:extLst>
          </p:cNvPr>
          <p:cNvCxnSpPr>
            <a:cxnSpLocks/>
          </p:cNvCxnSpPr>
          <p:nvPr/>
        </p:nvCxnSpPr>
        <p:spPr>
          <a:xfrm>
            <a:off x="946355" y="1313262"/>
            <a:ext cx="7273413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312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11500B-89B1-843F-E217-A15DD3CD4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US" sz="3600" b="1"/>
              <a:t>DNPW – Do Not Pass Warning</a:t>
            </a:r>
            <a:br>
              <a:rPr lang="en-US" sz="3600" b="1"/>
            </a:br>
            <a:endParaRPr lang="en-US" sz="3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144B1B-4D4E-AE47-58E3-9CB149781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" y="1740663"/>
            <a:ext cx="6702552" cy="4473953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BF5F6-AD8B-75C6-6B5C-29F2C67CC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r>
              <a:rPr lang="en-US" sz="1800"/>
              <a:t>Warns against unsafe overtaking of a vehicle ahead </a:t>
            </a:r>
            <a:endParaRPr lang="ar-EG" sz="1800"/>
          </a:p>
          <a:p>
            <a:r>
              <a:rPr lang="en-US" sz="1800"/>
              <a:t>Triggers: vehicle ahead + oncoming vehicle </a:t>
            </a:r>
            <a:r>
              <a:rPr lang="en-US" sz="1800" b="1"/>
              <a:t>not</a:t>
            </a:r>
            <a:r>
              <a:rPr lang="en-US" sz="1800"/>
              <a:t> confirmed as head-on (different lane) </a:t>
            </a:r>
            <a:endParaRPr lang="ar-EG" sz="1800"/>
          </a:p>
          <a:p>
            <a:r>
              <a:rPr lang="en-US" sz="1800"/>
              <a:t>Severity: Warning → Critical (if oncoming car detected alongside, front-left sensor) </a:t>
            </a:r>
            <a:endParaRPr lang="ar-EG" sz="1800"/>
          </a:p>
          <a:p>
            <a:r>
              <a:rPr lang="en-US" sz="1800"/>
              <a:t>Shares detection pipeline with FCW </a:t>
            </a:r>
            <a:endParaRPr lang="ar-EG" sz="1800"/>
          </a:p>
          <a:p>
            <a:r>
              <a:rPr lang="en-US" sz="1800"/>
              <a:t>Alert shown on the Dashboard Board</a:t>
            </a:r>
          </a:p>
          <a:p>
            <a:pPr marL="0" indent="0"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490270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FF55DC-A315-3969-E777-E01260B64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b="1" dirty="0"/>
              <a:t>EEBL – Electronic Emergency Brake Light: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F3BD7-776D-7943-9DFA-E19E678EC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Detects sudden braking using a speed-drop threshold between cycles </a:t>
            </a:r>
          </a:p>
          <a:p>
            <a:r>
              <a:rPr lang="en-US" sz="2000"/>
              <a:t>Broadcasts a warning to same-direction vehicles behind </a:t>
            </a:r>
          </a:p>
          <a:p>
            <a:r>
              <a:rPr lang="en-US" sz="2000"/>
              <a:t>Rates the rear gap using the speed-dependent safe/critical distance model </a:t>
            </a:r>
          </a:p>
          <a:p>
            <a:r>
              <a:rPr lang="en-US" sz="2000"/>
              <a:t>Severity: Safe → Warning → Critical </a:t>
            </a:r>
          </a:p>
          <a:p>
            <a:r>
              <a:rPr lang="en-US" sz="2000"/>
              <a:t>Alert shown on the Dashboard Board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7D9BCC-6467-C6F8-D98C-4B41470B1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00"/>
          <a:stretch>
            <a:fillRect/>
          </a:stretch>
        </p:blipFill>
        <p:spPr>
          <a:xfrm>
            <a:off x="5911532" y="2966253"/>
            <a:ext cx="5150277" cy="275024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4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238</TotalTime>
  <Words>886</Words>
  <Application>Microsoft Office PowerPoint</Application>
  <PresentationFormat>Widescreen</PresentationFormat>
  <Paragraphs>131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NSimSun</vt:lpstr>
      <vt:lpstr>Aptos</vt:lpstr>
      <vt:lpstr>Aptos Display</vt:lpstr>
      <vt:lpstr>Arial</vt:lpstr>
      <vt:lpstr>Calibri</vt:lpstr>
      <vt:lpstr>Harlow Solid Italic</vt:lpstr>
      <vt:lpstr>Office Theme</vt:lpstr>
      <vt:lpstr>PowerPoint Presentation</vt:lpstr>
      <vt:lpstr>Presented By:​</vt:lpstr>
      <vt:lpstr>PowerPoint Presentation</vt:lpstr>
      <vt:lpstr>Introduction:</vt:lpstr>
      <vt:lpstr>Why This Project? (Motivation) </vt:lpstr>
      <vt:lpstr>Problems We Faced &amp; How We Solved Them </vt:lpstr>
      <vt:lpstr>System Components</vt:lpstr>
      <vt:lpstr>Block Diagram:</vt:lpstr>
      <vt:lpstr>V2V (Vehicle-to-Vehicle):</vt:lpstr>
      <vt:lpstr>FCW – Forward Collision Warning:</vt:lpstr>
      <vt:lpstr>DNPW – Do Not Pass Warning </vt:lpstr>
      <vt:lpstr>EEBL – Electronic Emergency Brake Light: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GAMAL</dc:creator>
  <cp:lastModifiedBy>AHMED GAMAL</cp:lastModifiedBy>
  <cp:revision>2</cp:revision>
  <dcterms:created xsi:type="dcterms:W3CDTF">2026-07-02T17:45:10Z</dcterms:created>
  <dcterms:modified xsi:type="dcterms:W3CDTF">2026-07-02T21:45:04Z</dcterms:modified>
</cp:coreProperties>
</file>